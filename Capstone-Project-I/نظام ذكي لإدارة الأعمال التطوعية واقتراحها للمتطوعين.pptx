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72" r:id="rId2"/>
    <p:sldId id="256" r:id="rId3"/>
    <p:sldId id="273" r:id="rId4"/>
    <p:sldId id="274" r:id="rId5"/>
    <p:sldId id="275" r:id="rId6"/>
    <p:sldId id="276" r:id="rId7"/>
    <p:sldId id="277" r:id="rId8"/>
    <p:sldId id="279" r:id="rId9"/>
    <p:sldId id="280" r:id="rId10"/>
    <p:sldId id="281" r:id="rId11"/>
    <p:sldId id="282" r:id="rId12"/>
    <p:sldId id="283" r:id="rId13"/>
    <p:sldId id="284" r:id="rId14"/>
    <p:sldId id="300" r:id="rId15"/>
    <p:sldId id="301" r:id="rId16"/>
    <p:sldId id="302" r:id="rId17"/>
    <p:sldId id="303" r:id="rId18"/>
    <p:sldId id="304" r:id="rId19"/>
    <p:sldId id="305" r:id="rId20"/>
    <p:sldId id="306" r:id="rId21"/>
    <p:sldId id="285"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E43C8-B260-4194-923D-B810CF1468D9}"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DF0202-560B-4573-B3CE-77092A3B7017}" type="slidenum">
              <a:rPr lang="en-US" smtClean="0"/>
              <a:t>‹#›</a:t>
            </a:fld>
            <a:endParaRPr lang="en-US"/>
          </a:p>
        </p:txBody>
      </p:sp>
    </p:spTree>
    <p:extLst>
      <p:ext uri="{BB962C8B-B14F-4D97-AF65-F5344CB8AC3E}">
        <p14:creationId xmlns:p14="http://schemas.microsoft.com/office/powerpoint/2010/main" val="359327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DF0202-560B-4573-B3CE-77092A3B7017}" type="slidenum">
              <a:rPr lang="en-US" smtClean="0"/>
              <a:t>16</a:t>
            </a:fld>
            <a:endParaRPr lang="en-US"/>
          </a:p>
        </p:txBody>
      </p:sp>
    </p:spTree>
    <p:extLst>
      <p:ext uri="{BB962C8B-B14F-4D97-AF65-F5344CB8AC3E}">
        <p14:creationId xmlns:p14="http://schemas.microsoft.com/office/powerpoint/2010/main" val="1877925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284EB-A295-CA40-9FE9-CA461817F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E8389-A485-D1EA-2838-3E292C935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5360C-4B47-B12A-E7F9-CDFF16030F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FCABAB-A27E-C6F0-991B-F1EE8CA94BFC}"/>
              </a:ext>
            </a:extLst>
          </p:cNvPr>
          <p:cNvSpPr>
            <a:spLocks noGrp="1"/>
          </p:cNvSpPr>
          <p:nvPr>
            <p:ph type="sldNum" sz="quarter" idx="5"/>
          </p:nvPr>
        </p:nvSpPr>
        <p:spPr/>
        <p:txBody>
          <a:bodyPr/>
          <a:lstStyle/>
          <a:p>
            <a:fld id="{6DDF0202-560B-4573-B3CE-77092A3B7017}" type="slidenum">
              <a:rPr lang="en-US" smtClean="0"/>
              <a:t>17</a:t>
            </a:fld>
            <a:endParaRPr lang="en-US"/>
          </a:p>
        </p:txBody>
      </p:sp>
    </p:spTree>
    <p:extLst>
      <p:ext uri="{BB962C8B-B14F-4D97-AF65-F5344CB8AC3E}">
        <p14:creationId xmlns:p14="http://schemas.microsoft.com/office/powerpoint/2010/main" val="3325439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3CC2F-6A92-89F4-699F-7B0EA123A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72209-D8FD-FE48-05A1-E42F3E42D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6CB5E-6BB2-0627-5E6E-0A1F4524F5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4323B6-6C35-43C9-BBEB-0B35202A68D3}"/>
              </a:ext>
            </a:extLst>
          </p:cNvPr>
          <p:cNvSpPr>
            <a:spLocks noGrp="1"/>
          </p:cNvSpPr>
          <p:nvPr>
            <p:ph type="sldNum" sz="quarter" idx="5"/>
          </p:nvPr>
        </p:nvSpPr>
        <p:spPr/>
        <p:txBody>
          <a:bodyPr/>
          <a:lstStyle/>
          <a:p>
            <a:fld id="{6DDF0202-560B-4573-B3CE-77092A3B7017}" type="slidenum">
              <a:rPr lang="en-US" smtClean="0"/>
              <a:t>18</a:t>
            </a:fld>
            <a:endParaRPr lang="en-US"/>
          </a:p>
        </p:txBody>
      </p:sp>
    </p:spTree>
    <p:extLst>
      <p:ext uri="{BB962C8B-B14F-4D97-AF65-F5344CB8AC3E}">
        <p14:creationId xmlns:p14="http://schemas.microsoft.com/office/powerpoint/2010/main" val="1576776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B595A-8305-6467-2038-2B9849FC1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D7CF2-B022-1C54-638D-29BE509E5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7DD33-1A55-00CB-E82E-BB8D3D8278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77F981-2F13-FFAD-8D60-60394A9818BB}"/>
              </a:ext>
            </a:extLst>
          </p:cNvPr>
          <p:cNvSpPr>
            <a:spLocks noGrp="1"/>
          </p:cNvSpPr>
          <p:nvPr>
            <p:ph type="sldNum" sz="quarter" idx="5"/>
          </p:nvPr>
        </p:nvSpPr>
        <p:spPr/>
        <p:txBody>
          <a:bodyPr/>
          <a:lstStyle/>
          <a:p>
            <a:fld id="{6DDF0202-560B-4573-B3CE-77092A3B7017}" type="slidenum">
              <a:rPr lang="en-US" smtClean="0"/>
              <a:t>19</a:t>
            </a:fld>
            <a:endParaRPr lang="en-US"/>
          </a:p>
        </p:txBody>
      </p:sp>
    </p:spTree>
    <p:extLst>
      <p:ext uri="{BB962C8B-B14F-4D97-AF65-F5344CB8AC3E}">
        <p14:creationId xmlns:p14="http://schemas.microsoft.com/office/powerpoint/2010/main" val="1848352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8FEAD-D927-C58C-1178-B292C84A8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B5B04-C894-393D-1E47-153E990AD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34661-ED03-A23A-8B28-F1E4DEFD0B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54AE06-FCF4-4614-2A8F-7688D359DF2C}"/>
              </a:ext>
            </a:extLst>
          </p:cNvPr>
          <p:cNvSpPr>
            <a:spLocks noGrp="1"/>
          </p:cNvSpPr>
          <p:nvPr>
            <p:ph type="sldNum" sz="quarter" idx="5"/>
          </p:nvPr>
        </p:nvSpPr>
        <p:spPr/>
        <p:txBody>
          <a:bodyPr/>
          <a:lstStyle/>
          <a:p>
            <a:fld id="{6DDF0202-560B-4573-B3CE-77092A3B7017}" type="slidenum">
              <a:rPr lang="en-US" smtClean="0"/>
              <a:t>20</a:t>
            </a:fld>
            <a:endParaRPr lang="en-US"/>
          </a:p>
        </p:txBody>
      </p:sp>
    </p:spTree>
    <p:extLst>
      <p:ext uri="{BB962C8B-B14F-4D97-AF65-F5344CB8AC3E}">
        <p14:creationId xmlns:p14="http://schemas.microsoft.com/office/powerpoint/2010/main" val="1603878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CE0C-533C-D435-AED8-2BC434C8F5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87AD15-AF1A-4EE7-59F2-BDF83418AC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F036B5-5989-7BAD-CD7E-63426460195E}"/>
              </a:ext>
            </a:extLst>
          </p:cNvPr>
          <p:cNvSpPr>
            <a:spLocks noGrp="1"/>
          </p:cNvSpPr>
          <p:nvPr>
            <p:ph type="dt" sz="half" idx="10"/>
          </p:nvPr>
        </p:nvSpPr>
        <p:spPr/>
        <p:txBody>
          <a:bodyPr/>
          <a:lstStyle/>
          <a:p>
            <a:fld id="{146B74ED-59A6-4615-A42C-EBA42A630574}" type="datetime1">
              <a:rPr lang="en-US" smtClean="0"/>
              <a:t>10/28/2026</a:t>
            </a:fld>
            <a:endParaRPr lang="en-US"/>
          </a:p>
        </p:txBody>
      </p:sp>
      <p:sp>
        <p:nvSpPr>
          <p:cNvPr id="5" name="Footer Placeholder 4">
            <a:extLst>
              <a:ext uri="{FF2B5EF4-FFF2-40B4-BE49-F238E27FC236}">
                <a16:creationId xmlns:a16="http://schemas.microsoft.com/office/drawing/2014/main" id="{E833E56E-07E7-46F4-5325-E9CEAA7A85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9E6458-ACBD-EAA4-0415-8A2E7F67CAEA}"/>
              </a:ext>
            </a:extLst>
          </p:cNvPr>
          <p:cNvSpPr>
            <a:spLocks noGrp="1"/>
          </p:cNvSpPr>
          <p:nvPr>
            <p:ph type="sldNum" sz="quarter" idx="12"/>
          </p:nvPr>
        </p:nvSpPr>
        <p:spPr>
          <a:xfrm>
            <a:off x="9520335" y="6492875"/>
            <a:ext cx="2743200" cy="365125"/>
          </a:xfrm>
        </p:spPr>
        <p:txBody>
          <a:bodyPr/>
          <a:lstStyle>
            <a:lvl1pPr>
              <a:defRPr sz="2800"/>
            </a:lvl1pPr>
          </a:lstStyle>
          <a:p>
            <a:fld id="{3EB37142-BB67-4B06-93E6-8D10723F8802}" type="slidenum">
              <a:rPr lang="en-US" smtClean="0"/>
              <a:pPr/>
              <a:t>‹#›</a:t>
            </a:fld>
            <a:endParaRPr lang="en-US" dirty="0"/>
          </a:p>
        </p:txBody>
      </p:sp>
    </p:spTree>
    <p:extLst>
      <p:ext uri="{BB962C8B-B14F-4D97-AF65-F5344CB8AC3E}">
        <p14:creationId xmlns:p14="http://schemas.microsoft.com/office/powerpoint/2010/main" val="2829884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7EAA-AB03-9AA0-D67D-F02E046574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1A4B21-B702-EE48-A579-E335AC34E4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9A8780-E1A5-2F73-0A33-F6B435758F12}"/>
              </a:ext>
            </a:extLst>
          </p:cNvPr>
          <p:cNvSpPr>
            <a:spLocks noGrp="1"/>
          </p:cNvSpPr>
          <p:nvPr>
            <p:ph type="dt" sz="half" idx="10"/>
          </p:nvPr>
        </p:nvSpPr>
        <p:spPr/>
        <p:txBody>
          <a:bodyPr/>
          <a:lstStyle/>
          <a:p>
            <a:fld id="{117451C5-F1EC-4CA8-8E0C-DF6085DD76DC}" type="datetime1">
              <a:rPr lang="en-US" smtClean="0"/>
              <a:t>10/28/2026</a:t>
            </a:fld>
            <a:endParaRPr lang="en-US"/>
          </a:p>
        </p:txBody>
      </p:sp>
      <p:sp>
        <p:nvSpPr>
          <p:cNvPr id="5" name="Footer Placeholder 4">
            <a:extLst>
              <a:ext uri="{FF2B5EF4-FFF2-40B4-BE49-F238E27FC236}">
                <a16:creationId xmlns:a16="http://schemas.microsoft.com/office/drawing/2014/main" id="{64887CD1-E6F4-8744-3B54-93AF39F11F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9E9E50-06C4-397A-1221-769E1F40FD48}"/>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3825301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749FC-9157-0107-05E4-ACD1CE77CB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DDD740-D8D3-7399-10C1-3A6BAC676F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37A0EA-B326-1F4E-D5C0-0F940B7A1294}"/>
              </a:ext>
            </a:extLst>
          </p:cNvPr>
          <p:cNvSpPr>
            <a:spLocks noGrp="1"/>
          </p:cNvSpPr>
          <p:nvPr>
            <p:ph type="dt" sz="half" idx="10"/>
          </p:nvPr>
        </p:nvSpPr>
        <p:spPr/>
        <p:txBody>
          <a:bodyPr/>
          <a:lstStyle/>
          <a:p>
            <a:fld id="{83E5ECE5-B938-4D45-919A-8AD907E404DF}" type="datetime1">
              <a:rPr lang="en-US" smtClean="0"/>
              <a:t>10/28/2026</a:t>
            </a:fld>
            <a:endParaRPr lang="en-US"/>
          </a:p>
        </p:txBody>
      </p:sp>
      <p:sp>
        <p:nvSpPr>
          <p:cNvPr id="5" name="Footer Placeholder 4">
            <a:extLst>
              <a:ext uri="{FF2B5EF4-FFF2-40B4-BE49-F238E27FC236}">
                <a16:creationId xmlns:a16="http://schemas.microsoft.com/office/drawing/2014/main" id="{93970D5D-BBAC-C930-64E6-3DFE35D84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3AF17-D9FC-F593-BCA1-E3B3107C1BFB}"/>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3977988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CE8DC-59E1-8003-6E2A-6D2183F896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382AD-E72E-EC0F-A027-BA4F702043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1E1CB9-95E6-E569-7C3B-EAFD8761B1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5605F9-3BA8-0820-5995-F969705CBEA8}"/>
              </a:ext>
            </a:extLst>
          </p:cNvPr>
          <p:cNvSpPr>
            <a:spLocks noGrp="1"/>
          </p:cNvSpPr>
          <p:nvPr>
            <p:ph type="dt" sz="half" idx="10"/>
          </p:nvPr>
        </p:nvSpPr>
        <p:spPr/>
        <p:txBody>
          <a:bodyPr/>
          <a:lstStyle/>
          <a:p>
            <a:fld id="{A86A7F95-8450-4DBA-955C-86A4001B48D4}" type="datetime1">
              <a:rPr lang="en-US" smtClean="0"/>
              <a:t>10/28/2026</a:t>
            </a:fld>
            <a:endParaRPr lang="en-US"/>
          </a:p>
        </p:txBody>
      </p:sp>
      <p:sp>
        <p:nvSpPr>
          <p:cNvPr id="6" name="Footer Placeholder 5">
            <a:extLst>
              <a:ext uri="{FF2B5EF4-FFF2-40B4-BE49-F238E27FC236}">
                <a16:creationId xmlns:a16="http://schemas.microsoft.com/office/drawing/2014/main" id="{5709DF29-248E-2C73-B271-DCD3D9898E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30F3B4-44DA-82C6-5A9E-4CBE8C3C0728}"/>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1281198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3A2BF-F7AD-67FD-573A-CB3D91045F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3341EB-9C56-E5DE-092B-CA20252F69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D2F19D-1AC7-B3EE-C9AD-C43635DF1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3FD477-F0BE-FACA-F36F-B161C4D43D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73AFE-157F-6741-A98E-4D086CE8FF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44214B-2F87-2D43-AFAD-2BE564AE7FF8}"/>
              </a:ext>
            </a:extLst>
          </p:cNvPr>
          <p:cNvSpPr>
            <a:spLocks noGrp="1"/>
          </p:cNvSpPr>
          <p:nvPr>
            <p:ph type="dt" sz="half" idx="10"/>
          </p:nvPr>
        </p:nvSpPr>
        <p:spPr/>
        <p:txBody>
          <a:bodyPr/>
          <a:lstStyle/>
          <a:p>
            <a:fld id="{1B6A5C1C-E756-4A08-A898-C803F35B434D}" type="datetime1">
              <a:rPr lang="en-US" smtClean="0"/>
              <a:t>10/28/2026</a:t>
            </a:fld>
            <a:endParaRPr lang="en-US"/>
          </a:p>
        </p:txBody>
      </p:sp>
      <p:sp>
        <p:nvSpPr>
          <p:cNvPr id="8" name="Footer Placeholder 7">
            <a:extLst>
              <a:ext uri="{FF2B5EF4-FFF2-40B4-BE49-F238E27FC236}">
                <a16:creationId xmlns:a16="http://schemas.microsoft.com/office/drawing/2014/main" id="{14B946EE-E9A2-E6C0-F12B-095B37A9F9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2D6523-8143-5729-99F0-7D90A1DBCFB4}"/>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1297751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7DD97-264E-BA15-33F2-B51C3F5935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7EF4B3-87BC-8946-4142-5F154CDBD39C}"/>
              </a:ext>
            </a:extLst>
          </p:cNvPr>
          <p:cNvSpPr>
            <a:spLocks noGrp="1"/>
          </p:cNvSpPr>
          <p:nvPr>
            <p:ph type="dt" sz="half" idx="10"/>
          </p:nvPr>
        </p:nvSpPr>
        <p:spPr/>
        <p:txBody>
          <a:bodyPr/>
          <a:lstStyle/>
          <a:p>
            <a:fld id="{840AE576-AFE7-41B7-9D64-F0AFD3A0E4DF}" type="datetime1">
              <a:rPr lang="en-US" smtClean="0"/>
              <a:t>10/28/2026</a:t>
            </a:fld>
            <a:endParaRPr lang="en-US"/>
          </a:p>
        </p:txBody>
      </p:sp>
      <p:sp>
        <p:nvSpPr>
          <p:cNvPr id="4" name="Footer Placeholder 3">
            <a:extLst>
              <a:ext uri="{FF2B5EF4-FFF2-40B4-BE49-F238E27FC236}">
                <a16:creationId xmlns:a16="http://schemas.microsoft.com/office/drawing/2014/main" id="{05D73862-CC0F-B52E-7466-98D136AA7F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3DC7C2-0E41-6534-1FB4-8E92D494ACD3}"/>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3815658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C72A11-C8E2-0A0A-50B1-61F4FBFE1692}"/>
              </a:ext>
            </a:extLst>
          </p:cNvPr>
          <p:cNvSpPr>
            <a:spLocks noGrp="1"/>
          </p:cNvSpPr>
          <p:nvPr>
            <p:ph type="dt" sz="half" idx="10"/>
          </p:nvPr>
        </p:nvSpPr>
        <p:spPr/>
        <p:txBody>
          <a:bodyPr/>
          <a:lstStyle/>
          <a:p>
            <a:fld id="{3FB8F085-3001-43A8-BC01-2C31446D1386}" type="datetime1">
              <a:rPr lang="en-US" smtClean="0"/>
              <a:t>10/28/2026</a:t>
            </a:fld>
            <a:endParaRPr lang="en-US"/>
          </a:p>
        </p:txBody>
      </p:sp>
      <p:sp>
        <p:nvSpPr>
          <p:cNvPr id="3" name="Footer Placeholder 2">
            <a:extLst>
              <a:ext uri="{FF2B5EF4-FFF2-40B4-BE49-F238E27FC236}">
                <a16:creationId xmlns:a16="http://schemas.microsoft.com/office/drawing/2014/main" id="{D3EE3602-689F-41E0-38D5-9BF6DA249A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C14D5D-0ECB-7FBB-4EB0-BBB4CD8755DB}"/>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2116164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82FE3-F565-D727-54D2-E450812996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A09643-046E-6E75-4F7A-BAAD59E993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3700D1-2C7F-6A72-75F6-612059947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D3CEF-90BF-3E0A-11F4-0F05E4F172C0}"/>
              </a:ext>
            </a:extLst>
          </p:cNvPr>
          <p:cNvSpPr>
            <a:spLocks noGrp="1"/>
          </p:cNvSpPr>
          <p:nvPr>
            <p:ph type="dt" sz="half" idx="10"/>
          </p:nvPr>
        </p:nvSpPr>
        <p:spPr/>
        <p:txBody>
          <a:bodyPr/>
          <a:lstStyle/>
          <a:p>
            <a:fld id="{F394C13B-4E36-4A37-A470-AD4C9698E78E}" type="datetime1">
              <a:rPr lang="en-US" smtClean="0"/>
              <a:t>10/28/2026</a:t>
            </a:fld>
            <a:endParaRPr lang="en-US"/>
          </a:p>
        </p:txBody>
      </p:sp>
      <p:sp>
        <p:nvSpPr>
          <p:cNvPr id="6" name="Footer Placeholder 5">
            <a:extLst>
              <a:ext uri="{FF2B5EF4-FFF2-40B4-BE49-F238E27FC236}">
                <a16:creationId xmlns:a16="http://schemas.microsoft.com/office/drawing/2014/main" id="{6382607C-3A8F-42A4-F4A0-6AA11DE3A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0BC69F-33BC-F49C-1F6F-78FE8B163A37}"/>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634131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166D0-0154-2B97-F294-58524E78BB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A81E20-267C-7278-9BCE-41C12407BF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64E34B-C6BA-7655-2551-3EBE286B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9C3DB-2093-2DF4-EE95-A9E1080F51D0}"/>
              </a:ext>
            </a:extLst>
          </p:cNvPr>
          <p:cNvSpPr>
            <a:spLocks noGrp="1"/>
          </p:cNvSpPr>
          <p:nvPr>
            <p:ph type="dt" sz="half" idx="10"/>
          </p:nvPr>
        </p:nvSpPr>
        <p:spPr/>
        <p:txBody>
          <a:bodyPr/>
          <a:lstStyle/>
          <a:p>
            <a:fld id="{D691C4D4-D387-4D18-B420-F760D9446335}" type="datetime1">
              <a:rPr lang="en-US" smtClean="0"/>
              <a:t>10/28/2026</a:t>
            </a:fld>
            <a:endParaRPr lang="en-US"/>
          </a:p>
        </p:txBody>
      </p:sp>
      <p:sp>
        <p:nvSpPr>
          <p:cNvPr id="6" name="Footer Placeholder 5">
            <a:extLst>
              <a:ext uri="{FF2B5EF4-FFF2-40B4-BE49-F238E27FC236}">
                <a16:creationId xmlns:a16="http://schemas.microsoft.com/office/drawing/2014/main" id="{AB5A3A90-4864-46BB-7A63-7722BE854F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E59C2D-3269-186B-82A3-22C66D858C37}"/>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3779076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C3CA-EF96-1B8C-0613-26AE40C72F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4EC97-F4FF-832A-5AEC-3B2086ADCE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CBB66-DE34-F6FF-FF13-B6D9D1C070EC}"/>
              </a:ext>
            </a:extLst>
          </p:cNvPr>
          <p:cNvSpPr>
            <a:spLocks noGrp="1"/>
          </p:cNvSpPr>
          <p:nvPr>
            <p:ph type="dt" sz="half" idx="10"/>
          </p:nvPr>
        </p:nvSpPr>
        <p:spPr/>
        <p:txBody>
          <a:bodyPr/>
          <a:lstStyle/>
          <a:p>
            <a:fld id="{B6418C91-A1E8-44E7-A94A-C6B4033B56A9}" type="datetime1">
              <a:rPr lang="en-US" smtClean="0"/>
              <a:t>10/28/2026</a:t>
            </a:fld>
            <a:endParaRPr lang="en-US"/>
          </a:p>
        </p:txBody>
      </p:sp>
      <p:sp>
        <p:nvSpPr>
          <p:cNvPr id="5" name="Footer Placeholder 4">
            <a:extLst>
              <a:ext uri="{FF2B5EF4-FFF2-40B4-BE49-F238E27FC236}">
                <a16:creationId xmlns:a16="http://schemas.microsoft.com/office/drawing/2014/main" id="{035992E3-9055-7F94-3B1C-A9E647564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D0274D-46C1-A21F-D815-BDF29C2DBABF}"/>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2510157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5AFA10-DBDD-FCA8-C32D-2D88BDBAB1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BFA029-4460-0BEE-9A1D-7522C5DABE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1F97F-7846-FF99-F975-F689FEDDE84A}"/>
              </a:ext>
            </a:extLst>
          </p:cNvPr>
          <p:cNvSpPr>
            <a:spLocks noGrp="1"/>
          </p:cNvSpPr>
          <p:nvPr>
            <p:ph type="dt" sz="half" idx="10"/>
          </p:nvPr>
        </p:nvSpPr>
        <p:spPr/>
        <p:txBody>
          <a:bodyPr/>
          <a:lstStyle/>
          <a:p>
            <a:fld id="{5AF5EA3F-AF1F-4817-A2DC-8CCC3ED32B7C}" type="datetime1">
              <a:rPr lang="en-US" smtClean="0"/>
              <a:t>10/28/2026</a:t>
            </a:fld>
            <a:endParaRPr lang="en-US"/>
          </a:p>
        </p:txBody>
      </p:sp>
      <p:sp>
        <p:nvSpPr>
          <p:cNvPr id="5" name="Footer Placeholder 4">
            <a:extLst>
              <a:ext uri="{FF2B5EF4-FFF2-40B4-BE49-F238E27FC236}">
                <a16:creationId xmlns:a16="http://schemas.microsoft.com/office/drawing/2014/main" id="{D5D883D2-4E23-565F-BC7E-A5268455F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97CA7-CFBA-60BF-82DA-7C98AC9AB756}"/>
              </a:ext>
            </a:extLst>
          </p:cNvPr>
          <p:cNvSpPr>
            <a:spLocks noGrp="1"/>
          </p:cNvSpPr>
          <p:nvPr>
            <p:ph type="sldNum" sz="quarter" idx="12"/>
          </p:nvPr>
        </p:nvSpPr>
        <p:spPr/>
        <p:txBody>
          <a:bodyPr/>
          <a:lstStyle/>
          <a:p>
            <a:fld id="{3EB37142-BB67-4B06-93E6-8D10723F8802}" type="slidenum">
              <a:rPr lang="en-US" smtClean="0"/>
              <a:t>‹#›</a:t>
            </a:fld>
            <a:endParaRPr lang="en-US"/>
          </a:p>
        </p:txBody>
      </p:sp>
    </p:spTree>
    <p:extLst>
      <p:ext uri="{BB962C8B-B14F-4D97-AF65-F5344CB8AC3E}">
        <p14:creationId xmlns:p14="http://schemas.microsoft.com/office/powerpoint/2010/main" val="2574380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EAF28A-9DE3-A0EA-9D1B-FC1E9D4FBD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A10C1A-AF1D-F786-2ACF-39441161E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68BA8-E330-D756-77A4-1FDE9233BB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1D2F20-EAA5-423B-BA26-093201389D36}" type="datetime1">
              <a:rPr lang="en-US" smtClean="0"/>
              <a:t>10/28/2026</a:t>
            </a:fld>
            <a:endParaRPr lang="en-US"/>
          </a:p>
        </p:txBody>
      </p:sp>
      <p:sp>
        <p:nvSpPr>
          <p:cNvPr id="5" name="Footer Placeholder 4">
            <a:extLst>
              <a:ext uri="{FF2B5EF4-FFF2-40B4-BE49-F238E27FC236}">
                <a16:creationId xmlns:a16="http://schemas.microsoft.com/office/drawing/2014/main" id="{0289812D-4B2A-A1F3-7383-F8B40FF69B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10A247-E920-A725-DF2F-3E0B902743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B37142-BB67-4B06-93E6-8D10723F8802}" type="slidenum">
              <a:rPr lang="en-US" smtClean="0"/>
              <a:t>‹#›</a:t>
            </a:fld>
            <a:endParaRPr lang="en-US"/>
          </a:p>
        </p:txBody>
      </p:sp>
    </p:spTree>
    <p:extLst>
      <p:ext uri="{BB962C8B-B14F-4D97-AF65-F5344CB8AC3E}">
        <p14:creationId xmlns:p14="http://schemas.microsoft.com/office/powerpoint/2010/main" val="633211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69B8A-CD3E-494B-4950-17A09927C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79D72-F193-C9C0-9F1D-66D48B3F23E9}"/>
              </a:ext>
            </a:extLst>
          </p:cNvPr>
          <p:cNvSpPr>
            <a:spLocks noGrp="1"/>
          </p:cNvSpPr>
          <p:nvPr>
            <p:ph type="ctrTitle"/>
          </p:nvPr>
        </p:nvSpPr>
        <p:spPr>
          <a:xfrm>
            <a:off x="1524000" y="1503223"/>
            <a:ext cx="9144000" cy="1013793"/>
          </a:xfrm>
        </p:spPr>
        <p:txBody>
          <a:bodyPr>
            <a:normAutofit/>
          </a:bodyPr>
          <a:lstStyle/>
          <a:p>
            <a:r>
              <a:rPr lang="ar-SA" sz="3200" dirty="0"/>
              <a:t>مشروع تخرج 1</a:t>
            </a:r>
            <a:br>
              <a:rPr lang="ar-SA" sz="3200" dirty="0"/>
            </a:br>
            <a:endParaRPr lang="en-US" sz="3200" dirty="0"/>
          </a:p>
        </p:txBody>
      </p:sp>
      <p:sp>
        <p:nvSpPr>
          <p:cNvPr id="3" name="Subtitle 2">
            <a:extLst>
              <a:ext uri="{FF2B5EF4-FFF2-40B4-BE49-F238E27FC236}">
                <a16:creationId xmlns:a16="http://schemas.microsoft.com/office/drawing/2014/main" id="{4760C415-6D3F-35EA-662B-5AA39ABBDB7E}"/>
              </a:ext>
            </a:extLst>
          </p:cNvPr>
          <p:cNvSpPr>
            <a:spLocks noGrp="1"/>
          </p:cNvSpPr>
          <p:nvPr>
            <p:ph type="subTitle" idx="1"/>
          </p:nvPr>
        </p:nvSpPr>
        <p:spPr>
          <a:xfrm>
            <a:off x="1524000" y="5112302"/>
            <a:ext cx="9144000" cy="1583255"/>
          </a:xfrm>
        </p:spPr>
        <p:txBody>
          <a:bodyPr>
            <a:normAutofit fontScale="92500" lnSpcReduction="10000"/>
          </a:bodyPr>
          <a:lstStyle/>
          <a:p>
            <a:r>
              <a:rPr lang="ar-SA" dirty="0"/>
              <a:t>إعداد الطلاب: سعد يوسف آلوسي – مروة عمر عفنان</a:t>
            </a:r>
          </a:p>
          <a:p>
            <a:r>
              <a:rPr lang="ar-SA" dirty="0"/>
              <a:t>إشراف: د.كادان جمعه – م.خزامى اليوسف</a:t>
            </a:r>
          </a:p>
          <a:p>
            <a:endParaRPr lang="ar-SA" dirty="0"/>
          </a:p>
          <a:p>
            <a:r>
              <a:rPr lang="ar-SA" sz="2200" dirty="0"/>
              <a:t>2026-2027</a:t>
            </a:r>
            <a:endParaRPr lang="en-US" sz="2200" dirty="0"/>
          </a:p>
        </p:txBody>
      </p:sp>
      <p:sp>
        <p:nvSpPr>
          <p:cNvPr id="4" name="Title 1">
            <a:extLst>
              <a:ext uri="{FF2B5EF4-FFF2-40B4-BE49-F238E27FC236}">
                <a16:creationId xmlns:a16="http://schemas.microsoft.com/office/drawing/2014/main" id="{1815A31A-8FCC-A234-CB4C-10752CA10624}"/>
              </a:ext>
            </a:extLst>
          </p:cNvPr>
          <p:cNvSpPr txBox="1">
            <a:spLocks/>
          </p:cNvSpPr>
          <p:nvPr/>
        </p:nvSpPr>
        <p:spPr>
          <a:xfrm>
            <a:off x="2640496" y="1292087"/>
            <a:ext cx="9144000" cy="183725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5" name="Title 1">
            <a:extLst>
              <a:ext uri="{FF2B5EF4-FFF2-40B4-BE49-F238E27FC236}">
                <a16:creationId xmlns:a16="http://schemas.microsoft.com/office/drawing/2014/main" id="{22DAD2C6-3EBA-2520-C986-238B12751843}"/>
              </a:ext>
            </a:extLst>
          </p:cNvPr>
          <p:cNvSpPr txBox="1">
            <a:spLocks/>
          </p:cNvSpPr>
          <p:nvPr/>
        </p:nvSpPr>
        <p:spPr>
          <a:xfrm>
            <a:off x="1065141" y="761414"/>
            <a:ext cx="9144000" cy="20028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ar-SA" sz="3200" dirty="0"/>
            </a:br>
            <a:endParaRPr lang="en-US" sz="3200" dirty="0"/>
          </a:p>
        </p:txBody>
      </p:sp>
      <p:sp>
        <p:nvSpPr>
          <p:cNvPr id="6" name="Title 1">
            <a:extLst>
              <a:ext uri="{FF2B5EF4-FFF2-40B4-BE49-F238E27FC236}">
                <a16:creationId xmlns:a16="http://schemas.microsoft.com/office/drawing/2014/main" id="{28509043-F8C2-7CFD-77D0-F7F64E21CE4C}"/>
              </a:ext>
            </a:extLst>
          </p:cNvPr>
          <p:cNvSpPr txBox="1">
            <a:spLocks/>
          </p:cNvSpPr>
          <p:nvPr/>
        </p:nvSpPr>
        <p:spPr>
          <a:xfrm>
            <a:off x="226115" y="2653505"/>
            <a:ext cx="12115800" cy="223240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t>An Intelligent System for Managing and Recommending Volunteer Opportunities to Volunteers</a:t>
            </a:r>
            <a:endParaRPr lang="ar-SA" sz="4000" dirty="0"/>
          </a:p>
          <a:p>
            <a:endParaRPr lang="ar-SA" sz="4000" dirty="0"/>
          </a:p>
          <a:p>
            <a:r>
              <a:rPr lang="ar-SA" sz="2800" dirty="0"/>
              <a:t>(نظام ذكي لإدارة الأعمال التطوعية واقتراحها للمتطوعين)</a:t>
            </a:r>
          </a:p>
          <a:p>
            <a:endParaRPr lang="en-US" sz="3200" dirty="0"/>
          </a:p>
        </p:txBody>
      </p:sp>
      <p:sp>
        <p:nvSpPr>
          <p:cNvPr id="8" name="TextBox 7">
            <a:extLst>
              <a:ext uri="{FF2B5EF4-FFF2-40B4-BE49-F238E27FC236}">
                <a16:creationId xmlns:a16="http://schemas.microsoft.com/office/drawing/2014/main" id="{FEA9F22D-3AC6-6716-9409-9AAF127AA37A}"/>
              </a:ext>
            </a:extLst>
          </p:cNvPr>
          <p:cNvSpPr txBox="1"/>
          <p:nvPr/>
        </p:nvSpPr>
        <p:spPr>
          <a:xfrm>
            <a:off x="265871" y="639352"/>
            <a:ext cx="6097656" cy="369332"/>
          </a:xfrm>
          <a:prstGeom prst="rect">
            <a:avLst/>
          </a:prstGeom>
          <a:noFill/>
        </p:spPr>
        <p:txBody>
          <a:bodyPr wrap="square">
            <a:spAutoFit/>
          </a:bodyPr>
          <a:lstStyle/>
          <a:p>
            <a:r>
              <a:rPr lang="ar-SA" dirty="0"/>
              <a:t>كلية هندسة الذكاء الصناعي / هندسة البرمجيات ونظم المعلومات الذكية</a:t>
            </a:r>
            <a:endParaRPr lang="en-US" dirty="0"/>
          </a:p>
        </p:txBody>
      </p:sp>
      <p:pic>
        <p:nvPicPr>
          <p:cNvPr id="10" name="Picture 9">
            <a:extLst>
              <a:ext uri="{FF2B5EF4-FFF2-40B4-BE49-F238E27FC236}">
                <a16:creationId xmlns:a16="http://schemas.microsoft.com/office/drawing/2014/main" id="{54ADD14F-EB36-56DB-1BA8-85E17DE736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8640" y="162443"/>
            <a:ext cx="2625856" cy="1938671"/>
          </a:xfrm>
          <a:prstGeom prst="rect">
            <a:avLst/>
          </a:prstGeom>
        </p:spPr>
      </p:pic>
      <p:sp>
        <p:nvSpPr>
          <p:cNvPr id="7" name="Slide Number Placeholder 6">
            <a:extLst>
              <a:ext uri="{FF2B5EF4-FFF2-40B4-BE49-F238E27FC236}">
                <a16:creationId xmlns:a16="http://schemas.microsoft.com/office/drawing/2014/main" id="{B0319380-186A-730D-C9EF-AD562F0DCDB2}"/>
              </a:ext>
            </a:extLst>
          </p:cNvPr>
          <p:cNvSpPr>
            <a:spLocks noGrp="1"/>
          </p:cNvSpPr>
          <p:nvPr>
            <p:ph type="sldNum" sz="quarter" idx="12"/>
          </p:nvPr>
        </p:nvSpPr>
        <p:spPr/>
        <p:txBody>
          <a:bodyPr/>
          <a:lstStyle/>
          <a:p>
            <a:fld id="{3EB37142-BB67-4B06-93E6-8D10723F8802}" type="slidenum">
              <a:rPr lang="en-US" smtClean="0"/>
              <a:t>1</a:t>
            </a:fld>
            <a:endParaRPr lang="en-US" dirty="0"/>
          </a:p>
        </p:txBody>
      </p:sp>
    </p:spTree>
    <p:extLst>
      <p:ext uri="{BB962C8B-B14F-4D97-AF65-F5344CB8AC3E}">
        <p14:creationId xmlns:p14="http://schemas.microsoft.com/office/powerpoint/2010/main" val="288999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33C33-2EC5-CEF4-677D-249DEB1C3A23}"/>
              </a:ext>
            </a:extLst>
          </p:cNvPr>
          <p:cNvSpPr>
            <a:spLocks noGrp="1"/>
          </p:cNvSpPr>
          <p:nvPr>
            <p:ph type="ctrTitle"/>
          </p:nvPr>
        </p:nvSpPr>
        <p:spPr>
          <a:xfrm>
            <a:off x="2657061" y="217970"/>
            <a:ext cx="9144000" cy="1561893"/>
          </a:xfrm>
        </p:spPr>
        <p:txBody>
          <a:bodyPr>
            <a:normAutofit/>
          </a:bodyPr>
          <a:lstStyle/>
          <a:p>
            <a:pPr algn="r"/>
            <a:r>
              <a:rPr lang="ar-SA" sz="4400" b="1" dirty="0"/>
              <a:t>المقدمة:</a:t>
            </a:r>
            <a:br>
              <a:rPr lang="ar-SA" sz="4400" b="1" dirty="0"/>
            </a:br>
            <a:endParaRPr lang="en-US" sz="4400" dirty="0"/>
          </a:p>
        </p:txBody>
      </p:sp>
      <p:sp>
        <p:nvSpPr>
          <p:cNvPr id="3" name="Subtitle 2">
            <a:extLst>
              <a:ext uri="{FF2B5EF4-FFF2-40B4-BE49-F238E27FC236}">
                <a16:creationId xmlns:a16="http://schemas.microsoft.com/office/drawing/2014/main" id="{08BD4AF4-1612-2668-3E9B-9EDD434AF8BB}"/>
              </a:ext>
            </a:extLst>
          </p:cNvPr>
          <p:cNvSpPr>
            <a:spLocks noGrp="1"/>
          </p:cNvSpPr>
          <p:nvPr>
            <p:ph type="subTitle" idx="1"/>
          </p:nvPr>
        </p:nvSpPr>
        <p:spPr>
          <a:xfrm>
            <a:off x="390939" y="1612928"/>
            <a:ext cx="11410122" cy="4835998"/>
          </a:xfrm>
        </p:spPr>
        <p:txBody>
          <a:bodyPr>
            <a:normAutofit/>
          </a:bodyPr>
          <a:lstStyle/>
          <a:p>
            <a:pPr algn="r"/>
            <a:r>
              <a:rPr lang="ar-SA" sz="3200" dirty="0"/>
              <a:t>يُعد العمل التطوعي أحد الأنشطة المهمة التي تسهم في خدمة المجتمع وتعزيز التعاون بين أفراده، كما يتيح للمتطوعين اكتساب المهارات والخبرات والمشاركة في المبادرات المجتمعية.</a:t>
            </a:r>
          </a:p>
          <a:p>
            <a:pPr algn="r"/>
            <a:r>
              <a:rPr lang="ar-SA" sz="3200" dirty="0"/>
              <a:t>ومع تعدد الفرص التطوعية واختلاف مجالاتها ومواقعها ومتطلباتها، قد يواجه الأفراد صعوبة في الوصول إلى الفرص التي تتناسب مع اهتماماتهم ومهاراتهم وأوقاتهم المتاحة.</a:t>
            </a:r>
          </a:p>
          <a:p>
            <a:pPr algn="r"/>
            <a:r>
              <a:rPr lang="ar-SA" sz="3200" dirty="0"/>
              <a:t>من هنا جاءت فكرة تطوير نظام إلكتروني ذكي يساعد على تنظيم الفرص التطوعية، ويتيح للمؤسسات إدارتها، ويساعد المتطوعين على اكتشاف الفرص المناسبة لهم من خلال آلية للتوصية الذكية.</a:t>
            </a:r>
          </a:p>
          <a:p>
            <a:endParaRPr lang="en-US" dirty="0"/>
          </a:p>
        </p:txBody>
      </p:sp>
      <p:sp>
        <p:nvSpPr>
          <p:cNvPr id="4" name="Slide Number Placeholder 3">
            <a:extLst>
              <a:ext uri="{FF2B5EF4-FFF2-40B4-BE49-F238E27FC236}">
                <a16:creationId xmlns:a16="http://schemas.microsoft.com/office/drawing/2014/main" id="{48CE227E-B6F3-6940-B2A7-A6E40D33E787}"/>
              </a:ext>
            </a:extLst>
          </p:cNvPr>
          <p:cNvSpPr>
            <a:spLocks noGrp="1"/>
          </p:cNvSpPr>
          <p:nvPr>
            <p:ph type="sldNum" sz="quarter" idx="12"/>
          </p:nvPr>
        </p:nvSpPr>
        <p:spPr/>
        <p:txBody>
          <a:bodyPr/>
          <a:lstStyle/>
          <a:p>
            <a:fld id="{3EB37142-BB67-4B06-93E6-8D10723F8802}" type="slidenum">
              <a:rPr lang="en-US" smtClean="0"/>
              <a:t>2</a:t>
            </a:fld>
            <a:endParaRPr lang="en-US" dirty="0"/>
          </a:p>
        </p:txBody>
      </p:sp>
    </p:spTree>
    <p:extLst>
      <p:ext uri="{BB962C8B-B14F-4D97-AF65-F5344CB8AC3E}">
        <p14:creationId xmlns:p14="http://schemas.microsoft.com/office/powerpoint/2010/main" val="1570588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E585-5887-0EDC-6BD3-AB410B592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4D0BD-3DF1-FBB0-6318-0911802690F3}"/>
              </a:ext>
            </a:extLst>
          </p:cNvPr>
          <p:cNvSpPr>
            <a:spLocks noGrp="1"/>
          </p:cNvSpPr>
          <p:nvPr>
            <p:ph type="ctrTitle"/>
          </p:nvPr>
        </p:nvSpPr>
        <p:spPr>
          <a:xfrm>
            <a:off x="7347283" y="217970"/>
            <a:ext cx="4453777" cy="1561893"/>
          </a:xfrm>
        </p:spPr>
        <p:txBody>
          <a:bodyPr>
            <a:normAutofit/>
          </a:bodyPr>
          <a:lstStyle/>
          <a:p>
            <a:pPr algn="r"/>
            <a:r>
              <a:rPr lang="ar-SA" sz="4400" b="1" dirty="0"/>
              <a:t>التعريف بالمشروع :</a:t>
            </a:r>
            <a:br>
              <a:rPr lang="ar-SA" sz="4400" b="1" dirty="0"/>
            </a:br>
            <a:endParaRPr lang="en-US" sz="4400" dirty="0"/>
          </a:p>
        </p:txBody>
      </p:sp>
      <p:sp>
        <p:nvSpPr>
          <p:cNvPr id="3" name="Subtitle 2">
            <a:extLst>
              <a:ext uri="{FF2B5EF4-FFF2-40B4-BE49-F238E27FC236}">
                <a16:creationId xmlns:a16="http://schemas.microsoft.com/office/drawing/2014/main" id="{7303FCC5-4CA9-5863-F8D6-04BCB1358E78}"/>
              </a:ext>
            </a:extLst>
          </p:cNvPr>
          <p:cNvSpPr>
            <a:spLocks noGrp="1"/>
          </p:cNvSpPr>
          <p:nvPr>
            <p:ph type="subTitle" idx="1"/>
          </p:nvPr>
        </p:nvSpPr>
        <p:spPr>
          <a:xfrm>
            <a:off x="390939" y="1612928"/>
            <a:ext cx="11410122" cy="1561893"/>
          </a:xfrm>
        </p:spPr>
        <p:txBody>
          <a:bodyPr>
            <a:normAutofit/>
          </a:bodyPr>
          <a:lstStyle/>
          <a:p>
            <a:pPr algn="r"/>
            <a:r>
              <a:rPr lang="ar-SA" sz="3200" dirty="0"/>
              <a:t>منصة إلكترونية تجمع الفرص التطوعية في مكان واحد، وتتيح للمؤسسات إنشاء الفرص وإدارتها، وللمتطوعين البحث عنها والتسجيل فيها، مع اقتراح الفرص التي تتناسب مع اهتماماتهم ومهاراتهم وتوافرهم.</a:t>
            </a:r>
            <a:endParaRPr lang="en-US" sz="3200" dirty="0"/>
          </a:p>
        </p:txBody>
      </p:sp>
      <p:sp>
        <p:nvSpPr>
          <p:cNvPr id="7" name="Title 1">
            <a:extLst>
              <a:ext uri="{FF2B5EF4-FFF2-40B4-BE49-F238E27FC236}">
                <a16:creationId xmlns:a16="http://schemas.microsoft.com/office/drawing/2014/main" id="{01ED6C23-7769-EE45-0BA0-80D83998ADC8}"/>
              </a:ext>
            </a:extLst>
          </p:cNvPr>
          <p:cNvSpPr txBox="1">
            <a:spLocks/>
          </p:cNvSpPr>
          <p:nvPr/>
        </p:nvSpPr>
        <p:spPr>
          <a:xfrm>
            <a:off x="7347282" y="3174821"/>
            <a:ext cx="4453777" cy="15618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ar-SA" sz="4400" b="1" dirty="0"/>
              <a:t>الفئات المستهدفة :</a:t>
            </a:r>
            <a:br>
              <a:rPr lang="ar-SA" sz="4400" b="1" dirty="0"/>
            </a:br>
            <a:endParaRPr lang="en-US" sz="4400" dirty="0"/>
          </a:p>
        </p:txBody>
      </p:sp>
      <p:sp>
        <p:nvSpPr>
          <p:cNvPr id="8" name="Subtitle 2">
            <a:extLst>
              <a:ext uri="{FF2B5EF4-FFF2-40B4-BE49-F238E27FC236}">
                <a16:creationId xmlns:a16="http://schemas.microsoft.com/office/drawing/2014/main" id="{60312953-7F5F-6720-3B2B-A6B2428D7494}"/>
              </a:ext>
            </a:extLst>
          </p:cNvPr>
          <p:cNvSpPr txBox="1">
            <a:spLocks/>
          </p:cNvSpPr>
          <p:nvPr/>
        </p:nvSpPr>
        <p:spPr>
          <a:xfrm>
            <a:off x="390937" y="4464125"/>
            <a:ext cx="11410122" cy="1561893"/>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r" rtl="1">
              <a:buFont typeface="Arial" panose="020B0604020202020204" pitchFamily="34" charset="0"/>
              <a:buChar char="•"/>
            </a:pPr>
            <a:r>
              <a:rPr lang="ar-SA" sz="3200" dirty="0"/>
              <a:t>المتطوعون</a:t>
            </a:r>
          </a:p>
          <a:p>
            <a:pPr marL="457200" indent="-457200" algn="r" rtl="1">
              <a:buFont typeface="Arial" panose="020B0604020202020204" pitchFamily="34" charset="0"/>
              <a:buChar char="•"/>
            </a:pPr>
            <a:r>
              <a:rPr lang="ar-SA" sz="3200" dirty="0"/>
              <a:t>المؤسسات المنظمة للفرص التطوعية</a:t>
            </a:r>
          </a:p>
          <a:p>
            <a:pPr marL="457200" indent="-457200" algn="r" rtl="1">
              <a:buFont typeface="Arial" panose="020B0604020202020204" pitchFamily="34" charset="0"/>
              <a:buChar char="•"/>
            </a:pPr>
            <a:r>
              <a:rPr lang="ar-SA" sz="3200" dirty="0"/>
              <a:t>مدير النظام</a:t>
            </a:r>
            <a:endParaRPr lang="en-US" sz="3200" dirty="0"/>
          </a:p>
        </p:txBody>
      </p:sp>
      <p:sp>
        <p:nvSpPr>
          <p:cNvPr id="4" name="Slide Number Placeholder 3">
            <a:extLst>
              <a:ext uri="{FF2B5EF4-FFF2-40B4-BE49-F238E27FC236}">
                <a16:creationId xmlns:a16="http://schemas.microsoft.com/office/drawing/2014/main" id="{D88E594D-6274-FDD5-097F-58856D6718B4}"/>
              </a:ext>
            </a:extLst>
          </p:cNvPr>
          <p:cNvSpPr>
            <a:spLocks noGrp="1"/>
          </p:cNvSpPr>
          <p:nvPr>
            <p:ph type="sldNum" sz="quarter" idx="12"/>
          </p:nvPr>
        </p:nvSpPr>
        <p:spPr/>
        <p:txBody>
          <a:bodyPr/>
          <a:lstStyle/>
          <a:p>
            <a:fld id="{3EB37142-BB67-4B06-93E6-8D10723F8802}" type="slidenum">
              <a:rPr lang="en-US" smtClean="0"/>
              <a:t>3</a:t>
            </a:fld>
            <a:endParaRPr lang="en-US" dirty="0"/>
          </a:p>
        </p:txBody>
      </p:sp>
    </p:spTree>
    <p:extLst>
      <p:ext uri="{BB962C8B-B14F-4D97-AF65-F5344CB8AC3E}">
        <p14:creationId xmlns:p14="http://schemas.microsoft.com/office/powerpoint/2010/main" val="349395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A2A84-8533-EFFB-E788-DDE7BBADB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999E31-D737-FF59-A1C5-FFF9C9FEAB0E}"/>
              </a:ext>
            </a:extLst>
          </p:cNvPr>
          <p:cNvSpPr>
            <a:spLocks noGrp="1"/>
          </p:cNvSpPr>
          <p:nvPr>
            <p:ph type="ctrTitle"/>
          </p:nvPr>
        </p:nvSpPr>
        <p:spPr>
          <a:xfrm>
            <a:off x="8598567" y="217970"/>
            <a:ext cx="3202493" cy="1561893"/>
          </a:xfrm>
        </p:spPr>
        <p:txBody>
          <a:bodyPr>
            <a:normAutofit/>
          </a:bodyPr>
          <a:lstStyle/>
          <a:p>
            <a:pPr algn="r"/>
            <a:r>
              <a:rPr lang="ar-SA" sz="4400" dirty="0"/>
              <a:t>الهدف العام </a:t>
            </a:r>
            <a:r>
              <a:rPr lang="ar-SA" sz="4400" b="1" dirty="0"/>
              <a:t>:</a:t>
            </a:r>
            <a:br>
              <a:rPr lang="ar-SA" sz="4400" b="1" dirty="0"/>
            </a:br>
            <a:endParaRPr lang="en-US" sz="4400" dirty="0"/>
          </a:p>
        </p:txBody>
      </p:sp>
      <p:sp>
        <p:nvSpPr>
          <p:cNvPr id="3" name="Subtitle 2">
            <a:extLst>
              <a:ext uri="{FF2B5EF4-FFF2-40B4-BE49-F238E27FC236}">
                <a16:creationId xmlns:a16="http://schemas.microsoft.com/office/drawing/2014/main" id="{2A787AD7-36E7-B104-F85A-8D27398B876B}"/>
              </a:ext>
            </a:extLst>
          </p:cNvPr>
          <p:cNvSpPr>
            <a:spLocks noGrp="1"/>
          </p:cNvSpPr>
          <p:nvPr>
            <p:ph type="subTitle" idx="1"/>
          </p:nvPr>
        </p:nvSpPr>
        <p:spPr>
          <a:xfrm>
            <a:off x="32083" y="1229658"/>
            <a:ext cx="11410122" cy="1162356"/>
          </a:xfrm>
        </p:spPr>
        <p:txBody>
          <a:bodyPr>
            <a:normAutofit/>
          </a:bodyPr>
          <a:lstStyle/>
          <a:p>
            <a:pPr algn="r"/>
            <a:r>
              <a:rPr lang="ar-SA" sz="3200" dirty="0"/>
              <a:t>تسهيل إدارة الفرص التطوعية وتحسين عملية الوصول إلى الفرص المناسبة لكل متطوع.</a:t>
            </a:r>
            <a:endParaRPr lang="en-US" sz="3200" dirty="0"/>
          </a:p>
        </p:txBody>
      </p:sp>
      <p:sp>
        <p:nvSpPr>
          <p:cNvPr id="4" name="Title 1">
            <a:extLst>
              <a:ext uri="{FF2B5EF4-FFF2-40B4-BE49-F238E27FC236}">
                <a16:creationId xmlns:a16="http://schemas.microsoft.com/office/drawing/2014/main" id="{C91A5064-5FA6-B4E2-3C50-098944BBB6EE}"/>
              </a:ext>
            </a:extLst>
          </p:cNvPr>
          <p:cNvSpPr txBox="1">
            <a:spLocks/>
          </p:cNvSpPr>
          <p:nvPr/>
        </p:nvSpPr>
        <p:spPr>
          <a:xfrm>
            <a:off x="4074695" y="2086869"/>
            <a:ext cx="7726365" cy="15618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ar-SA" sz="4400" dirty="0"/>
              <a:t>دوافع اختيار المشروع </a:t>
            </a:r>
            <a:r>
              <a:rPr lang="ar-SA" sz="4400" b="1" dirty="0"/>
              <a:t>:</a:t>
            </a:r>
            <a:br>
              <a:rPr lang="ar-SA" sz="4400" b="1" dirty="0"/>
            </a:br>
            <a:endParaRPr lang="en-US" sz="4400" dirty="0"/>
          </a:p>
        </p:txBody>
      </p:sp>
      <p:sp>
        <p:nvSpPr>
          <p:cNvPr id="6" name="Subtitle 2">
            <a:extLst>
              <a:ext uri="{FF2B5EF4-FFF2-40B4-BE49-F238E27FC236}">
                <a16:creationId xmlns:a16="http://schemas.microsoft.com/office/drawing/2014/main" id="{07AE8B5A-538F-9573-B683-A471CAD4AC7A}"/>
              </a:ext>
            </a:extLst>
          </p:cNvPr>
          <p:cNvSpPr txBox="1">
            <a:spLocks/>
          </p:cNvSpPr>
          <p:nvPr/>
        </p:nvSpPr>
        <p:spPr>
          <a:xfrm>
            <a:off x="32083" y="3126694"/>
            <a:ext cx="11410122" cy="35133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r" rtl="1">
              <a:buFont typeface="Arial" panose="020B0604020202020204" pitchFamily="34" charset="0"/>
              <a:buChar char="•"/>
            </a:pPr>
            <a:r>
              <a:rPr lang="ar-SA" sz="3200" dirty="0"/>
              <a:t>الحاجة إلى تجميع الفرص التطوعية في منصة واحدة </a:t>
            </a:r>
          </a:p>
          <a:p>
            <a:pPr marL="457200" indent="-457200" algn="r" rtl="1">
              <a:buFont typeface="Arial" panose="020B0604020202020204" pitchFamily="34" charset="0"/>
              <a:buChar char="•"/>
            </a:pPr>
            <a:r>
              <a:rPr lang="ar-SA" sz="3200" dirty="0"/>
              <a:t>تسهيل البحث عن الفرص حسب المجال والموقع والوقت</a:t>
            </a:r>
          </a:p>
          <a:p>
            <a:pPr marL="457200" indent="-457200" algn="r" rtl="1">
              <a:buFont typeface="Arial" panose="020B0604020202020204" pitchFamily="34" charset="0"/>
              <a:buChar char="•"/>
            </a:pPr>
            <a:r>
              <a:rPr lang="ar-SA" sz="3200" dirty="0"/>
              <a:t>تنظيم عمليات تسجيل المتطوعين ومتابعة طلباتهم</a:t>
            </a:r>
          </a:p>
          <a:p>
            <a:pPr marL="457200" indent="-457200" algn="r" rtl="1">
              <a:buFont typeface="Arial" panose="020B0604020202020204" pitchFamily="34" charset="0"/>
              <a:buChar char="•"/>
            </a:pPr>
            <a:r>
              <a:rPr lang="ar-SA" sz="3200" dirty="0"/>
              <a:t>الاستفادة من بيانات الاهتمامات والمهارات لتقديم اقتراحات أكثر ملاءمة</a:t>
            </a:r>
          </a:p>
          <a:p>
            <a:pPr marL="457200" indent="-457200" algn="r" rtl="1">
              <a:buFont typeface="Arial" panose="020B0604020202020204" pitchFamily="34" charset="0"/>
              <a:buChar char="•"/>
            </a:pPr>
            <a:r>
              <a:rPr lang="ar-SA" sz="3200" dirty="0"/>
              <a:t>مساعدة المؤسسات على متابعة الفرص وأعداد المتقدمين</a:t>
            </a:r>
          </a:p>
          <a:p>
            <a:pPr marL="457200" indent="-457200" algn="r" rtl="1">
              <a:buFont typeface="Arial" panose="020B0604020202020204" pitchFamily="34" charset="0"/>
              <a:buChar char="•"/>
            </a:pPr>
            <a:r>
              <a:rPr lang="ar-SA" sz="3200" dirty="0"/>
              <a:t>مساعدة المؤسسات على النشر و توفير الاعداد الازمة من المتطوعين</a:t>
            </a:r>
          </a:p>
          <a:p>
            <a:pPr algn="r"/>
            <a:endParaRPr lang="ar-SA" sz="3200" dirty="0"/>
          </a:p>
          <a:p>
            <a:pPr algn="r"/>
            <a:endParaRPr lang="en-US" sz="3200" dirty="0"/>
          </a:p>
        </p:txBody>
      </p:sp>
      <p:sp>
        <p:nvSpPr>
          <p:cNvPr id="5" name="Slide Number Placeholder 4">
            <a:extLst>
              <a:ext uri="{FF2B5EF4-FFF2-40B4-BE49-F238E27FC236}">
                <a16:creationId xmlns:a16="http://schemas.microsoft.com/office/drawing/2014/main" id="{7E8DEED9-937B-43AB-35F8-52798055439B}"/>
              </a:ext>
            </a:extLst>
          </p:cNvPr>
          <p:cNvSpPr>
            <a:spLocks noGrp="1"/>
          </p:cNvSpPr>
          <p:nvPr>
            <p:ph type="sldNum" sz="quarter" idx="12"/>
          </p:nvPr>
        </p:nvSpPr>
        <p:spPr/>
        <p:txBody>
          <a:bodyPr/>
          <a:lstStyle/>
          <a:p>
            <a:fld id="{3EB37142-BB67-4B06-93E6-8D10723F8802}" type="slidenum">
              <a:rPr lang="en-US" smtClean="0"/>
              <a:t>4</a:t>
            </a:fld>
            <a:endParaRPr lang="en-US" dirty="0"/>
          </a:p>
        </p:txBody>
      </p:sp>
    </p:spTree>
    <p:extLst>
      <p:ext uri="{BB962C8B-B14F-4D97-AF65-F5344CB8AC3E}">
        <p14:creationId xmlns:p14="http://schemas.microsoft.com/office/powerpoint/2010/main" val="3892839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00BC0-D44C-E725-D551-971CE82C2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9B296-5764-E837-3348-A9ED7AD5C070}"/>
              </a:ext>
            </a:extLst>
          </p:cNvPr>
          <p:cNvSpPr>
            <a:spLocks noGrp="1"/>
          </p:cNvSpPr>
          <p:nvPr>
            <p:ph type="ctrTitle"/>
          </p:nvPr>
        </p:nvSpPr>
        <p:spPr>
          <a:xfrm>
            <a:off x="7347283" y="217970"/>
            <a:ext cx="4453777" cy="1561893"/>
          </a:xfrm>
        </p:spPr>
        <p:txBody>
          <a:bodyPr>
            <a:normAutofit/>
          </a:bodyPr>
          <a:lstStyle/>
          <a:p>
            <a:pPr algn="r"/>
            <a:r>
              <a:rPr lang="ar-SA" sz="4400" dirty="0"/>
              <a:t>مشكلة المشروع </a:t>
            </a:r>
            <a:r>
              <a:rPr lang="ar-SA" sz="4400" b="1" dirty="0"/>
              <a:t>:</a:t>
            </a:r>
            <a:br>
              <a:rPr lang="ar-SA" sz="4400" b="1" dirty="0"/>
            </a:br>
            <a:endParaRPr lang="en-US" sz="4400" dirty="0"/>
          </a:p>
        </p:txBody>
      </p:sp>
      <p:sp>
        <p:nvSpPr>
          <p:cNvPr id="3" name="Subtitle 2">
            <a:extLst>
              <a:ext uri="{FF2B5EF4-FFF2-40B4-BE49-F238E27FC236}">
                <a16:creationId xmlns:a16="http://schemas.microsoft.com/office/drawing/2014/main" id="{9EDBF2E9-395A-2CB3-505F-CD8EF4EDD8C4}"/>
              </a:ext>
            </a:extLst>
          </p:cNvPr>
          <p:cNvSpPr>
            <a:spLocks noGrp="1"/>
          </p:cNvSpPr>
          <p:nvPr>
            <p:ph type="subTitle" idx="1"/>
          </p:nvPr>
        </p:nvSpPr>
        <p:spPr>
          <a:xfrm>
            <a:off x="390938" y="1340213"/>
            <a:ext cx="11410122" cy="1561893"/>
          </a:xfrm>
        </p:spPr>
        <p:txBody>
          <a:bodyPr>
            <a:normAutofit/>
          </a:bodyPr>
          <a:lstStyle/>
          <a:p>
            <a:pPr algn="r"/>
            <a:r>
              <a:rPr lang="ar-SA" sz="3200" dirty="0"/>
              <a:t>تتمثل مشكلة المشروع في صعوبة تنظيم الوصول إلى الفرص التطوعية وإدارتها بطريقة موحدة، مع غياب آلية مخصصة تساعد المتطوع على اكتشاف الفرص التي تتناسب مع اهتماماته وقدراته.</a:t>
            </a:r>
            <a:endParaRPr lang="en-US" sz="3200" dirty="0"/>
          </a:p>
        </p:txBody>
      </p:sp>
      <p:sp>
        <p:nvSpPr>
          <p:cNvPr id="8" name="Subtitle 2">
            <a:extLst>
              <a:ext uri="{FF2B5EF4-FFF2-40B4-BE49-F238E27FC236}">
                <a16:creationId xmlns:a16="http://schemas.microsoft.com/office/drawing/2014/main" id="{80E6DCED-73F6-6AA1-8E8B-A982828E8787}"/>
              </a:ext>
            </a:extLst>
          </p:cNvPr>
          <p:cNvSpPr txBox="1">
            <a:spLocks/>
          </p:cNvSpPr>
          <p:nvPr/>
        </p:nvSpPr>
        <p:spPr>
          <a:xfrm>
            <a:off x="390938" y="3319315"/>
            <a:ext cx="11410122" cy="33207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14350" indent="-514350" algn="r" rtl="1">
              <a:buFont typeface="+mj-lt"/>
              <a:buAutoNum type="arabicPeriod"/>
            </a:pPr>
            <a:r>
              <a:rPr lang="ar-SA" sz="3200" dirty="0"/>
              <a:t>بالنسبة إلى المتطوع: قد يواجه صعوبة في العثور على الفرص المناسبة ومقارنة متطلباتها ومواعيدها.</a:t>
            </a:r>
          </a:p>
          <a:p>
            <a:pPr marL="514350" indent="-514350" algn="r" rtl="1">
              <a:buFont typeface="+mj-lt"/>
              <a:buAutoNum type="arabicPeriod"/>
            </a:pPr>
            <a:r>
              <a:rPr lang="ar-SA" sz="3200" dirty="0"/>
              <a:t>بالنسبة إلى المؤسسة المنظمة: تحتاج المؤسسة إلى وسيلة لإدارة الفرص وطلبات التسجيل ومتابعة المشاركين.</a:t>
            </a:r>
          </a:p>
          <a:p>
            <a:pPr marL="514350" indent="-514350" algn="r" rtl="1">
              <a:buFont typeface="+mj-lt"/>
              <a:buAutoNum type="arabicPeriod"/>
            </a:pPr>
            <a:r>
              <a:rPr lang="ar-SA" sz="3200" dirty="0"/>
              <a:t>بالنسبة إلى ملاءمة الفرص: عرض الفرص بالطريقة نفسها لجميع المستخدمين لا يضمن أن تكون الفرص المعروضة مناسبة لاهتمامات كل متطوع.</a:t>
            </a:r>
          </a:p>
          <a:p>
            <a:pPr algn="r" rtl="1"/>
            <a:endParaRPr lang="en-US" sz="3200" dirty="0"/>
          </a:p>
        </p:txBody>
      </p:sp>
      <p:sp>
        <p:nvSpPr>
          <p:cNvPr id="4" name="Slide Number Placeholder 3">
            <a:extLst>
              <a:ext uri="{FF2B5EF4-FFF2-40B4-BE49-F238E27FC236}">
                <a16:creationId xmlns:a16="http://schemas.microsoft.com/office/drawing/2014/main" id="{10C666F4-C62F-1B33-34CF-4F0319C65C9F}"/>
              </a:ext>
            </a:extLst>
          </p:cNvPr>
          <p:cNvSpPr>
            <a:spLocks noGrp="1"/>
          </p:cNvSpPr>
          <p:nvPr>
            <p:ph type="sldNum" sz="quarter" idx="12"/>
          </p:nvPr>
        </p:nvSpPr>
        <p:spPr/>
        <p:txBody>
          <a:bodyPr/>
          <a:lstStyle/>
          <a:p>
            <a:fld id="{3EB37142-BB67-4B06-93E6-8D10723F8802}" type="slidenum">
              <a:rPr lang="en-US" smtClean="0"/>
              <a:t>5</a:t>
            </a:fld>
            <a:endParaRPr lang="en-US" dirty="0"/>
          </a:p>
        </p:txBody>
      </p:sp>
    </p:spTree>
    <p:extLst>
      <p:ext uri="{BB962C8B-B14F-4D97-AF65-F5344CB8AC3E}">
        <p14:creationId xmlns:p14="http://schemas.microsoft.com/office/powerpoint/2010/main" val="929703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60A4D-3E89-3DDE-6677-97791D8EA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1923B-C6E7-4B74-755A-35BAECD71F4F}"/>
              </a:ext>
            </a:extLst>
          </p:cNvPr>
          <p:cNvSpPr>
            <a:spLocks noGrp="1"/>
          </p:cNvSpPr>
          <p:nvPr>
            <p:ph type="ctrTitle"/>
          </p:nvPr>
        </p:nvSpPr>
        <p:spPr>
          <a:xfrm>
            <a:off x="8598567" y="217970"/>
            <a:ext cx="3202493" cy="1561893"/>
          </a:xfrm>
        </p:spPr>
        <p:txBody>
          <a:bodyPr>
            <a:normAutofit/>
          </a:bodyPr>
          <a:lstStyle/>
          <a:p>
            <a:pPr algn="r"/>
            <a:r>
              <a:rPr lang="ar-SA" sz="4400" dirty="0"/>
              <a:t>أهمية المشروع </a:t>
            </a:r>
            <a:r>
              <a:rPr lang="ar-SA" sz="4400" b="1" dirty="0"/>
              <a:t>:</a:t>
            </a:r>
            <a:br>
              <a:rPr lang="ar-SA" sz="4400" b="1" dirty="0"/>
            </a:br>
            <a:endParaRPr lang="en-US" sz="4400" dirty="0"/>
          </a:p>
        </p:txBody>
      </p:sp>
      <p:sp>
        <p:nvSpPr>
          <p:cNvPr id="6" name="Subtitle 2">
            <a:extLst>
              <a:ext uri="{FF2B5EF4-FFF2-40B4-BE49-F238E27FC236}">
                <a16:creationId xmlns:a16="http://schemas.microsoft.com/office/drawing/2014/main" id="{660FEBB7-0DEA-65A4-8B8C-E579B046FC57}"/>
              </a:ext>
            </a:extLst>
          </p:cNvPr>
          <p:cNvSpPr txBox="1">
            <a:spLocks/>
          </p:cNvSpPr>
          <p:nvPr/>
        </p:nvSpPr>
        <p:spPr>
          <a:xfrm>
            <a:off x="128336" y="1564803"/>
            <a:ext cx="11410122" cy="4691618"/>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r" rtl="1">
              <a:buFont typeface="Arial" panose="020B0604020202020204" pitchFamily="34" charset="0"/>
              <a:buChar char="•"/>
            </a:pPr>
            <a:r>
              <a:rPr lang="ar-SA" sz="3500" dirty="0"/>
              <a:t>الفائدة للمتطوع</a:t>
            </a:r>
          </a:p>
          <a:p>
            <a:pPr algn="r"/>
            <a:r>
              <a:rPr lang="ar-SA" sz="3500" dirty="0"/>
              <a:t>تسهيل الوصول إلى الفرص، وتقليل وقت البحث، ومتابعة طلبات المشاركة، والحصول على اقتراحات أكثر ملاءمة.</a:t>
            </a:r>
          </a:p>
          <a:p>
            <a:pPr algn="r"/>
            <a:endParaRPr lang="ar-SA" sz="3500" dirty="0"/>
          </a:p>
          <a:p>
            <a:pPr marL="457200" indent="-457200" algn="r" rtl="1">
              <a:buFont typeface="Arial" panose="020B0604020202020204" pitchFamily="34" charset="0"/>
              <a:buChar char="•"/>
            </a:pPr>
            <a:r>
              <a:rPr lang="ar-SA" sz="3500" dirty="0"/>
              <a:t>الفائدة للمؤسسات</a:t>
            </a:r>
          </a:p>
          <a:p>
            <a:pPr algn="r"/>
            <a:r>
              <a:rPr lang="ar-SA" sz="3500" dirty="0"/>
              <a:t>تنظيم نشر الفرص، ومراجعة طلبات المتطوعين، ومتابعة أعداد المتقدمين والمقبولين.</a:t>
            </a:r>
          </a:p>
          <a:p>
            <a:pPr algn="r"/>
            <a:endParaRPr lang="ar-SA" sz="3500" dirty="0"/>
          </a:p>
          <a:p>
            <a:pPr marL="457200" indent="-457200" algn="r" rtl="1">
              <a:buFont typeface="Arial" panose="020B0604020202020204" pitchFamily="34" charset="0"/>
              <a:buChar char="•"/>
            </a:pPr>
            <a:r>
              <a:rPr lang="ar-SA" sz="3500" dirty="0"/>
              <a:t>الفائدة لإدارة النظام</a:t>
            </a:r>
          </a:p>
          <a:p>
            <a:pPr algn="r"/>
            <a:r>
              <a:rPr lang="ar-SA" sz="3500" dirty="0"/>
              <a:t>تحسين الإشراف على الحسابات والفرص، وتنظيم التصنيفات، والاستفادة من التقارير والإحصائيات.</a:t>
            </a:r>
          </a:p>
          <a:p>
            <a:pPr algn="r"/>
            <a:endParaRPr lang="ar-SA" sz="3200" dirty="0"/>
          </a:p>
          <a:p>
            <a:pPr algn="r"/>
            <a:endParaRPr lang="en-US" sz="3200" dirty="0"/>
          </a:p>
        </p:txBody>
      </p:sp>
      <p:sp>
        <p:nvSpPr>
          <p:cNvPr id="3" name="Slide Number Placeholder 2">
            <a:extLst>
              <a:ext uri="{FF2B5EF4-FFF2-40B4-BE49-F238E27FC236}">
                <a16:creationId xmlns:a16="http://schemas.microsoft.com/office/drawing/2014/main" id="{AAA801C0-F0D4-D693-4A0D-59A927B12540}"/>
              </a:ext>
            </a:extLst>
          </p:cNvPr>
          <p:cNvSpPr>
            <a:spLocks noGrp="1"/>
          </p:cNvSpPr>
          <p:nvPr>
            <p:ph type="sldNum" sz="quarter" idx="12"/>
          </p:nvPr>
        </p:nvSpPr>
        <p:spPr/>
        <p:txBody>
          <a:bodyPr/>
          <a:lstStyle/>
          <a:p>
            <a:fld id="{3EB37142-BB67-4B06-93E6-8D10723F8802}" type="slidenum">
              <a:rPr lang="en-US" smtClean="0"/>
              <a:t>6</a:t>
            </a:fld>
            <a:endParaRPr lang="en-US" dirty="0"/>
          </a:p>
        </p:txBody>
      </p:sp>
    </p:spTree>
    <p:extLst>
      <p:ext uri="{BB962C8B-B14F-4D97-AF65-F5344CB8AC3E}">
        <p14:creationId xmlns:p14="http://schemas.microsoft.com/office/powerpoint/2010/main" val="2170739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283D-084D-AC41-976F-31F9E4DE78B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D21D68C-961D-2C03-A32D-6F63EB11152B}"/>
              </a:ext>
            </a:extLst>
          </p:cNvPr>
          <p:cNvSpPr txBox="1">
            <a:spLocks/>
          </p:cNvSpPr>
          <p:nvPr/>
        </p:nvSpPr>
        <p:spPr>
          <a:xfrm>
            <a:off x="8476162" y="-272966"/>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1. متطلبات المتطوع:</a:t>
            </a:r>
            <a:endParaRPr lang="en-US" sz="3200" dirty="0"/>
          </a:p>
        </p:txBody>
      </p:sp>
      <p:sp>
        <p:nvSpPr>
          <p:cNvPr id="10" name="Title 1">
            <a:extLst>
              <a:ext uri="{FF2B5EF4-FFF2-40B4-BE49-F238E27FC236}">
                <a16:creationId xmlns:a16="http://schemas.microsoft.com/office/drawing/2014/main" id="{162CC7AC-3628-2E90-52A4-A19A42B1E41B}"/>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11" name="Table 10">
            <a:extLst>
              <a:ext uri="{FF2B5EF4-FFF2-40B4-BE49-F238E27FC236}">
                <a16:creationId xmlns:a16="http://schemas.microsoft.com/office/drawing/2014/main" id="{493811C8-2A1A-65A5-F30B-95D9C1878757}"/>
              </a:ext>
            </a:extLst>
          </p:cNvPr>
          <p:cNvGraphicFramePr>
            <a:graphicFrameLocks noGrp="1"/>
          </p:cNvGraphicFramePr>
          <p:nvPr>
            <p:extLst>
              <p:ext uri="{D42A27DB-BD31-4B8C-83A1-F6EECF244321}">
                <p14:modId xmlns:p14="http://schemas.microsoft.com/office/powerpoint/2010/main" val="817971520"/>
              </p:ext>
            </p:extLst>
          </p:nvPr>
        </p:nvGraphicFramePr>
        <p:xfrm>
          <a:off x="121536" y="-62923"/>
          <a:ext cx="11948928" cy="6983846"/>
        </p:xfrm>
        <a:graphic>
          <a:graphicData uri="http://schemas.openxmlformats.org/drawingml/2006/table">
            <a:tbl>
              <a:tblPr/>
              <a:tblGrid>
                <a:gridCol w="1031403">
                  <a:extLst>
                    <a:ext uri="{9D8B030D-6E8A-4147-A177-3AD203B41FA5}">
                      <a16:colId xmlns:a16="http://schemas.microsoft.com/office/drawing/2014/main" val="3896214482"/>
                    </a:ext>
                  </a:extLst>
                </a:gridCol>
                <a:gridCol w="2842591">
                  <a:extLst>
                    <a:ext uri="{9D8B030D-6E8A-4147-A177-3AD203B41FA5}">
                      <a16:colId xmlns:a16="http://schemas.microsoft.com/office/drawing/2014/main" val="734660864"/>
                    </a:ext>
                  </a:extLst>
                </a:gridCol>
                <a:gridCol w="8074934">
                  <a:extLst>
                    <a:ext uri="{9D8B030D-6E8A-4147-A177-3AD203B41FA5}">
                      <a16:colId xmlns:a16="http://schemas.microsoft.com/office/drawing/2014/main" val="3617566563"/>
                    </a:ext>
                  </a:extLst>
                </a:gridCol>
              </a:tblGrid>
              <a:tr h="302867">
                <a:tc>
                  <a:txBody>
                    <a:bodyPr/>
                    <a:lstStyle/>
                    <a:p>
                      <a:pPr>
                        <a:buNone/>
                      </a:pPr>
                      <a:r>
                        <a:rPr lang="ar-SA" sz="1100" b="1"/>
                        <a:t>الرقم</a:t>
                      </a:r>
                    </a:p>
                  </a:txBody>
                  <a:tcPr marL="43513" marR="43513" marT="21757" marB="21757" anchor="ctr">
                    <a:lnL>
                      <a:noFill/>
                    </a:lnL>
                    <a:lnR>
                      <a:noFill/>
                    </a:lnR>
                    <a:lnT>
                      <a:noFill/>
                    </a:lnT>
                    <a:lnB>
                      <a:noFill/>
                    </a:lnB>
                    <a:noFill/>
                  </a:tcPr>
                </a:tc>
                <a:tc>
                  <a:txBody>
                    <a:bodyPr/>
                    <a:lstStyle/>
                    <a:p>
                      <a:pPr>
                        <a:buNone/>
                      </a:pPr>
                      <a:r>
                        <a:rPr lang="ar-SA" sz="2400" b="1" dirty="0"/>
                        <a:t>المتطلب الوظيفي</a:t>
                      </a:r>
                    </a:p>
                  </a:txBody>
                  <a:tcPr marL="43513" marR="43513" marT="21757" marB="21757" anchor="ctr">
                    <a:lnL>
                      <a:noFill/>
                    </a:lnL>
                    <a:lnR>
                      <a:noFill/>
                    </a:lnR>
                    <a:lnT>
                      <a:noFill/>
                    </a:lnT>
                    <a:lnB>
                      <a:noFill/>
                    </a:lnB>
                    <a:noFill/>
                  </a:tcPr>
                </a:tc>
                <a:tc>
                  <a:txBody>
                    <a:bodyPr/>
                    <a:lstStyle/>
                    <a:p>
                      <a:pPr>
                        <a:buNone/>
                      </a:pPr>
                      <a:r>
                        <a:rPr lang="ar-SA" sz="2400" b="1" dirty="0"/>
                        <a:t>وصف مختصر</a:t>
                      </a:r>
                    </a:p>
                  </a:txBody>
                  <a:tcPr marL="43513" marR="43513" marT="21757" marB="21757" anchor="ctr">
                    <a:lnL>
                      <a:noFill/>
                    </a:lnL>
                    <a:lnR>
                      <a:noFill/>
                    </a:lnR>
                    <a:lnT>
                      <a:noFill/>
                    </a:lnT>
                    <a:lnB>
                      <a:noFill/>
                    </a:lnB>
                    <a:noFill/>
                  </a:tcPr>
                </a:tc>
                <a:extLst>
                  <a:ext uri="{0D108BD9-81ED-4DB2-BD59-A6C34878D82A}">
                    <a16:rowId xmlns:a16="http://schemas.microsoft.com/office/drawing/2014/main" val="1665935827"/>
                  </a:ext>
                </a:extLst>
              </a:tr>
              <a:tr h="359131">
                <a:tc>
                  <a:txBody>
                    <a:bodyPr/>
                    <a:lstStyle/>
                    <a:p>
                      <a:pPr>
                        <a:buNone/>
                      </a:pPr>
                      <a:r>
                        <a:rPr lang="en-US" sz="1100"/>
                        <a:t>FR-01</a:t>
                      </a:r>
                    </a:p>
                  </a:txBody>
                  <a:tcPr marL="43513" marR="43513" marT="21757" marB="21757" anchor="ctr">
                    <a:lnL>
                      <a:noFill/>
                    </a:lnL>
                    <a:lnR>
                      <a:noFill/>
                    </a:lnR>
                    <a:lnT>
                      <a:noFill/>
                    </a:lnT>
                    <a:lnB>
                      <a:noFill/>
                    </a:lnB>
                    <a:noFill/>
                  </a:tcPr>
                </a:tc>
                <a:tc>
                  <a:txBody>
                    <a:bodyPr/>
                    <a:lstStyle/>
                    <a:p>
                      <a:pPr>
                        <a:buNone/>
                      </a:pPr>
                      <a:r>
                        <a:rPr lang="ar-SA" sz="2400"/>
                        <a:t>إنشاء حساب</a:t>
                      </a:r>
                    </a:p>
                  </a:txBody>
                  <a:tcPr marL="43513" marR="43513" marT="21757" marB="21757" anchor="ctr">
                    <a:lnL>
                      <a:noFill/>
                    </a:lnL>
                    <a:lnR>
                      <a:noFill/>
                    </a:lnR>
                    <a:lnT>
                      <a:noFill/>
                    </a:lnT>
                    <a:lnB>
                      <a:noFill/>
                    </a:lnB>
                    <a:noFill/>
                  </a:tcPr>
                </a:tc>
                <a:tc>
                  <a:txBody>
                    <a:bodyPr/>
                    <a:lstStyle/>
                    <a:p>
                      <a:pPr>
                        <a:buNone/>
                      </a:pPr>
                      <a:r>
                        <a:rPr lang="ar-SA" sz="2400" dirty="0"/>
                        <a:t>يستطيع المتطوع إنشاء حساب جديد في النظام.</a:t>
                      </a:r>
                    </a:p>
                  </a:txBody>
                  <a:tcPr marL="43513" marR="43513" marT="21757" marB="21757" anchor="ctr">
                    <a:lnL>
                      <a:noFill/>
                    </a:lnL>
                    <a:lnR>
                      <a:noFill/>
                    </a:lnR>
                    <a:lnT>
                      <a:noFill/>
                    </a:lnT>
                    <a:lnB>
                      <a:noFill/>
                    </a:lnB>
                    <a:noFill/>
                  </a:tcPr>
                </a:tc>
                <a:extLst>
                  <a:ext uri="{0D108BD9-81ED-4DB2-BD59-A6C34878D82A}">
                    <a16:rowId xmlns:a16="http://schemas.microsoft.com/office/drawing/2014/main" val="1221495495"/>
                  </a:ext>
                </a:extLst>
              </a:tr>
              <a:tr h="359131">
                <a:tc>
                  <a:txBody>
                    <a:bodyPr/>
                    <a:lstStyle/>
                    <a:p>
                      <a:pPr>
                        <a:buNone/>
                      </a:pPr>
                      <a:r>
                        <a:rPr lang="en-US" sz="1100"/>
                        <a:t>FR-02</a:t>
                      </a:r>
                    </a:p>
                  </a:txBody>
                  <a:tcPr marL="43513" marR="43513" marT="21757" marB="21757" anchor="ctr">
                    <a:lnL>
                      <a:noFill/>
                    </a:lnL>
                    <a:lnR>
                      <a:noFill/>
                    </a:lnR>
                    <a:lnT>
                      <a:noFill/>
                    </a:lnT>
                    <a:lnB>
                      <a:noFill/>
                    </a:lnB>
                    <a:noFill/>
                  </a:tcPr>
                </a:tc>
                <a:tc>
                  <a:txBody>
                    <a:bodyPr/>
                    <a:lstStyle/>
                    <a:p>
                      <a:pPr>
                        <a:buNone/>
                      </a:pPr>
                      <a:r>
                        <a:rPr lang="ar-SA" sz="2400"/>
                        <a:t>تسجيل الدخول</a:t>
                      </a:r>
                    </a:p>
                  </a:txBody>
                  <a:tcPr marL="43513" marR="43513" marT="21757" marB="21757" anchor="ctr">
                    <a:lnL>
                      <a:noFill/>
                    </a:lnL>
                    <a:lnR>
                      <a:noFill/>
                    </a:lnR>
                    <a:lnT>
                      <a:noFill/>
                    </a:lnT>
                    <a:lnB>
                      <a:noFill/>
                    </a:lnB>
                    <a:noFill/>
                  </a:tcPr>
                </a:tc>
                <a:tc>
                  <a:txBody>
                    <a:bodyPr/>
                    <a:lstStyle/>
                    <a:p>
                      <a:pPr>
                        <a:buNone/>
                      </a:pPr>
                      <a:r>
                        <a:rPr lang="ar-SA" sz="2400" dirty="0"/>
                        <a:t>يستطيع المتطوع تسجيل الدخول باستخدام بيانات حسابه.</a:t>
                      </a:r>
                    </a:p>
                  </a:txBody>
                  <a:tcPr marL="43513" marR="43513" marT="21757" marB="21757" anchor="ctr">
                    <a:lnL>
                      <a:noFill/>
                    </a:lnL>
                    <a:lnR>
                      <a:noFill/>
                    </a:lnR>
                    <a:lnT>
                      <a:noFill/>
                    </a:lnT>
                    <a:lnB>
                      <a:noFill/>
                    </a:lnB>
                    <a:noFill/>
                  </a:tcPr>
                </a:tc>
                <a:extLst>
                  <a:ext uri="{0D108BD9-81ED-4DB2-BD59-A6C34878D82A}">
                    <a16:rowId xmlns:a16="http://schemas.microsoft.com/office/drawing/2014/main" val="3861308623"/>
                  </a:ext>
                </a:extLst>
              </a:tr>
              <a:tr h="302867">
                <a:tc>
                  <a:txBody>
                    <a:bodyPr/>
                    <a:lstStyle/>
                    <a:p>
                      <a:pPr>
                        <a:buNone/>
                      </a:pPr>
                      <a:r>
                        <a:rPr lang="en-US" sz="1100"/>
                        <a:t>FR-03</a:t>
                      </a:r>
                    </a:p>
                  </a:txBody>
                  <a:tcPr marL="43513" marR="43513" marT="21757" marB="21757" anchor="ctr">
                    <a:lnL>
                      <a:noFill/>
                    </a:lnL>
                    <a:lnR>
                      <a:noFill/>
                    </a:lnR>
                    <a:lnT>
                      <a:noFill/>
                    </a:lnT>
                    <a:lnB>
                      <a:noFill/>
                    </a:lnB>
                    <a:noFill/>
                  </a:tcPr>
                </a:tc>
                <a:tc>
                  <a:txBody>
                    <a:bodyPr/>
                    <a:lstStyle/>
                    <a:p>
                      <a:pPr>
                        <a:buNone/>
                      </a:pPr>
                      <a:r>
                        <a:rPr lang="ar-SA" sz="2400"/>
                        <a:t>تسجيل الخروج</a:t>
                      </a:r>
                    </a:p>
                  </a:txBody>
                  <a:tcPr marL="43513" marR="43513" marT="21757" marB="21757" anchor="ctr">
                    <a:lnL>
                      <a:noFill/>
                    </a:lnL>
                    <a:lnR>
                      <a:noFill/>
                    </a:lnR>
                    <a:lnT>
                      <a:noFill/>
                    </a:lnT>
                    <a:lnB>
                      <a:noFill/>
                    </a:lnB>
                    <a:noFill/>
                  </a:tcPr>
                </a:tc>
                <a:tc>
                  <a:txBody>
                    <a:bodyPr/>
                    <a:lstStyle/>
                    <a:p>
                      <a:pPr>
                        <a:buNone/>
                      </a:pPr>
                      <a:r>
                        <a:rPr lang="ar-SA" sz="2400" dirty="0"/>
                        <a:t>يستطيع المتطوع إنهاء جلسة الاستخدام بأمان.</a:t>
                      </a:r>
                    </a:p>
                  </a:txBody>
                  <a:tcPr marL="43513" marR="43513" marT="21757" marB="21757" anchor="ctr">
                    <a:lnL>
                      <a:noFill/>
                    </a:lnL>
                    <a:lnR>
                      <a:noFill/>
                    </a:lnR>
                    <a:lnT>
                      <a:noFill/>
                    </a:lnT>
                    <a:lnB>
                      <a:noFill/>
                    </a:lnB>
                    <a:noFill/>
                  </a:tcPr>
                </a:tc>
                <a:extLst>
                  <a:ext uri="{0D108BD9-81ED-4DB2-BD59-A6C34878D82A}">
                    <a16:rowId xmlns:a16="http://schemas.microsoft.com/office/drawing/2014/main" val="2347020539"/>
                  </a:ext>
                </a:extLst>
              </a:tr>
              <a:tr h="359131">
                <a:tc>
                  <a:txBody>
                    <a:bodyPr/>
                    <a:lstStyle/>
                    <a:p>
                      <a:pPr>
                        <a:buNone/>
                      </a:pPr>
                      <a:r>
                        <a:rPr lang="en-US" sz="1100"/>
                        <a:t>FR-04</a:t>
                      </a:r>
                    </a:p>
                  </a:txBody>
                  <a:tcPr marL="43513" marR="43513" marT="21757" marB="21757" anchor="ctr">
                    <a:lnL>
                      <a:noFill/>
                    </a:lnL>
                    <a:lnR>
                      <a:noFill/>
                    </a:lnR>
                    <a:lnT>
                      <a:noFill/>
                    </a:lnT>
                    <a:lnB>
                      <a:noFill/>
                    </a:lnB>
                    <a:noFill/>
                  </a:tcPr>
                </a:tc>
                <a:tc>
                  <a:txBody>
                    <a:bodyPr/>
                    <a:lstStyle/>
                    <a:p>
                      <a:pPr>
                        <a:buNone/>
                      </a:pPr>
                      <a:r>
                        <a:rPr lang="ar-SA" sz="2400"/>
                        <a:t>عرض الفرص التطوعية</a:t>
                      </a:r>
                    </a:p>
                  </a:txBody>
                  <a:tcPr marL="43513" marR="43513" marT="21757" marB="21757" anchor="ctr">
                    <a:lnL>
                      <a:noFill/>
                    </a:lnL>
                    <a:lnR>
                      <a:noFill/>
                    </a:lnR>
                    <a:lnT>
                      <a:noFill/>
                    </a:lnT>
                    <a:lnB>
                      <a:noFill/>
                    </a:lnB>
                    <a:noFill/>
                  </a:tcPr>
                </a:tc>
                <a:tc>
                  <a:txBody>
                    <a:bodyPr/>
                    <a:lstStyle/>
                    <a:p>
                      <a:pPr>
                        <a:buNone/>
                      </a:pPr>
                      <a:r>
                        <a:rPr lang="ar-SA" sz="2400" dirty="0"/>
                        <a:t>يستطيع المتطوع استعراض الفرص المنشورة والمتاحة.</a:t>
                      </a:r>
                    </a:p>
                  </a:txBody>
                  <a:tcPr marL="43513" marR="43513" marT="21757" marB="21757" anchor="ctr">
                    <a:lnL>
                      <a:noFill/>
                    </a:lnL>
                    <a:lnR>
                      <a:noFill/>
                    </a:lnR>
                    <a:lnT>
                      <a:noFill/>
                    </a:lnT>
                    <a:lnB>
                      <a:noFill/>
                    </a:lnB>
                    <a:noFill/>
                  </a:tcPr>
                </a:tc>
                <a:extLst>
                  <a:ext uri="{0D108BD9-81ED-4DB2-BD59-A6C34878D82A}">
                    <a16:rowId xmlns:a16="http://schemas.microsoft.com/office/drawing/2014/main" val="459659052"/>
                  </a:ext>
                </a:extLst>
              </a:tr>
              <a:tr h="359131">
                <a:tc>
                  <a:txBody>
                    <a:bodyPr/>
                    <a:lstStyle/>
                    <a:p>
                      <a:pPr>
                        <a:buNone/>
                      </a:pPr>
                      <a:r>
                        <a:rPr lang="en-US" sz="1100" dirty="0"/>
                        <a:t>FR-05</a:t>
                      </a:r>
                    </a:p>
                  </a:txBody>
                  <a:tcPr marL="43513" marR="43513" marT="21757" marB="21757" anchor="ctr">
                    <a:lnL>
                      <a:noFill/>
                    </a:lnL>
                    <a:lnR>
                      <a:noFill/>
                    </a:lnR>
                    <a:lnT>
                      <a:noFill/>
                    </a:lnT>
                    <a:lnB>
                      <a:noFill/>
                    </a:lnB>
                    <a:noFill/>
                  </a:tcPr>
                </a:tc>
                <a:tc>
                  <a:txBody>
                    <a:bodyPr/>
                    <a:lstStyle/>
                    <a:p>
                      <a:pPr>
                        <a:buNone/>
                      </a:pPr>
                      <a:r>
                        <a:rPr lang="ar-SA" sz="2400"/>
                        <a:t>البحث عن الفرص</a:t>
                      </a:r>
                    </a:p>
                  </a:txBody>
                  <a:tcPr marL="43513" marR="43513" marT="21757" marB="21757" anchor="ctr">
                    <a:lnL>
                      <a:noFill/>
                    </a:lnL>
                    <a:lnR>
                      <a:noFill/>
                    </a:lnR>
                    <a:lnT>
                      <a:noFill/>
                    </a:lnT>
                    <a:lnB>
                      <a:noFill/>
                    </a:lnB>
                    <a:noFill/>
                  </a:tcPr>
                </a:tc>
                <a:tc>
                  <a:txBody>
                    <a:bodyPr/>
                    <a:lstStyle/>
                    <a:p>
                      <a:pPr>
                        <a:buNone/>
                      </a:pPr>
                      <a:r>
                        <a:rPr lang="ar-SA" sz="2400" dirty="0"/>
                        <a:t>يستطيع البحث عن فرصة باستخدام اسمها أو كلمات مفتاحية.</a:t>
                      </a:r>
                    </a:p>
                  </a:txBody>
                  <a:tcPr marL="43513" marR="43513" marT="21757" marB="21757" anchor="ctr">
                    <a:lnL>
                      <a:noFill/>
                    </a:lnL>
                    <a:lnR>
                      <a:noFill/>
                    </a:lnR>
                    <a:lnT>
                      <a:noFill/>
                    </a:lnT>
                    <a:lnB>
                      <a:noFill/>
                    </a:lnB>
                    <a:noFill/>
                  </a:tcPr>
                </a:tc>
                <a:extLst>
                  <a:ext uri="{0D108BD9-81ED-4DB2-BD59-A6C34878D82A}">
                    <a16:rowId xmlns:a16="http://schemas.microsoft.com/office/drawing/2014/main" val="163473855"/>
                  </a:ext>
                </a:extLst>
              </a:tr>
              <a:tr h="359131">
                <a:tc>
                  <a:txBody>
                    <a:bodyPr/>
                    <a:lstStyle/>
                    <a:p>
                      <a:pPr>
                        <a:buNone/>
                      </a:pPr>
                      <a:r>
                        <a:rPr lang="en-US" sz="1100"/>
                        <a:t>FR-06</a:t>
                      </a:r>
                    </a:p>
                  </a:txBody>
                  <a:tcPr marL="43513" marR="43513" marT="21757" marB="21757" anchor="ctr">
                    <a:lnL>
                      <a:noFill/>
                    </a:lnL>
                    <a:lnR>
                      <a:noFill/>
                    </a:lnR>
                    <a:lnT>
                      <a:noFill/>
                    </a:lnT>
                    <a:lnB>
                      <a:noFill/>
                    </a:lnB>
                    <a:noFill/>
                  </a:tcPr>
                </a:tc>
                <a:tc>
                  <a:txBody>
                    <a:bodyPr/>
                    <a:lstStyle/>
                    <a:p>
                      <a:pPr>
                        <a:buNone/>
                      </a:pPr>
                      <a:r>
                        <a:rPr lang="ar-SA" sz="2400"/>
                        <a:t>تصفية الفرص</a:t>
                      </a:r>
                    </a:p>
                  </a:txBody>
                  <a:tcPr marL="43513" marR="43513" marT="21757" marB="21757" anchor="ctr">
                    <a:lnL>
                      <a:noFill/>
                    </a:lnL>
                    <a:lnR>
                      <a:noFill/>
                    </a:lnR>
                    <a:lnT>
                      <a:noFill/>
                    </a:lnT>
                    <a:lnB>
                      <a:noFill/>
                    </a:lnB>
                    <a:noFill/>
                  </a:tcPr>
                </a:tc>
                <a:tc>
                  <a:txBody>
                    <a:bodyPr/>
                    <a:lstStyle/>
                    <a:p>
                      <a:pPr>
                        <a:buNone/>
                      </a:pPr>
                      <a:r>
                        <a:rPr lang="ar-SA" sz="2400" dirty="0"/>
                        <a:t>يستطيع تصفية الفرص حسب المجال أو الموقع أو طريقة المشاركة.</a:t>
                      </a:r>
                    </a:p>
                  </a:txBody>
                  <a:tcPr marL="43513" marR="43513" marT="21757" marB="21757" anchor="ctr">
                    <a:lnL>
                      <a:noFill/>
                    </a:lnL>
                    <a:lnR>
                      <a:noFill/>
                    </a:lnR>
                    <a:lnT>
                      <a:noFill/>
                    </a:lnT>
                    <a:lnB>
                      <a:noFill/>
                    </a:lnB>
                    <a:noFill/>
                  </a:tcPr>
                </a:tc>
                <a:extLst>
                  <a:ext uri="{0D108BD9-81ED-4DB2-BD59-A6C34878D82A}">
                    <a16:rowId xmlns:a16="http://schemas.microsoft.com/office/drawing/2014/main" val="1542919247"/>
                  </a:ext>
                </a:extLst>
              </a:tr>
              <a:tr h="554428">
                <a:tc>
                  <a:txBody>
                    <a:bodyPr/>
                    <a:lstStyle/>
                    <a:p>
                      <a:pPr>
                        <a:buNone/>
                      </a:pPr>
                      <a:r>
                        <a:rPr lang="en-US" sz="1100"/>
                        <a:t>FR-07</a:t>
                      </a:r>
                    </a:p>
                  </a:txBody>
                  <a:tcPr marL="43513" marR="43513" marT="21757" marB="21757" anchor="ctr">
                    <a:lnL>
                      <a:noFill/>
                    </a:lnL>
                    <a:lnR>
                      <a:noFill/>
                    </a:lnR>
                    <a:lnT>
                      <a:noFill/>
                    </a:lnT>
                    <a:lnB>
                      <a:noFill/>
                    </a:lnB>
                    <a:noFill/>
                  </a:tcPr>
                </a:tc>
                <a:tc>
                  <a:txBody>
                    <a:bodyPr/>
                    <a:lstStyle/>
                    <a:p>
                      <a:pPr>
                        <a:buNone/>
                      </a:pPr>
                      <a:r>
                        <a:rPr lang="ar-SA" sz="2400"/>
                        <a:t>عرض تفاصيل الفرصة</a:t>
                      </a:r>
                    </a:p>
                  </a:txBody>
                  <a:tcPr marL="43513" marR="43513" marT="21757" marB="21757" anchor="ctr">
                    <a:lnL>
                      <a:noFill/>
                    </a:lnL>
                    <a:lnR>
                      <a:noFill/>
                    </a:lnR>
                    <a:lnT>
                      <a:noFill/>
                    </a:lnT>
                    <a:lnB>
                      <a:noFill/>
                    </a:lnB>
                    <a:noFill/>
                  </a:tcPr>
                </a:tc>
                <a:tc>
                  <a:txBody>
                    <a:bodyPr/>
                    <a:lstStyle/>
                    <a:p>
                      <a:pPr>
                        <a:buNone/>
                      </a:pPr>
                      <a:r>
                        <a:rPr lang="ar-SA" sz="2400" dirty="0"/>
                        <a:t>يستطيع الاطلاع على وصف الفرصة وموعدها وشروطها والعدد المطلوب.</a:t>
                      </a:r>
                    </a:p>
                  </a:txBody>
                  <a:tcPr marL="43513" marR="43513" marT="21757" marB="21757" anchor="ctr">
                    <a:lnL>
                      <a:noFill/>
                    </a:lnL>
                    <a:lnR>
                      <a:noFill/>
                    </a:lnR>
                    <a:lnT>
                      <a:noFill/>
                    </a:lnT>
                    <a:lnB>
                      <a:noFill/>
                    </a:lnB>
                    <a:noFill/>
                  </a:tcPr>
                </a:tc>
                <a:extLst>
                  <a:ext uri="{0D108BD9-81ED-4DB2-BD59-A6C34878D82A}">
                    <a16:rowId xmlns:a16="http://schemas.microsoft.com/office/drawing/2014/main" val="3406003343"/>
                  </a:ext>
                </a:extLst>
              </a:tr>
              <a:tr h="302867">
                <a:tc>
                  <a:txBody>
                    <a:bodyPr/>
                    <a:lstStyle/>
                    <a:p>
                      <a:pPr>
                        <a:buNone/>
                      </a:pPr>
                      <a:r>
                        <a:rPr lang="en-US" sz="1100"/>
                        <a:t>FR-08</a:t>
                      </a:r>
                    </a:p>
                  </a:txBody>
                  <a:tcPr marL="43513" marR="43513" marT="21757" marB="21757" anchor="ctr">
                    <a:lnL>
                      <a:noFill/>
                    </a:lnL>
                    <a:lnR>
                      <a:noFill/>
                    </a:lnR>
                    <a:lnT>
                      <a:noFill/>
                    </a:lnT>
                    <a:lnB>
                      <a:noFill/>
                    </a:lnB>
                    <a:noFill/>
                  </a:tcPr>
                </a:tc>
                <a:tc>
                  <a:txBody>
                    <a:bodyPr/>
                    <a:lstStyle/>
                    <a:p>
                      <a:pPr>
                        <a:buNone/>
                      </a:pPr>
                      <a:r>
                        <a:rPr lang="ar-SA" sz="2400"/>
                        <a:t>تعديل الملف الشخصي</a:t>
                      </a:r>
                    </a:p>
                  </a:txBody>
                  <a:tcPr marL="43513" marR="43513" marT="21757" marB="21757" anchor="ctr">
                    <a:lnL>
                      <a:noFill/>
                    </a:lnL>
                    <a:lnR>
                      <a:noFill/>
                    </a:lnR>
                    <a:lnT>
                      <a:noFill/>
                    </a:lnT>
                    <a:lnB>
                      <a:noFill/>
                    </a:lnB>
                    <a:noFill/>
                  </a:tcPr>
                </a:tc>
                <a:tc>
                  <a:txBody>
                    <a:bodyPr/>
                    <a:lstStyle/>
                    <a:p>
                      <a:pPr>
                        <a:buNone/>
                      </a:pPr>
                      <a:r>
                        <a:rPr lang="ar-SA" sz="2400" dirty="0"/>
                        <a:t>يستطيع تعديل بياناته الشخصية الأساسية.</a:t>
                      </a:r>
                    </a:p>
                  </a:txBody>
                  <a:tcPr marL="43513" marR="43513" marT="21757" marB="21757" anchor="ctr">
                    <a:lnL>
                      <a:noFill/>
                    </a:lnL>
                    <a:lnR>
                      <a:noFill/>
                    </a:lnR>
                    <a:lnT>
                      <a:noFill/>
                    </a:lnT>
                    <a:lnB>
                      <a:noFill/>
                    </a:lnB>
                    <a:noFill/>
                  </a:tcPr>
                </a:tc>
                <a:extLst>
                  <a:ext uri="{0D108BD9-81ED-4DB2-BD59-A6C34878D82A}">
                    <a16:rowId xmlns:a16="http://schemas.microsoft.com/office/drawing/2014/main" val="2577254905"/>
                  </a:ext>
                </a:extLst>
              </a:tr>
              <a:tr h="359131">
                <a:tc>
                  <a:txBody>
                    <a:bodyPr/>
                    <a:lstStyle/>
                    <a:p>
                      <a:pPr>
                        <a:buNone/>
                      </a:pPr>
                      <a:r>
                        <a:rPr lang="en-US" sz="1100"/>
                        <a:t>FR-09</a:t>
                      </a:r>
                    </a:p>
                  </a:txBody>
                  <a:tcPr marL="43513" marR="43513" marT="21757" marB="21757" anchor="ctr">
                    <a:lnL>
                      <a:noFill/>
                    </a:lnL>
                    <a:lnR>
                      <a:noFill/>
                    </a:lnR>
                    <a:lnT>
                      <a:noFill/>
                    </a:lnT>
                    <a:lnB>
                      <a:noFill/>
                    </a:lnB>
                    <a:noFill/>
                  </a:tcPr>
                </a:tc>
                <a:tc>
                  <a:txBody>
                    <a:bodyPr/>
                    <a:lstStyle/>
                    <a:p>
                      <a:pPr>
                        <a:buNone/>
                      </a:pPr>
                      <a:r>
                        <a:rPr lang="ar-SA" sz="2400"/>
                        <a:t>تحديد الاهتمامات</a:t>
                      </a:r>
                    </a:p>
                  </a:txBody>
                  <a:tcPr marL="43513" marR="43513" marT="21757" marB="21757" anchor="ctr">
                    <a:lnL>
                      <a:noFill/>
                    </a:lnL>
                    <a:lnR>
                      <a:noFill/>
                    </a:lnR>
                    <a:lnT>
                      <a:noFill/>
                    </a:lnT>
                    <a:lnB>
                      <a:noFill/>
                    </a:lnB>
                    <a:noFill/>
                  </a:tcPr>
                </a:tc>
                <a:tc>
                  <a:txBody>
                    <a:bodyPr/>
                    <a:lstStyle/>
                    <a:p>
                      <a:pPr>
                        <a:buNone/>
                      </a:pPr>
                      <a:r>
                        <a:rPr lang="ar-SA" sz="2400" dirty="0"/>
                        <a:t>يستطيع تحديد المجالات التطوعية التي يفضلها.</a:t>
                      </a:r>
                    </a:p>
                  </a:txBody>
                  <a:tcPr marL="43513" marR="43513" marT="21757" marB="21757" anchor="ctr">
                    <a:lnL>
                      <a:noFill/>
                    </a:lnL>
                    <a:lnR>
                      <a:noFill/>
                    </a:lnR>
                    <a:lnT>
                      <a:noFill/>
                    </a:lnT>
                    <a:lnB>
                      <a:noFill/>
                    </a:lnB>
                    <a:noFill/>
                  </a:tcPr>
                </a:tc>
                <a:extLst>
                  <a:ext uri="{0D108BD9-81ED-4DB2-BD59-A6C34878D82A}">
                    <a16:rowId xmlns:a16="http://schemas.microsoft.com/office/drawing/2014/main" val="3965135469"/>
                  </a:ext>
                </a:extLst>
              </a:tr>
              <a:tr h="302867">
                <a:tc>
                  <a:txBody>
                    <a:bodyPr/>
                    <a:lstStyle/>
                    <a:p>
                      <a:pPr>
                        <a:buNone/>
                      </a:pPr>
                      <a:r>
                        <a:rPr lang="en-US" sz="1100"/>
                        <a:t>FR-10</a:t>
                      </a:r>
                    </a:p>
                  </a:txBody>
                  <a:tcPr marL="43513" marR="43513" marT="21757" marB="21757" anchor="ctr">
                    <a:lnL>
                      <a:noFill/>
                    </a:lnL>
                    <a:lnR>
                      <a:noFill/>
                    </a:lnR>
                    <a:lnT>
                      <a:noFill/>
                    </a:lnT>
                    <a:lnB>
                      <a:noFill/>
                    </a:lnB>
                    <a:noFill/>
                  </a:tcPr>
                </a:tc>
                <a:tc>
                  <a:txBody>
                    <a:bodyPr/>
                    <a:lstStyle/>
                    <a:p>
                      <a:pPr>
                        <a:buNone/>
                      </a:pPr>
                      <a:r>
                        <a:rPr lang="ar-SA" sz="2400"/>
                        <a:t>حفظ الفرص في المفضلة</a:t>
                      </a:r>
                    </a:p>
                  </a:txBody>
                  <a:tcPr marL="43513" marR="43513" marT="21757" marB="21757" anchor="ctr">
                    <a:lnL>
                      <a:noFill/>
                    </a:lnL>
                    <a:lnR>
                      <a:noFill/>
                    </a:lnR>
                    <a:lnT>
                      <a:noFill/>
                    </a:lnT>
                    <a:lnB>
                      <a:noFill/>
                    </a:lnB>
                    <a:noFill/>
                  </a:tcPr>
                </a:tc>
                <a:tc>
                  <a:txBody>
                    <a:bodyPr/>
                    <a:lstStyle/>
                    <a:p>
                      <a:pPr>
                        <a:buNone/>
                      </a:pPr>
                      <a:r>
                        <a:rPr lang="ar-SA" sz="2400" dirty="0"/>
                        <a:t>يستطيع حفظ الفرص للرجوع إليها لاحقًا.</a:t>
                      </a:r>
                    </a:p>
                  </a:txBody>
                  <a:tcPr marL="43513" marR="43513" marT="21757" marB="21757" anchor="ctr">
                    <a:lnL>
                      <a:noFill/>
                    </a:lnL>
                    <a:lnR>
                      <a:noFill/>
                    </a:lnR>
                    <a:lnT>
                      <a:noFill/>
                    </a:lnT>
                    <a:lnB>
                      <a:noFill/>
                    </a:lnB>
                    <a:noFill/>
                  </a:tcPr>
                </a:tc>
                <a:extLst>
                  <a:ext uri="{0D108BD9-81ED-4DB2-BD59-A6C34878D82A}">
                    <a16:rowId xmlns:a16="http://schemas.microsoft.com/office/drawing/2014/main" val="1517286202"/>
                  </a:ext>
                </a:extLst>
              </a:tr>
              <a:tr h="359131">
                <a:tc>
                  <a:txBody>
                    <a:bodyPr/>
                    <a:lstStyle/>
                    <a:p>
                      <a:pPr>
                        <a:buNone/>
                      </a:pPr>
                      <a:r>
                        <a:rPr lang="en-US" sz="1100"/>
                        <a:t>FR-11</a:t>
                      </a:r>
                    </a:p>
                  </a:txBody>
                  <a:tcPr marL="43513" marR="43513" marT="21757" marB="21757" anchor="ctr">
                    <a:lnL>
                      <a:noFill/>
                    </a:lnL>
                    <a:lnR>
                      <a:noFill/>
                    </a:lnR>
                    <a:lnT>
                      <a:noFill/>
                    </a:lnT>
                    <a:lnB>
                      <a:noFill/>
                    </a:lnB>
                    <a:noFill/>
                  </a:tcPr>
                </a:tc>
                <a:tc>
                  <a:txBody>
                    <a:bodyPr/>
                    <a:lstStyle/>
                    <a:p>
                      <a:pPr>
                        <a:buNone/>
                      </a:pPr>
                      <a:r>
                        <a:rPr lang="ar-SA" sz="2400" dirty="0"/>
                        <a:t>التسجيل في فرصة</a:t>
                      </a:r>
                    </a:p>
                  </a:txBody>
                  <a:tcPr marL="43513" marR="43513" marT="21757" marB="21757" anchor="ctr">
                    <a:lnL>
                      <a:noFill/>
                    </a:lnL>
                    <a:lnR>
                      <a:noFill/>
                    </a:lnR>
                    <a:lnT>
                      <a:noFill/>
                    </a:lnT>
                    <a:lnB>
                      <a:noFill/>
                    </a:lnB>
                    <a:noFill/>
                  </a:tcPr>
                </a:tc>
                <a:tc>
                  <a:txBody>
                    <a:bodyPr/>
                    <a:lstStyle/>
                    <a:p>
                      <a:pPr>
                        <a:buNone/>
                      </a:pPr>
                      <a:r>
                        <a:rPr lang="ar-SA" sz="2400" dirty="0"/>
                        <a:t>يستطيع تقديم طلب للمشاركة في فرصة متاحة.</a:t>
                      </a:r>
                    </a:p>
                  </a:txBody>
                  <a:tcPr marL="43513" marR="43513" marT="21757" marB="21757" anchor="ctr">
                    <a:lnL>
                      <a:noFill/>
                    </a:lnL>
                    <a:lnR>
                      <a:noFill/>
                    </a:lnR>
                    <a:lnT>
                      <a:noFill/>
                    </a:lnT>
                    <a:lnB>
                      <a:noFill/>
                    </a:lnB>
                    <a:noFill/>
                  </a:tcPr>
                </a:tc>
                <a:extLst>
                  <a:ext uri="{0D108BD9-81ED-4DB2-BD59-A6C34878D82A}">
                    <a16:rowId xmlns:a16="http://schemas.microsoft.com/office/drawing/2014/main" val="3700030884"/>
                  </a:ext>
                </a:extLst>
              </a:tr>
              <a:tr h="359131">
                <a:tc>
                  <a:txBody>
                    <a:bodyPr/>
                    <a:lstStyle/>
                    <a:p>
                      <a:pPr>
                        <a:buNone/>
                      </a:pPr>
                      <a:r>
                        <a:rPr lang="en-US" sz="1100"/>
                        <a:t>FR-12</a:t>
                      </a:r>
                    </a:p>
                  </a:txBody>
                  <a:tcPr marL="43513" marR="43513" marT="21757" marB="21757" anchor="ctr">
                    <a:lnL>
                      <a:noFill/>
                    </a:lnL>
                    <a:lnR>
                      <a:noFill/>
                    </a:lnR>
                    <a:lnT>
                      <a:noFill/>
                    </a:lnT>
                    <a:lnB>
                      <a:noFill/>
                    </a:lnB>
                    <a:noFill/>
                  </a:tcPr>
                </a:tc>
                <a:tc>
                  <a:txBody>
                    <a:bodyPr/>
                    <a:lstStyle/>
                    <a:p>
                      <a:pPr>
                        <a:buNone/>
                      </a:pPr>
                      <a:r>
                        <a:rPr lang="ar-SA" sz="2400"/>
                        <a:t>إلغاء التسجيل</a:t>
                      </a:r>
                    </a:p>
                  </a:txBody>
                  <a:tcPr marL="43513" marR="43513" marT="21757" marB="21757" anchor="ctr">
                    <a:lnL>
                      <a:noFill/>
                    </a:lnL>
                    <a:lnR>
                      <a:noFill/>
                    </a:lnR>
                    <a:lnT>
                      <a:noFill/>
                    </a:lnT>
                    <a:lnB>
                      <a:noFill/>
                    </a:lnB>
                    <a:noFill/>
                  </a:tcPr>
                </a:tc>
                <a:tc>
                  <a:txBody>
                    <a:bodyPr/>
                    <a:lstStyle/>
                    <a:p>
                      <a:pPr>
                        <a:buNone/>
                      </a:pPr>
                      <a:r>
                        <a:rPr lang="ar-SA" sz="2400" dirty="0"/>
                        <a:t>يستطيع إلغاء طلب مشاركته وفق حالة التسجيل وقواعد الفرصة.</a:t>
                      </a:r>
                    </a:p>
                  </a:txBody>
                  <a:tcPr marL="43513" marR="43513" marT="21757" marB="21757" anchor="ctr">
                    <a:lnL>
                      <a:noFill/>
                    </a:lnL>
                    <a:lnR>
                      <a:noFill/>
                    </a:lnR>
                    <a:lnT>
                      <a:noFill/>
                    </a:lnT>
                    <a:lnB>
                      <a:noFill/>
                    </a:lnB>
                    <a:noFill/>
                  </a:tcPr>
                </a:tc>
                <a:extLst>
                  <a:ext uri="{0D108BD9-81ED-4DB2-BD59-A6C34878D82A}">
                    <a16:rowId xmlns:a16="http://schemas.microsoft.com/office/drawing/2014/main" val="3285128817"/>
                  </a:ext>
                </a:extLst>
              </a:tr>
              <a:tr h="554428">
                <a:tc>
                  <a:txBody>
                    <a:bodyPr/>
                    <a:lstStyle/>
                    <a:p>
                      <a:pPr>
                        <a:buNone/>
                      </a:pPr>
                      <a:r>
                        <a:rPr lang="en-US" sz="1100"/>
                        <a:t>FR-13</a:t>
                      </a:r>
                    </a:p>
                  </a:txBody>
                  <a:tcPr marL="43513" marR="43513" marT="21757" marB="21757" anchor="ctr">
                    <a:lnL>
                      <a:noFill/>
                    </a:lnL>
                    <a:lnR>
                      <a:noFill/>
                    </a:lnR>
                    <a:lnT>
                      <a:noFill/>
                    </a:lnT>
                    <a:lnB>
                      <a:noFill/>
                    </a:lnB>
                    <a:noFill/>
                  </a:tcPr>
                </a:tc>
                <a:tc>
                  <a:txBody>
                    <a:bodyPr/>
                    <a:lstStyle/>
                    <a:p>
                      <a:pPr>
                        <a:buNone/>
                      </a:pPr>
                      <a:r>
                        <a:rPr lang="ar-SA" sz="2400"/>
                        <a:t>عرض حالة التسجيل</a:t>
                      </a:r>
                    </a:p>
                  </a:txBody>
                  <a:tcPr marL="43513" marR="43513" marT="21757" marB="21757" anchor="ctr">
                    <a:lnL>
                      <a:noFill/>
                    </a:lnL>
                    <a:lnR>
                      <a:noFill/>
                    </a:lnR>
                    <a:lnT>
                      <a:noFill/>
                    </a:lnT>
                    <a:lnB>
                      <a:noFill/>
                    </a:lnB>
                    <a:noFill/>
                  </a:tcPr>
                </a:tc>
                <a:tc>
                  <a:txBody>
                    <a:bodyPr/>
                    <a:lstStyle/>
                    <a:p>
                      <a:pPr>
                        <a:buNone/>
                      </a:pPr>
                      <a:r>
                        <a:rPr lang="ar-SA" sz="2400" dirty="0"/>
                        <a:t>يستطيع معرفة ما إذا كان طلبه قيد الانتظار أو مقبولًا أو مرفوضًا أو ملغًى.</a:t>
                      </a:r>
                    </a:p>
                  </a:txBody>
                  <a:tcPr marL="43513" marR="43513" marT="21757" marB="21757" anchor="ctr">
                    <a:lnL>
                      <a:noFill/>
                    </a:lnL>
                    <a:lnR>
                      <a:noFill/>
                    </a:lnR>
                    <a:lnT>
                      <a:noFill/>
                    </a:lnT>
                    <a:lnB>
                      <a:noFill/>
                    </a:lnB>
                    <a:noFill/>
                  </a:tcPr>
                </a:tc>
                <a:extLst>
                  <a:ext uri="{0D108BD9-81ED-4DB2-BD59-A6C34878D82A}">
                    <a16:rowId xmlns:a16="http://schemas.microsoft.com/office/drawing/2014/main" val="1376450066"/>
                  </a:ext>
                </a:extLst>
              </a:tr>
              <a:tr h="554428">
                <a:tc>
                  <a:txBody>
                    <a:bodyPr/>
                    <a:lstStyle/>
                    <a:p>
                      <a:pPr>
                        <a:buNone/>
                      </a:pPr>
                      <a:r>
                        <a:rPr lang="en-US" sz="1100"/>
                        <a:t>FR-14</a:t>
                      </a:r>
                    </a:p>
                  </a:txBody>
                  <a:tcPr marL="43513" marR="43513" marT="21757" marB="21757" anchor="ctr">
                    <a:lnL>
                      <a:noFill/>
                    </a:lnL>
                    <a:lnR>
                      <a:noFill/>
                    </a:lnR>
                    <a:lnT>
                      <a:noFill/>
                    </a:lnT>
                    <a:lnB>
                      <a:noFill/>
                    </a:lnB>
                    <a:noFill/>
                  </a:tcPr>
                </a:tc>
                <a:tc>
                  <a:txBody>
                    <a:bodyPr/>
                    <a:lstStyle/>
                    <a:p>
                      <a:pPr>
                        <a:buNone/>
                      </a:pPr>
                      <a:r>
                        <a:rPr lang="ar-SA" sz="2400"/>
                        <a:t>عرض التوصيات الذكية</a:t>
                      </a:r>
                    </a:p>
                  </a:txBody>
                  <a:tcPr marL="43513" marR="43513" marT="21757" marB="21757" anchor="ctr">
                    <a:lnL>
                      <a:noFill/>
                    </a:lnL>
                    <a:lnR>
                      <a:noFill/>
                    </a:lnR>
                    <a:lnT>
                      <a:noFill/>
                    </a:lnT>
                    <a:lnB>
                      <a:noFill/>
                    </a:lnB>
                    <a:noFill/>
                  </a:tcPr>
                </a:tc>
                <a:tc>
                  <a:txBody>
                    <a:bodyPr/>
                    <a:lstStyle/>
                    <a:p>
                      <a:pPr>
                        <a:buNone/>
                      </a:pPr>
                      <a:r>
                        <a:rPr lang="ar-SA" sz="2400" dirty="0"/>
                        <a:t>يستطيع الاطلاع على الفرص المقترحة بناءً على اهتماماته وتفضيلاته.</a:t>
                      </a:r>
                    </a:p>
                  </a:txBody>
                  <a:tcPr marL="43513" marR="43513" marT="21757" marB="21757" anchor="ctr">
                    <a:lnL>
                      <a:noFill/>
                    </a:lnL>
                    <a:lnR>
                      <a:noFill/>
                    </a:lnR>
                    <a:lnT>
                      <a:noFill/>
                    </a:lnT>
                    <a:lnB>
                      <a:noFill/>
                    </a:lnB>
                    <a:noFill/>
                  </a:tcPr>
                </a:tc>
                <a:extLst>
                  <a:ext uri="{0D108BD9-81ED-4DB2-BD59-A6C34878D82A}">
                    <a16:rowId xmlns:a16="http://schemas.microsoft.com/office/drawing/2014/main" val="3424244758"/>
                  </a:ext>
                </a:extLst>
              </a:tr>
              <a:tr h="359131">
                <a:tc>
                  <a:txBody>
                    <a:bodyPr/>
                    <a:lstStyle/>
                    <a:p>
                      <a:pPr>
                        <a:buNone/>
                      </a:pPr>
                      <a:r>
                        <a:rPr lang="en-US" sz="1100" dirty="0"/>
                        <a:t>FR-15</a:t>
                      </a:r>
                    </a:p>
                  </a:txBody>
                  <a:tcPr marL="43513" marR="43513" marT="21757" marB="21757" anchor="ctr">
                    <a:lnL>
                      <a:noFill/>
                    </a:lnL>
                    <a:lnR>
                      <a:noFill/>
                    </a:lnR>
                    <a:lnT>
                      <a:noFill/>
                    </a:lnT>
                    <a:lnB>
                      <a:noFill/>
                    </a:lnB>
                    <a:noFill/>
                  </a:tcPr>
                </a:tc>
                <a:tc>
                  <a:txBody>
                    <a:bodyPr/>
                    <a:lstStyle/>
                    <a:p>
                      <a:pPr>
                        <a:buNone/>
                      </a:pPr>
                      <a:r>
                        <a:rPr lang="ar-SA" sz="2400" dirty="0"/>
                        <a:t>تقييم الفرصة</a:t>
                      </a:r>
                    </a:p>
                  </a:txBody>
                  <a:tcPr marL="43513" marR="43513" marT="21757" marB="21757" anchor="ctr">
                    <a:lnL>
                      <a:noFill/>
                    </a:lnL>
                    <a:lnR>
                      <a:noFill/>
                    </a:lnR>
                    <a:lnT>
                      <a:noFill/>
                    </a:lnT>
                    <a:lnB>
                      <a:noFill/>
                    </a:lnB>
                    <a:noFill/>
                  </a:tcPr>
                </a:tc>
                <a:tc>
                  <a:txBody>
                    <a:bodyPr/>
                    <a:lstStyle/>
                    <a:p>
                      <a:pPr>
                        <a:buNone/>
                      </a:pPr>
                      <a:r>
                        <a:rPr lang="ar-SA" sz="2400" dirty="0"/>
                        <a:t>يستطيع تقييم تجربته بعد المشاركة في الفرصة التطوعية.</a:t>
                      </a:r>
                    </a:p>
                  </a:txBody>
                  <a:tcPr marL="43513" marR="43513" marT="21757" marB="21757" anchor="ctr">
                    <a:lnL>
                      <a:noFill/>
                    </a:lnL>
                    <a:lnR>
                      <a:noFill/>
                    </a:lnR>
                    <a:lnT>
                      <a:noFill/>
                    </a:lnT>
                    <a:lnB>
                      <a:noFill/>
                    </a:lnB>
                    <a:noFill/>
                  </a:tcPr>
                </a:tc>
                <a:extLst>
                  <a:ext uri="{0D108BD9-81ED-4DB2-BD59-A6C34878D82A}">
                    <a16:rowId xmlns:a16="http://schemas.microsoft.com/office/drawing/2014/main" val="3058745915"/>
                  </a:ext>
                </a:extLst>
              </a:tr>
            </a:tbl>
          </a:graphicData>
        </a:graphic>
      </p:graphicFrame>
      <p:sp>
        <p:nvSpPr>
          <p:cNvPr id="2" name="Slide Number Placeholder 1">
            <a:extLst>
              <a:ext uri="{FF2B5EF4-FFF2-40B4-BE49-F238E27FC236}">
                <a16:creationId xmlns:a16="http://schemas.microsoft.com/office/drawing/2014/main" id="{2569EC6C-6E5E-9391-45AA-8C57C8DF2928}"/>
              </a:ext>
            </a:extLst>
          </p:cNvPr>
          <p:cNvSpPr>
            <a:spLocks noGrp="1"/>
          </p:cNvSpPr>
          <p:nvPr>
            <p:ph type="sldNum" sz="quarter" idx="12"/>
          </p:nvPr>
        </p:nvSpPr>
        <p:spPr/>
        <p:txBody>
          <a:bodyPr/>
          <a:lstStyle/>
          <a:p>
            <a:fld id="{3EB37142-BB67-4B06-93E6-8D10723F8802}" type="slidenum">
              <a:rPr lang="en-US" smtClean="0"/>
              <a:t>7</a:t>
            </a:fld>
            <a:endParaRPr lang="en-US" dirty="0"/>
          </a:p>
        </p:txBody>
      </p:sp>
    </p:spTree>
    <p:extLst>
      <p:ext uri="{BB962C8B-B14F-4D97-AF65-F5344CB8AC3E}">
        <p14:creationId xmlns:p14="http://schemas.microsoft.com/office/powerpoint/2010/main" val="2327901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F872E-F123-2FA5-F9F6-92B09EEDAE5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7D12A37-A469-A8D0-10A2-D20A38D127FA}"/>
              </a:ext>
            </a:extLst>
          </p:cNvPr>
          <p:cNvSpPr txBox="1">
            <a:spLocks/>
          </p:cNvSpPr>
          <p:nvPr/>
        </p:nvSpPr>
        <p:spPr>
          <a:xfrm>
            <a:off x="8476162" y="-272966"/>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2 متطلبات المؤسسة :</a:t>
            </a:r>
            <a:endParaRPr lang="en-US" sz="3200" dirty="0"/>
          </a:p>
        </p:txBody>
      </p:sp>
      <p:sp>
        <p:nvSpPr>
          <p:cNvPr id="10" name="Title 1">
            <a:extLst>
              <a:ext uri="{FF2B5EF4-FFF2-40B4-BE49-F238E27FC236}">
                <a16:creationId xmlns:a16="http://schemas.microsoft.com/office/drawing/2014/main" id="{B4CFB30E-CA26-A93A-4008-C1A2FD46BB7D}"/>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3" name="Table 2">
            <a:extLst>
              <a:ext uri="{FF2B5EF4-FFF2-40B4-BE49-F238E27FC236}">
                <a16:creationId xmlns:a16="http://schemas.microsoft.com/office/drawing/2014/main" id="{6948833D-ED18-ED9F-0BA5-A9CBC9A42C14}"/>
              </a:ext>
            </a:extLst>
          </p:cNvPr>
          <p:cNvGraphicFramePr>
            <a:graphicFrameLocks noGrp="1"/>
          </p:cNvGraphicFramePr>
          <p:nvPr>
            <p:extLst>
              <p:ext uri="{D42A27DB-BD31-4B8C-83A1-F6EECF244321}">
                <p14:modId xmlns:p14="http://schemas.microsoft.com/office/powerpoint/2010/main" val="3327378260"/>
              </p:ext>
            </p:extLst>
          </p:nvPr>
        </p:nvGraphicFramePr>
        <p:xfrm>
          <a:off x="144379" y="0"/>
          <a:ext cx="11751450" cy="6790105"/>
        </p:xfrm>
        <a:graphic>
          <a:graphicData uri="http://schemas.openxmlformats.org/drawingml/2006/table">
            <a:tbl>
              <a:tblPr/>
              <a:tblGrid>
                <a:gridCol w="826776">
                  <a:extLst>
                    <a:ext uri="{9D8B030D-6E8A-4147-A177-3AD203B41FA5}">
                      <a16:colId xmlns:a16="http://schemas.microsoft.com/office/drawing/2014/main" val="792549341"/>
                    </a:ext>
                  </a:extLst>
                </a:gridCol>
                <a:gridCol w="2855495">
                  <a:extLst>
                    <a:ext uri="{9D8B030D-6E8A-4147-A177-3AD203B41FA5}">
                      <a16:colId xmlns:a16="http://schemas.microsoft.com/office/drawing/2014/main" val="2347262463"/>
                    </a:ext>
                  </a:extLst>
                </a:gridCol>
                <a:gridCol w="8069179">
                  <a:extLst>
                    <a:ext uri="{9D8B030D-6E8A-4147-A177-3AD203B41FA5}">
                      <a16:colId xmlns:a16="http://schemas.microsoft.com/office/drawing/2014/main" val="3898888008"/>
                    </a:ext>
                  </a:extLst>
                </a:gridCol>
              </a:tblGrid>
              <a:tr h="409998">
                <a:tc>
                  <a:txBody>
                    <a:bodyPr/>
                    <a:lstStyle/>
                    <a:p>
                      <a:pPr>
                        <a:buNone/>
                      </a:pPr>
                      <a:r>
                        <a:rPr lang="ar-SA" sz="1100" b="1"/>
                        <a:t>الرقم</a:t>
                      </a:r>
                    </a:p>
                  </a:txBody>
                  <a:tcPr marL="56511" marR="56511" marT="28255" marB="28255" anchor="ctr">
                    <a:lnL>
                      <a:noFill/>
                    </a:lnL>
                    <a:lnR>
                      <a:noFill/>
                    </a:lnR>
                    <a:lnT>
                      <a:noFill/>
                    </a:lnT>
                    <a:lnB>
                      <a:noFill/>
                    </a:lnB>
                    <a:noFill/>
                  </a:tcPr>
                </a:tc>
                <a:tc>
                  <a:txBody>
                    <a:bodyPr/>
                    <a:lstStyle/>
                    <a:p>
                      <a:pPr>
                        <a:buNone/>
                      </a:pPr>
                      <a:r>
                        <a:rPr lang="ar-SA" sz="2400" b="1"/>
                        <a:t>المتطلب الوظيفي</a:t>
                      </a:r>
                    </a:p>
                  </a:txBody>
                  <a:tcPr marL="56511" marR="56511" marT="28255" marB="28255" anchor="ctr">
                    <a:lnL>
                      <a:noFill/>
                    </a:lnL>
                    <a:lnR>
                      <a:noFill/>
                    </a:lnR>
                    <a:lnT>
                      <a:noFill/>
                    </a:lnT>
                    <a:lnB>
                      <a:noFill/>
                    </a:lnB>
                    <a:noFill/>
                  </a:tcPr>
                </a:tc>
                <a:tc>
                  <a:txBody>
                    <a:bodyPr/>
                    <a:lstStyle/>
                    <a:p>
                      <a:pPr>
                        <a:buNone/>
                      </a:pPr>
                      <a:r>
                        <a:rPr lang="ar-SA" sz="2400" b="1" dirty="0"/>
                        <a:t>وصف مختصر</a:t>
                      </a:r>
                    </a:p>
                  </a:txBody>
                  <a:tcPr marL="56511" marR="56511" marT="28255" marB="28255" anchor="ctr">
                    <a:lnL>
                      <a:noFill/>
                    </a:lnL>
                    <a:lnR>
                      <a:noFill/>
                    </a:lnR>
                    <a:lnT>
                      <a:noFill/>
                    </a:lnT>
                    <a:lnB>
                      <a:noFill/>
                    </a:lnB>
                    <a:noFill/>
                  </a:tcPr>
                </a:tc>
                <a:extLst>
                  <a:ext uri="{0D108BD9-81ED-4DB2-BD59-A6C34878D82A}">
                    <a16:rowId xmlns:a16="http://schemas.microsoft.com/office/drawing/2014/main" val="3008816897"/>
                  </a:ext>
                </a:extLst>
              </a:tr>
              <a:tr h="547745">
                <a:tc>
                  <a:txBody>
                    <a:bodyPr/>
                    <a:lstStyle/>
                    <a:p>
                      <a:pPr>
                        <a:buNone/>
                      </a:pPr>
                      <a:r>
                        <a:rPr lang="en-US" sz="1100"/>
                        <a:t>FR-16</a:t>
                      </a:r>
                    </a:p>
                  </a:txBody>
                  <a:tcPr marL="56511" marR="56511" marT="28255" marB="28255" anchor="ctr">
                    <a:lnL>
                      <a:noFill/>
                    </a:lnL>
                    <a:lnR>
                      <a:noFill/>
                    </a:lnR>
                    <a:lnT>
                      <a:noFill/>
                    </a:lnT>
                    <a:lnB>
                      <a:noFill/>
                    </a:lnB>
                    <a:noFill/>
                  </a:tcPr>
                </a:tc>
                <a:tc>
                  <a:txBody>
                    <a:bodyPr/>
                    <a:lstStyle/>
                    <a:p>
                      <a:pPr>
                        <a:buNone/>
                      </a:pPr>
                      <a:r>
                        <a:rPr lang="ar-SA" sz="2400"/>
                        <a:t>إنشاء حساب مؤسسة</a:t>
                      </a:r>
                    </a:p>
                  </a:txBody>
                  <a:tcPr marL="56511" marR="56511" marT="28255" marB="28255" anchor="ctr">
                    <a:lnL>
                      <a:noFill/>
                    </a:lnL>
                    <a:lnR>
                      <a:noFill/>
                    </a:lnR>
                    <a:lnT>
                      <a:noFill/>
                    </a:lnT>
                    <a:lnB>
                      <a:noFill/>
                    </a:lnB>
                    <a:noFill/>
                  </a:tcPr>
                </a:tc>
                <a:tc>
                  <a:txBody>
                    <a:bodyPr/>
                    <a:lstStyle/>
                    <a:p>
                      <a:pPr>
                        <a:buNone/>
                      </a:pPr>
                      <a:r>
                        <a:rPr lang="ar-SA" sz="2400"/>
                        <a:t>تستطيع المؤسسة إنشاء حساب وإدخال بياناتها الأساسية.</a:t>
                      </a:r>
                    </a:p>
                  </a:txBody>
                  <a:tcPr marL="56511" marR="56511" marT="28255" marB="28255" anchor="ctr">
                    <a:lnL>
                      <a:noFill/>
                    </a:lnL>
                    <a:lnR>
                      <a:noFill/>
                    </a:lnR>
                    <a:lnT>
                      <a:noFill/>
                    </a:lnT>
                    <a:lnB>
                      <a:noFill/>
                    </a:lnB>
                    <a:noFill/>
                  </a:tcPr>
                </a:tc>
                <a:extLst>
                  <a:ext uri="{0D108BD9-81ED-4DB2-BD59-A6C34878D82A}">
                    <a16:rowId xmlns:a16="http://schemas.microsoft.com/office/drawing/2014/main" val="3731117604"/>
                  </a:ext>
                </a:extLst>
              </a:tr>
              <a:tr h="547745">
                <a:tc>
                  <a:txBody>
                    <a:bodyPr/>
                    <a:lstStyle/>
                    <a:p>
                      <a:pPr>
                        <a:buNone/>
                      </a:pPr>
                      <a:r>
                        <a:rPr lang="en-US" sz="1100"/>
                        <a:t>FR-17</a:t>
                      </a:r>
                    </a:p>
                  </a:txBody>
                  <a:tcPr marL="56511" marR="56511" marT="28255" marB="28255" anchor="ctr">
                    <a:lnL>
                      <a:noFill/>
                    </a:lnL>
                    <a:lnR>
                      <a:noFill/>
                    </a:lnR>
                    <a:lnT>
                      <a:noFill/>
                    </a:lnT>
                    <a:lnB>
                      <a:noFill/>
                    </a:lnB>
                    <a:noFill/>
                  </a:tcPr>
                </a:tc>
                <a:tc>
                  <a:txBody>
                    <a:bodyPr/>
                    <a:lstStyle/>
                    <a:p>
                      <a:pPr>
                        <a:buNone/>
                      </a:pPr>
                      <a:r>
                        <a:rPr lang="ar-SA" sz="2400"/>
                        <a:t>تسجيل الدخول</a:t>
                      </a:r>
                    </a:p>
                  </a:txBody>
                  <a:tcPr marL="56511" marR="56511" marT="28255" marB="28255" anchor="ctr">
                    <a:lnL>
                      <a:noFill/>
                    </a:lnL>
                    <a:lnR>
                      <a:noFill/>
                    </a:lnR>
                    <a:lnT>
                      <a:noFill/>
                    </a:lnT>
                    <a:lnB>
                      <a:noFill/>
                    </a:lnB>
                    <a:noFill/>
                  </a:tcPr>
                </a:tc>
                <a:tc>
                  <a:txBody>
                    <a:bodyPr/>
                    <a:lstStyle/>
                    <a:p>
                      <a:pPr>
                        <a:buNone/>
                      </a:pPr>
                      <a:r>
                        <a:rPr lang="ar-SA" sz="2400" dirty="0"/>
                        <a:t>يستطيع ممثل المؤسسة الدخول إلى حساب المؤسسة.</a:t>
                      </a:r>
                    </a:p>
                  </a:txBody>
                  <a:tcPr marL="56511" marR="56511" marT="28255" marB="28255" anchor="ctr">
                    <a:lnL>
                      <a:noFill/>
                    </a:lnL>
                    <a:lnR>
                      <a:noFill/>
                    </a:lnR>
                    <a:lnT>
                      <a:noFill/>
                    </a:lnT>
                    <a:lnB>
                      <a:noFill/>
                    </a:lnB>
                    <a:noFill/>
                  </a:tcPr>
                </a:tc>
                <a:extLst>
                  <a:ext uri="{0D108BD9-81ED-4DB2-BD59-A6C34878D82A}">
                    <a16:rowId xmlns:a16="http://schemas.microsoft.com/office/drawing/2014/main" val="4144363763"/>
                  </a:ext>
                </a:extLst>
              </a:tr>
              <a:tr h="409998">
                <a:tc>
                  <a:txBody>
                    <a:bodyPr/>
                    <a:lstStyle/>
                    <a:p>
                      <a:pPr>
                        <a:buNone/>
                      </a:pPr>
                      <a:r>
                        <a:rPr lang="en-US" sz="1100"/>
                        <a:t>FR-18</a:t>
                      </a:r>
                    </a:p>
                  </a:txBody>
                  <a:tcPr marL="56511" marR="56511" marT="28255" marB="28255" anchor="ctr">
                    <a:lnL>
                      <a:noFill/>
                    </a:lnL>
                    <a:lnR>
                      <a:noFill/>
                    </a:lnR>
                    <a:lnT>
                      <a:noFill/>
                    </a:lnT>
                    <a:lnB>
                      <a:noFill/>
                    </a:lnB>
                    <a:noFill/>
                  </a:tcPr>
                </a:tc>
                <a:tc>
                  <a:txBody>
                    <a:bodyPr/>
                    <a:lstStyle/>
                    <a:p>
                      <a:pPr>
                        <a:buNone/>
                      </a:pPr>
                      <a:r>
                        <a:rPr lang="ar-SA" sz="2400"/>
                        <a:t>تسجيل الخروج</a:t>
                      </a:r>
                    </a:p>
                  </a:txBody>
                  <a:tcPr marL="56511" marR="56511" marT="28255" marB="28255" anchor="ctr">
                    <a:lnL>
                      <a:noFill/>
                    </a:lnL>
                    <a:lnR>
                      <a:noFill/>
                    </a:lnR>
                    <a:lnT>
                      <a:noFill/>
                    </a:lnT>
                    <a:lnB>
                      <a:noFill/>
                    </a:lnB>
                    <a:noFill/>
                  </a:tcPr>
                </a:tc>
                <a:tc>
                  <a:txBody>
                    <a:bodyPr/>
                    <a:lstStyle/>
                    <a:p>
                      <a:pPr>
                        <a:buNone/>
                      </a:pPr>
                      <a:r>
                        <a:rPr lang="ar-SA" sz="2400"/>
                        <a:t>يستطيع ممثل المؤسسة إنهاء جلسة الاستخدام.</a:t>
                      </a:r>
                    </a:p>
                  </a:txBody>
                  <a:tcPr marL="56511" marR="56511" marT="28255" marB="28255" anchor="ctr">
                    <a:lnL>
                      <a:noFill/>
                    </a:lnL>
                    <a:lnR>
                      <a:noFill/>
                    </a:lnR>
                    <a:lnT>
                      <a:noFill/>
                    </a:lnT>
                    <a:lnB>
                      <a:noFill/>
                    </a:lnB>
                    <a:noFill/>
                  </a:tcPr>
                </a:tc>
                <a:extLst>
                  <a:ext uri="{0D108BD9-81ED-4DB2-BD59-A6C34878D82A}">
                    <a16:rowId xmlns:a16="http://schemas.microsoft.com/office/drawing/2014/main" val="2455990695"/>
                  </a:ext>
                </a:extLst>
              </a:tr>
              <a:tr h="409998">
                <a:tc>
                  <a:txBody>
                    <a:bodyPr/>
                    <a:lstStyle/>
                    <a:p>
                      <a:pPr>
                        <a:buNone/>
                      </a:pPr>
                      <a:r>
                        <a:rPr lang="en-US" sz="1100"/>
                        <a:t>FR-19</a:t>
                      </a:r>
                    </a:p>
                  </a:txBody>
                  <a:tcPr marL="56511" marR="56511" marT="28255" marB="28255" anchor="ctr">
                    <a:lnL>
                      <a:noFill/>
                    </a:lnL>
                    <a:lnR>
                      <a:noFill/>
                    </a:lnR>
                    <a:lnT>
                      <a:noFill/>
                    </a:lnT>
                    <a:lnB>
                      <a:noFill/>
                    </a:lnB>
                    <a:noFill/>
                  </a:tcPr>
                </a:tc>
                <a:tc>
                  <a:txBody>
                    <a:bodyPr/>
                    <a:lstStyle/>
                    <a:p>
                      <a:pPr>
                        <a:buNone/>
                      </a:pPr>
                      <a:r>
                        <a:rPr lang="ar-SA" sz="2400"/>
                        <a:t>عرض بيانات المؤسسة</a:t>
                      </a:r>
                    </a:p>
                  </a:txBody>
                  <a:tcPr marL="56511" marR="56511" marT="28255" marB="28255" anchor="ctr">
                    <a:lnL>
                      <a:noFill/>
                    </a:lnL>
                    <a:lnR>
                      <a:noFill/>
                    </a:lnR>
                    <a:lnT>
                      <a:noFill/>
                    </a:lnT>
                    <a:lnB>
                      <a:noFill/>
                    </a:lnB>
                    <a:noFill/>
                  </a:tcPr>
                </a:tc>
                <a:tc>
                  <a:txBody>
                    <a:bodyPr/>
                    <a:lstStyle/>
                    <a:p>
                      <a:pPr>
                        <a:buNone/>
                      </a:pPr>
                      <a:r>
                        <a:rPr lang="ar-SA" sz="2400"/>
                        <a:t>تستطيع المؤسسة عرض بياناتها المسجلة.</a:t>
                      </a:r>
                    </a:p>
                  </a:txBody>
                  <a:tcPr marL="56511" marR="56511" marT="28255" marB="28255" anchor="ctr">
                    <a:lnL>
                      <a:noFill/>
                    </a:lnL>
                    <a:lnR>
                      <a:noFill/>
                    </a:lnR>
                    <a:lnT>
                      <a:noFill/>
                    </a:lnT>
                    <a:lnB>
                      <a:noFill/>
                    </a:lnB>
                    <a:noFill/>
                  </a:tcPr>
                </a:tc>
                <a:extLst>
                  <a:ext uri="{0D108BD9-81ED-4DB2-BD59-A6C34878D82A}">
                    <a16:rowId xmlns:a16="http://schemas.microsoft.com/office/drawing/2014/main" val="2100330769"/>
                  </a:ext>
                </a:extLst>
              </a:tr>
              <a:tr h="547745">
                <a:tc>
                  <a:txBody>
                    <a:bodyPr/>
                    <a:lstStyle/>
                    <a:p>
                      <a:pPr>
                        <a:buNone/>
                      </a:pPr>
                      <a:r>
                        <a:rPr lang="en-US" sz="1100"/>
                        <a:t>FR-20</a:t>
                      </a:r>
                    </a:p>
                  </a:txBody>
                  <a:tcPr marL="56511" marR="56511" marT="28255" marB="28255" anchor="ctr">
                    <a:lnL>
                      <a:noFill/>
                    </a:lnL>
                    <a:lnR>
                      <a:noFill/>
                    </a:lnR>
                    <a:lnT>
                      <a:noFill/>
                    </a:lnT>
                    <a:lnB>
                      <a:noFill/>
                    </a:lnB>
                    <a:noFill/>
                  </a:tcPr>
                </a:tc>
                <a:tc>
                  <a:txBody>
                    <a:bodyPr/>
                    <a:lstStyle/>
                    <a:p>
                      <a:pPr>
                        <a:buNone/>
                      </a:pPr>
                      <a:r>
                        <a:rPr lang="ar-SA" sz="2400" dirty="0"/>
                        <a:t>تعديل بيانات المؤسسة</a:t>
                      </a:r>
                    </a:p>
                  </a:txBody>
                  <a:tcPr marL="56511" marR="56511" marT="28255" marB="28255" anchor="ctr">
                    <a:lnL>
                      <a:noFill/>
                    </a:lnL>
                    <a:lnR>
                      <a:noFill/>
                    </a:lnR>
                    <a:lnT>
                      <a:noFill/>
                    </a:lnT>
                    <a:lnB>
                      <a:noFill/>
                    </a:lnB>
                    <a:noFill/>
                  </a:tcPr>
                </a:tc>
                <a:tc>
                  <a:txBody>
                    <a:bodyPr/>
                    <a:lstStyle/>
                    <a:p>
                      <a:pPr>
                        <a:buNone/>
                      </a:pPr>
                      <a:r>
                        <a:rPr lang="ar-SA" sz="2400" dirty="0"/>
                        <a:t>تستطيع تحديث اسمها ووصفها وبيانات التواصل.</a:t>
                      </a:r>
                    </a:p>
                  </a:txBody>
                  <a:tcPr marL="56511" marR="56511" marT="28255" marB="28255" anchor="ctr">
                    <a:lnL>
                      <a:noFill/>
                    </a:lnL>
                    <a:lnR>
                      <a:noFill/>
                    </a:lnR>
                    <a:lnT>
                      <a:noFill/>
                    </a:lnT>
                    <a:lnB>
                      <a:noFill/>
                    </a:lnB>
                    <a:noFill/>
                  </a:tcPr>
                </a:tc>
                <a:extLst>
                  <a:ext uri="{0D108BD9-81ED-4DB2-BD59-A6C34878D82A}">
                    <a16:rowId xmlns:a16="http://schemas.microsoft.com/office/drawing/2014/main" val="237803653"/>
                  </a:ext>
                </a:extLst>
              </a:tr>
              <a:tr h="409998">
                <a:tc>
                  <a:txBody>
                    <a:bodyPr/>
                    <a:lstStyle/>
                    <a:p>
                      <a:pPr>
                        <a:buNone/>
                      </a:pPr>
                      <a:r>
                        <a:rPr lang="en-US" sz="1100"/>
                        <a:t>FR-21</a:t>
                      </a:r>
                    </a:p>
                  </a:txBody>
                  <a:tcPr marL="56511" marR="56511" marT="28255" marB="28255" anchor="ctr">
                    <a:lnL>
                      <a:noFill/>
                    </a:lnL>
                    <a:lnR>
                      <a:noFill/>
                    </a:lnR>
                    <a:lnT>
                      <a:noFill/>
                    </a:lnT>
                    <a:lnB>
                      <a:noFill/>
                    </a:lnB>
                    <a:noFill/>
                  </a:tcPr>
                </a:tc>
                <a:tc>
                  <a:txBody>
                    <a:bodyPr/>
                    <a:lstStyle/>
                    <a:p>
                      <a:pPr>
                        <a:buNone/>
                      </a:pPr>
                      <a:r>
                        <a:rPr lang="ar-SA" sz="2400"/>
                        <a:t>إنشاء فرصة تطوعية</a:t>
                      </a:r>
                    </a:p>
                  </a:txBody>
                  <a:tcPr marL="56511" marR="56511" marT="28255" marB="28255" anchor="ctr">
                    <a:lnL>
                      <a:noFill/>
                    </a:lnL>
                    <a:lnR>
                      <a:noFill/>
                    </a:lnR>
                    <a:lnT>
                      <a:noFill/>
                    </a:lnT>
                    <a:lnB>
                      <a:noFill/>
                    </a:lnB>
                    <a:noFill/>
                  </a:tcPr>
                </a:tc>
                <a:tc>
                  <a:txBody>
                    <a:bodyPr/>
                    <a:lstStyle/>
                    <a:p>
                      <a:pPr>
                        <a:buNone/>
                      </a:pPr>
                      <a:r>
                        <a:rPr lang="ar-SA" sz="2400"/>
                        <a:t>تستطيع إنشاء فرصة جديدة وإدخال تفاصيلها.</a:t>
                      </a:r>
                    </a:p>
                  </a:txBody>
                  <a:tcPr marL="56511" marR="56511" marT="28255" marB="28255" anchor="ctr">
                    <a:lnL>
                      <a:noFill/>
                    </a:lnL>
                    <a:lnR>
                      <a:noFill/>
                    </a:lnR>
                    <a:lnT>
                      <a:noFill/>
                    </a:lnT>
                    <a:lnB>
                      <a:noFill/>
                    </a:lnB>
                    <a:noFill/>
                  </a:tcPr>
                </a:tc>
                <a:extLst>
                  <a:ext uri="{0D108BD9-81ED-4DB2-BD59-A6C34878D82A}">
                    <a16:rowId xmlns:a16="http://schemas.microsoft.com/office/drawing/2014/main" val="699841131"/>
                  </a:ext>
                </a:extLst>
              </a:tr>
              <a:tr h="409998">
                <a:tc>
                  <a:txBody>
                    <a:bodyPr/>
                    <a:lstStyle/>
                    <a:p>
                      <a:pPr>
                        <a:buNone/>
                      </a:pPr>
                      <a:r>
                        <a:rPr lang="en-US" sz="1100"/>
                        <a:t>FR-22</a:t>
                      </a:r>
                    </a:p>
                  </a:txBody>
                  <a:tcPr marL="56511" marR="56511" marT="28255" marB="28255" anchor="ctr">
                    <a:lnL>
                      <a:noFill/>
                    </a:lnL>
                    <a:lnR>
                      <a:noFill/>
                    </a:lnR>
                    <a:lnT>
                      <a:noFill/>
                    </a:lnT>
                    <a:lnB>
                      <a:noFill/>
                    </a:lnB>
                    <a:noFill/>
                  </a:tcPr>
                </a:tc>
                <a:tc>
                  <a:txBody>
                    <a:bodyPr/>
                    <a:lstStyle/>
                    <a:p>
                      <a:pPr>
                        <a:buNone/>
                      </a:pPr>
                      <a:r>
                        <a:rPr lang="ar-SA" sz="2400"/>
                        <a:t>تعديل الفرصة</a:t>
                      </a:r>
                    </a:p>
                  </a:txBody>
                  <a:tcPr marL="56511" marR="56511" marT="28255" marB="28255" anchor="ctr">
                    <a:lnL>
                      <a:noFill/>
                    </a:lnL>
                    <a:lnR>
                      <a:noFill/>
                    </a:lnR>
                    <a:lnT>
                      <a:noFill/>
                    </a:lnT>
                    <a:lnB>
                      <a:noFill/>
                    </a:lnB>
                    <a:noFill/>
                  </a:tcPr>
                </a:tc>
                <a:tc>
                  <a:txBody>
                    <a:bodyPr/>
                    <a:lstStyle/>
                    <a:p>
                      <a:pPr>
                        <a:buNone/>
                      </a:pPr>
                      <a:r>
                        <a:rPr lang="ar-SA" sz="2400"/>
                        <a:t>تستطيع تعديل تفاصيل الفرص التابعة لها.</a:t>
                      </a:r>
                    </a:p>
                  </a:txBody>
                  <a:tcPr marL="56511" marR="56511" marT="28255" marB="28255" anchor="ctr">
                    <a:lnL>
                      <a:noFill/>
                    </a:lnL>
                    <a:lnR>
                      <a:noFill/>
                    </a:lnR>
                    <a:lnT>
                      <a:noFill/>
                    </a:lnT>
                    <a:lnB>
                      <a:noFill/>
                    </a:lnB>
                    <a:noFill/>
                  </a:tcPr>
                </a:tc>
                <a:extLst>
                  <a:ext uri="{0D108BD9-81ED-4DB2-BD59-A6C34878D82A}">
                    <a16:rowId xmlns:a16="http://schemas.microsoft.com/office/drawing/2014/main" val="3441934661"/>
                  </a:ext>
                </a:extLst>
              </a:tr>
              <a:tr h="409998">
                <a:tc>
                  <a:txBody>
                    <a:bodyPr/>
                    <a:lstStyle/>
                    <a:p>
                      <a:pPr>
                        <a:buNone/>
                      </a:pPr>
                      <a:r>
                        <a:rPr lang="en-US" sz="1100"/>
                        <a:t>FR-23</a:t>
                      </a:r>
                    </a:p>
                  </a:txBody>
                  <a:tcPr marL="56511" marR="56511" marT="28255" marB="28255" anchor="ctr">
                    <a:lnL>
                      <a:noFill/>
                    </a:lnL>
                    <a:lnR>
                      <a:noFill/>
                    </a:lnR>
                    <a:lnT>
                      <a:noFill/>
                    </a:lnT>
                    <a:lnB>
                      <a:noFill/>
                    </a:lnB>
                    <a:noFill/>
                  </a:tcPr>
                </a:tc>
                <a:tc>
                  <a:txBody>
                    <a:bodyPr/>
                    <a:lstStyle/>
                    <a:p>
                      <a:pPr>
                        <a:buNone/>
                      </a:pPr>
                      <a:r>
                        <a:rPr lang="ar-SA" sz="2400"/>
                        <a:t>نشر الفرصة أو إغلاقها</a:t>
                      </a:r>
                    </a:p>
                  </a:txBody>
                  <a:tcPr marL="56511" marR="56511" marT="28255" marB="28255" anchor="ctr">
                    <a:lnL>
                      <a:noFill/>
                    </a:lnL>
                    <a:lnR>
                      <a:noFill/>
                    </a:lnR>
                    <a:lnT>
                      <a:noFill/>
                    </a:lnT>
                    <a:lnB>
                      <a:noFill/>
                    </a:lnB>
                    <a:noFill/>
                  </a:tcPr>
                </a:tc>
                <a:tc>
                  <a:txBody>
                    <a:bodyPr/>
                    <a:lstStyle/>
                    <a:p>
                      <a:pPr>
                        <a:buNone/>
                      </a:pPr>
                      <a:r>
                        <a:rPr lang="ar-SA" sz="2400"/>
                        <a:t>تستطيع نشر الفرصة أو إيقاف التسجيل فيها.</a:t>
                      </a:r>
                    </a:p>
                  </a:txBody>
                  <a:tcPr marL="56511" marR="56511" marT="28255" marB="28255" anchor="ctr">
                    <a:lnL>
                      <a:noFill/>
                    </a:lnL>
                    <a:lnR>
                      <a:noFill/>
                    </a:lnR>
                    <a:lnT>
                      <a:noFill/>
                    </a:lnT>
                    <a:lnB>
                      <a:noFill/>
                    </a:lnB>
                    <a:noFill/>
                  </a:tcPr>
                </a:tc>
                <a:extLst>
                  <a:ext uri="{0D108BD9-81ED-4DB2-BD59-A6C34878D82A}">
                    <a16:rowId xmlns:a16="http://schemas.microsoft.com/office/drawing/2014/main" val="203859372"/>
                  </a:ext>
                </a:extLst>
              </a:tr>
              <a:tr h="547745">
                <a:tc>
                  <a:txBody>
                    <a:bodyPr/>
                    <a:lstStyle/>
                    <a:p>
                      <a:pPr>
                        <a:buNone/>
                      </a:pPr>
                      <a:r>
                        <a:rPr lang="en-US" sz="1100"/>
                        <a:t>FR-24</a:t>
                      </a:r>
                    </a:p>
                  </a:txBody>
                  <a:tcPr marL="56511" marR="56511" marT="28255" marB="28255" anchor="ctr">
                    <a:lnL>
                      <a:noFill/>
                    </a:lnL>
                    <a:lnR>
                      <a:noFill/>
                    </a:lnR>
                    <a:lnT>
                      <a:noFill/>
                    </a:lnT>
                    <a:lnB>
                      <a:noFill/>
                    </a:lnB>
                    <a:noFill/>
                  </a:tcPr>
                </a:tc>
                <a:tc>
                  <a:txBody>
                    <a:bodyPr/>
                    <a:lstStyle/>
                    <a:p>
                      <a:pPr>
                        <a:buNone/>
                      </a:pPr>
                      <a:r>
                        <a:rPr lang="ar-SA" sz="2400"/>
                        <a:t>عرض فرص المؤسسة</a:t>
                      </a:r>
                    </a:p>
                  </a:txBody>
                  <a:tcPr marL="56511" marR="56511" marT="28255" marB="28255" anchor="ctr">
                    <a:lnL>
                      <a:noFill/>
                    </a:lnL>
                    <a:lnR>
                      <a:noFill/>
                    </a:lnR>
                    <a:lnT>
                      <a:noFill/>
                    </a:lnT>
                    <a:lnB>
                      <a:noFill/>
                    </a:lnB>
                    <a:noFill/>
                  </a:tcPr>
                </a:tc>
                <a:tc>
                  <a:txBody>
                    <a:bodyPr/>
                    <a:lstStyle/>
                    <a:p>
                      <a:pPr>
                        <a:buNone/>
                      </a:pPr>
                      <a:r>
                        <a:rPr lang="ar-SA" sz="2400"/>
                        <a:t>تستطيع الاطلاع على جميع الفرص التي أنشأتها.</a:t>
                      </a:r>
                    </a:p>
                  </a:txBody>
                  <a:tcPr marL="56511" marR="56511" marT="28255" marB="28255" anchor="ctr">
                    <a:lnL>
                      <a:noFill/>
                    </a:lnL>
                    <a:lnR>
                      <a:noFill/>
                    </a:lnR>
                    <a:lnT>
                      <a:noFill/>
                    </a:lnT>
                    <a:lnB>
                      <a:noFill/>
                    </a:lnB>
                    <a:noFill/>
                  </a:tcPr>
                </a:tc>
                <a:extLst>
                  <a:ext uri="{0D108BD9-81ED-4DB2-BD59-A6C34878D82A}">
                    <a16:rowId xmlns:a16="http://schemas.microsoft.com/office/drawing/2014/main" val="1169270313"/>
                  </a:ext>
                </a:extLst>
              </a:tr>
              <a:tr h="547745">
                <a:tc>
                  <a:txBody>
                    <a:bodyPr/>
                    <a:lstStyle/>
                    <a:p>
                      <a:pPr>
                        <a:buNone/>
                      </a:pPr>
                      <a:r>
                        <a:rPr lang="en-US" sz="1100"/>
                        <a:t>FR-25</a:t>
                      </a:r>
                    </a:p>
                  </a:txBody>
                  <a:tcPr marL="56511" marR="56511" marT="28255" marB="28255" anchor="ctr">
                    <a:lnL>
                      <a:noFill/>
                    </a:lnL>
                    <a:lnR>
                      <a:noFill/>
                    </a:lnR>
                    <a:lnT>
                      <a:noFill/>
                    </a:lnT>
                    <a:lnB>
                      <a:noFill/>
                    </a:lnB>
                    <a:noFill/>
                  </a:tcPr>
                </a:tc>
                <a:tc>
                  <a:txBody>
                    <a:bodyPr/>
                    <a:lstStyle/>
                    <a:p>
                      <a:pPr>
                        <a:buNone/>
                      </a:pPr>
                      <a:r>
                        <a:rPr lang="ar-SA" sz="2400"/>
                        <a:t>عرض طلبات المشاركة</a:t>
                      </a:r>
                    </a:p>
                  </a:txBody>
                  <a:tcPr marL="56511" marR="56511" marT="28255" marB="28255" anchor="ctr">
                    <a:lnL>
                      <a:noFill/>
                    </a:lnL>
                    <a:lnR>
                      <a:noFill/>
                    </a:lnR>
                    <a:lnT>
                      <a:noFill/>
                    </a:lnT>
                    <a:lnB>
                      <a:noFill/>
                    </a:lnB>
                    <a:noFill/>
                  </a:tcPr>
                </a:tc>
                <a:tc>
                  <a:txBody>
                    <a:bodyPr/>
                    <a:lstStyle/>
                    <a:p>
                      <a:pPr>
                        <a:buNone/>
                      </a:pPr>
                      <a:r>
                        <a:rPr lang="ar-SA" sz="2400"/>
                        <a:t>تستطيع الاطلاع على المتطوعين الذين قدموا طلبات للمشاركة.</a:t>
                      </a:r>
                    </a:p>
                  </a:txBody>
                  <a:tcPr marL="56511" marR="56511" marT="28255" marB="28255" anchor="ctr">
                    <a:lnL>
                      <a:noFill/>
                    </a:lnL>
                    <a:lnR>
                      <a:noFill/>
                    </a:lnR>
                    <a:lnT>
                      <a:noFill/>
                    </a:lnT>
                    <a:lnB>
                      <a:noFill/>
                    </a:lnB>
                    <a:noFill/>
                  </a:tcPr>
                </a:tc>
                <a:extLst>
                  <a:ext uri="{0D108BD9-81ED-4DB2-BD59-A6C34878D82A}">
                    <a16:rowId xmlns:a16="http://schemas.microsoft.com/office/drawing/2014/main" val="4086077858"/>
                  </a:ext>
                </a:extLst>
              </a:tr>
              <a:tr h="547745">
                <a:tc>
                  <a:txBody>
                    <a:bodyPr/>
                    <a:lstStyle/>
                    <a:p>
                      <a:pPr>
                        <a:buNone/>
                      </a:pPr>
                      <a:r>
                        <a:rPr lang="en-US" sz="1100"/>
                        <a:t>FR-26</a:t>
                      </a:r>
                    </a:p>
                  </a:txBody>
                  <a:tcPr marL="56511" marR="56511" marT="28255" marB="28255" anchor="ctr">
                    <a:lnL>
                      <a:noFill/>
                    </a:lnL>
                    <a:lnR>
                      <a:noFill/>
                    </a:lnR>
                    <a:lnT>
                      <a:noFill/>
                    </a:lnT>
                    <a:lnB>
                      <a:noFill/>
                    </a:lnB>
                    <a:noFill/>
                  </a:tcPr>
                </a:tc>
                <a:tc>
                  <a:txBody>
                    <a:bodyPr/>
                    <a:lstStyle/>
                    <a:p>
                      <a:pPr>
                        <a:buNone/>
                      </a:pPr>
                      <a:r>
                        <a:rPr lang="ar-SA" sz="2400"/>
                        <a:t>قبول طلب المشاركة</a:t>
                      </a:r>
                    </a:p>
                  </a:txBody>
                  <a:tcPr marL="56511" marR="56511" marT="28255" marB="28255" anchor="ctr">
                    <a:lnL>
                      <a:noFill/>
                    </a:lnL>
                    <a:lnR>
                      <a:noFill/>
                    </a:lnR>
                    <a:lnT>
                      <a:noFill/>
                    </a:lnT>
                    <a:lnB>
                      <a:noFill/>
                    </a:lnB>
                    <a:noFill/>
                  </a:tcPr>
                </a:tc>
                <a:tc>
                  <a:txBody>
                    <a:bodyPr/>
                    <a:lstStyle/>
                    <a:p>
                      <a:pPr>
                        <a:buNone/>
                      </a:pPr>
                      <a:r>
                        <a:rPr lang="ar-SA" sz="2400"/>
                        <a:t>تستطيع قبول المتطوع وفق العدد المطلوب وشروط الفرصة.</a:t>
                      </a:r>
                    </a:p>
                  </a:txBody>
                  <a:tcPr marL="56511" marR="56511" marT="28255" marB="28255" anchor="ctr">
                    <a:lnL>
                      <a:noFill/>
                    </a:lnL>
                    <a:lnR>
                      <a:noFill/>
                    </a:lnR>
                    <a:lnT>
                      <a:noFill/>
                    </a:lnT>
                    <a:lnB>
                      <a:noFill/>
                    </a:lnB>
                    <a:noFill/>
                  </a:tcPr>
                </a:tc>
                <a:extLst>
                  <a:ext uri="{0D108BD9-81ED-4DB2-BD59-A6C34878D82A}">
                    <a16:rowId xmlns:a16="http://schemas.microsoft.com/office/drawing/2014/main" val="852685797"/>
                  </a:ext>
                </a:extLst>
              </a:tr>
              <a:tr h="409998">
                <a:tc>
                  <a:txBody>
                    <a:bodyPr/>
                    <a:lstStyle/>
                    <a:p>
                      <a:pPr>
                        <a:buNone/>
                      </a:pPr>
                      <a:r>
                        <a:rPr lang="en-US" sz="1100"/>
                        <a:t>FR-27</a:t>
                      </a:r>
                    </a:p>
                  </a:txBody>
                  <a:tcPr marL="56511" marR="56511" marT="28255" marB="28255" anchor="ctr">
                    <a:lnL>
                      <a:noFill/>
                    </a:lnL>
                    <a:lnR>
                      <a:noFill/>
                    </a:lnR>
                    <a:lnT>
                      <a:noFill/>
                    </a:lnT>
                    <a:lnB>
                      <a:noFill/>
                    </a:lnB>
                    <a:noFill/>
                  </a:tcPr>
                </a:tc>
                <a:tc>
                  <a:txBody>
                    <a:bodyPr/>
                    <a:lstStyle/>
                    <a:p>
                      <a:pPr>
                        <a:buNone/>
                      </a:pPr>
                      <a:r>
                        <a:rPr lang="ar-SA" sz="2400"/>
                        <a:t>رفض طلب المشاركة</a:t>
                      </a:r>
                    </a:p>
                  </a:txBody>
                  <a:tcPr marL="56511" marR="56511" marT="28255" marB="28255" anchor="ctr">
                    <a:lnL>
                      <a:noFill/>
                    </a:lnL>
                    <a:lnR>
                      <a:noFill/>
                    </a:lnR>
                    <a:lnT>
                      <a:noFill/>
                    </a:lnT>
                    <a:lnB>
                      <a:noFill/>
                    </a:lnB>
                    <a:noFill/>
                  </a:tcPr>
                </a:tc>
                <a:tc>
                  <a:txBody>
                    <a:bodyPr/>
                    <a:lstStyle/>
                    <a:p>
                      <a:pPr>
                        <a:buNone/>
                      </a:pPr>
                      <a:r>
                        <a:rPr lang="ar-SA" sz="2400" dirty="0"/>
                        <a:t>تستطيع رفض الطلب مع تحديث حالته.</a:t>
                      </a:r>
                    </a:p>
                  </a:txBody>
                  <a:tcPr marL="56511" marR="56511" marT="28255" marB="28255" anchor="ctr">
                    <a:lnL>
                      <a:noFill/>
                    </a:lnL>
                    <a:lnR>
                      <a:noFill/>
                    </a:lnR>
                    <a:lnT>
                      <a:noFill/>
                    </a:lnT>
                    <a:lnB>
                      <a:noFill/>
                    </a:lnB>
                    <a:noFill/>
                  </a:tcPr>
                </a:tc>
                <a:extLst>
                  <a:ext uri="{0D108BD9-81ED-4DB2-BD59-A6C34878D82A}">
                    <a16:rowId xmlns:a16="http://schemas.microsoft.com/office/drawing/2014/main" val="93950958"/>
                  </a:ext>
                </a:extLst>
              </a:tr>
              <a:tr h="547745">
                <a:tc>
                  <a:txBody>
                    <a:bodyPr/>
                    <a:lstStyle/>
                    <a:p>
                      <a:pPr>
                        <a:buNone/>
                      </a:pPr>
                      <a:r>
                        <a:rPr lang="en-US" sz="1100"/>
                        <a:t>FR-28</a:t>
                      </a:r>
                    </a:p>
                  </a:txBody>
                  <a:tcPr marL="56511" marR="56511" marT="28255" marB="28255" anchor="ctr">
                    <a:lnL>
                      <a:noFill/>
                    </a:lnL>
                    <a:lnR>
                      <a:noFill/>
                    </a:lnR>
                    <a:lnT>
                      <a:noFill/>
                    </a:lnT>
                    <a:lnB>
                      <a:noFill/>
                    </a:lnB>
                    <a:noFill/>
                  </a:tcPr>
                </a:tc>
                <a:tc>
                  <a:txBody>
                    <a:bodyPr/>
                    <a:lstStyle/>
                    <a:p>
                      <a:pPr>
                        <a:buNone/>
                      </a:pPr>
                      <a:r>
                        <a:rPr lang="ar-SA" sz="2400" dirty="0"/>
                        <a:t>عرض عدد المسجلين</a:t>
                      </a:r>
                    </a:p>
                  </a:txBody>
                  <a:tcPr marL="56511" marR="56511" marT="28255" marB="28255" anchor="ctr">
                    <a:lnL>
                      <a:noFill/>
                    </a:lnL>
                    <a:lnR>
                      <a:noFill/>
                    </a:lnR>
                    <a:lnT>
                      <a:noFill/>
                    </a:lnT>
                    <a:lnB>
                      <a:noFill/>
                    </a:lnB>
                    <a:noFill/>
                  </a:tcPr>
                </a:tc>
                <a:tc>
                  <a:txBody>
                    <a:bodyPr/>
                    <a:lstStyle/>
                    <a:p>
                      <a:pPr>
                        <a:buNone/>
                      </a:pPr>
                      <a:r>
                        <a:rPr lang="ar-SA" sz="1100" dirty="0"/>
                        <a:t>ت</a:t>
                      </a:r>
                      <a:r>
                        <a:rPr lang="ar-SA" sz="2400" dirty="0"/>
                        <a:t>ستطيع معرفة عدد الطلبات والمشاركين المقبولين في كل فرصة.</a:t>
                      </a:r>
                    </a:p>
                  </a:txBody>
                  <a:tcPr marL="56511" marR="56511" marT="28255" marB="28255" anchor="ctr">
                    <a:lnL>
                      <a:noFill/>
                    </a:lnL>
                    <a:lnR>
                      <a:noFill/>
                    </a:lnR>
                    <a:lnT>
                      <a:noFill/>
                    </a:lnT>
                    <a:lnB>
                      <a:noFill/>
                    </a:lnB>
                    <a:noFill/>
                  </a:tcPr>
                </a:tc>
                <a:extLst>
                  <a:ext uri="{0D108BD9-81ED-4DB2-BD59-A6C34878D82A}">
                    <a16:rowId xmlns:a16="http://schemas.microsoft.com/office/drawing/2014/main" val="3527051780"/>
                  </a:ext>
                </a:extLst>
              </a:tr>
            </a:tbl>
          </a:graphicData>
        </a:graphic>
      </p:graphicFrame>
      <p:sp>
        <p:nvSpPr>
          <p:cNvPr id="2" name="Slide Number Placeholder 1">
            <a:extLst>
              <a:ext uri="{FF2B5EF4-FFF2-40B4-BE49-F238E27FC236}">
                <a16:creationId xmlns:a16="http://schemas.microsoft.com/office/drawing/2014/main" id="{1E2DCCEA-69CC-A2A1-ECA3-8BBFF1508AB4}"/>
              </a:ext>
            </a:extLst>
          </p:cNvPr>
          <p:cNvSpPr>
            <a:spLocks noGrp="1"/>
          </p:cNvSpPr>
          <p:nvPr>
            <p:ph type="sldNum" sz="quarter" idx="12"/>
          </p:nvPr>
        </p:nvSpPr>
        <p:spPr/>
        <p:txBody>
          <a:bodyPr/>
          <a:lstStyle/>
          <a:p>
            <a:fld id="{3EB37142-BB67-4B06-93E6-8D10723F8802}" type="slidenum">
              <a:rPr lang="en-US" smtClean="0"/>
              <a:t>8</a:t>
            </a:fld>
            <a:endParaRPr lang="en-US" dirty="0"/>
          </a:p>
        </p:txBody>
      </p:sp>
    </p:spTree>
    <p:extLst>
      <p:ext uri="{BB962C8B-B14F-4D97-AF65-F5344CB8AC3E}">
        <p14:creationId xmlns:p14="http://schemas.microsoft.com/office/powerpoint/2010/main" val="2637763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8F12-E8CD-7F88-F7E6-90F277BC3A7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6BBC0A4-B8A6-9514-29A0-85BA2253FFC6}"/>
              </a:ext>
            </a:extLst>
          </p:cNvPr>
          <p:cNvSpPr txBox="1">
            <a:spLocks/>
          </p:cNvSpPr>
          <p:nvPr/>
        </p:nvSpPr>
        <p:spPr>
          <a:xfrm>
            <a:off x="8476162" y="-272966"/>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3 متطلبات الإدارة :</a:t>
            </a:r>
            <a:endParaRPr lang="en-US" sz="3200" dirty="0"/>
          </a:p>
        </p:txBody>
      </p:sp>
      <p:sp>
        <p:nvSpPr>
          <p:cNvPr id="10" name="Title 1">
            <a:extLst>
              <a:ext uri="{FF2B5EF4-FFF2-40B4-BE49-F238E27FC236}">
                <a16:creationId xmlns:a16="http://schemas.microsoft.com/office/drawing/2014/main" id="{4DF45530-4F34-A61C-8E29-F38D4A585449}"/>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D9368832-966C-C646-75CF-266E19C4D3C2}"/>
              </a:ext>
            </a:extLst>
          </p:cNvPr>
          <p:cNvGraphicFramePr>
            <a:graphicFrameLocks noGrp="1"/>
          </p:cNvGraphicFramePr>
          <p:nvPr>
            <p:extLst>
              <p:ext uri="{D42A27DB-BD31-4B8C-83A1-F6EECF244321}">
                <p14:modId xmlns:p14="http://schemas.microsoft.com/office/powerpoint/2010/main" val="236690207"/>
              </p:ext>
            </p:extLst>
          </p:nvPr>
        </p:nvGraphicFramePr>
        <p:xfrm>
          <a:off x="128338" y="153804"/>
          <a:ext cx="11767491" cy="6518794"/>
        </p:xfrm>
        <a:graphic>
          <a:graphicData uri="http://schemas.openxmlformats.org/drawingml/2006/table">
            <a:tbl>
              <a:tblPr/>
              <a:tblGrid>
                <a:gridCol w="1315452">
                  <a:extLst>
                    <a:ext uri="{9D8B030D-6E8A-4147-A177-3AD203B41FA5}">
                      <a16:colId xmlns:a16="http://schemas.microsoft.com/office/drawing/2014/main" val="1325757857"/>
                    </a:ext>
                  </a:extLst>
                </a:gridCol>
                <a:gridCol w="3513222">
                  <a:extLst>
                    <a:ext uri="{9D8B030D-6E8A-4147-A177-3AD203B41FA5}">
                      <a16:colId xmlns:a16="http://schemas.microsoft.com/office/drawing/2014/main" val="2618853414"/>
                    </a:ext>
                  </a:extLst>
                </a:gridCol>
                <a:gridCol w="6938817">
                  <a:extLst>
                    <a:ext uri="{9D8B030D-6E8A-4147-A177-3AD203B41FA5}">
                      <a16:colId xmlns:a16="http://schemas.microsoft.com/office/drawing/2014/main" val="2272402761"/>
                    </a:ext>
                  </a:extLst>
                </a:gridCol>
              </a:tblGrid>
              <a:tr h="388050">
                <a:tc>
                  <a:txBody>
                    <a:bodyPr/>
                    <a:lstStyle/>
                    <a:p>
                      <a:pPr>
                        <a:buNone/>
                      </a:pPr>
                      <a:r>
                        <a:rPr lang="ar-SA" sz="1000" b="1"/>
                        <a:t>الرقم</a:t>
                      </a:r>
                    </a:p>
                  </a:txBody>
                  <a:tcPr marL="53065" marR="53065" marT="26533" marB="26533" anchor="ctr">
                    <a:lnL>
                      <a:noFill/>
                    </a:lnL>
                    <a:lnR>
                      <a:noFill/>
                    </a:lnR>
                    <a:lnT>
                      <a:noFill/>
                    </a:lnT>
                    <a:lnB>
                      <a:noFill/>
                    </a:lnB>
                    <a:noFill/>
                  </a:tcPr>
                </a:tc>
                <a:tc>
                  <a:txBody>
                    <a:bodyPr/>
                    <a:lstStyle/>
                    <a:p>
                      <a:pPr>
                        <a:buNone/>
                      </a:pPr>
                      <a:r>
                        <a:rPr lang="ar-SA" sz="2400" b="1"/>
                        <a:t>المتطلب الوظيفي</a:t>
                      </a:r>
                    </a:p>
                  </a:txBody>
                  <a:tcPr marL="53065" marR="53065" marT="26533" marB="26533" anchor="ctr">
                    <a:lnL>
                      <a:noFill/>
                    </a:lnL>
                    <a:lnR>
                      <a:noFill/>
                    </a:lnR>
                    <a:lnT>
                      <a:noFill/>
                    </a:lnT>
                    <a:lnB>
                      <a:noFill/>
                    </a:lnB>
                    <a:noFill/>
                  </a:tcPr>
                </a:tc>
                <a:tc>
                  <a:txBody>
                    <a:bodyPr/>
                    <a:lstStyle/>
                    <a:p>
                      <a:pPr>
                        <a:buNone/>
                      </a:pPr>
                      <a:r>
                        <a:rPr lang="ar-SA" sz="2400" b="1" dirty="0"/>
                        <a:t>وصف مختصر</a:t>
                      </a:r>
                    </a:p>
                  </a:txBody>
                  <a:tcPr marL="53065" marR="53065" marT="26533" marB="26533" anchor="ctr">
                    <a:lnL>
                      <a:noFill/>
                    </a:lnL>
                    <a:lnR>
                      <a:noFill/>
                    </a:lnR>
                    <a:lnT>
                      <a:noFill/>
                    </a:lnT>
                    <a:lnB>
                      <a:noFill/>
                    </a:lnB>
                    <a:noFill/>
                  </a:tcPr>
                </a:tc>
                <a:extLst>
                  <a:ext uri="{0D108BD9-81ED-4DB2-BD59-A6C34878D82A}">
                    <a16:rowId xmlns:a16="http://schemas.microsoft.com/office/drawing/2014/main" val="1980765615"/>
                  </a:ext>
                </a:extLst>
              </a:tr>
              <a:tr h="388050">
                <a:tc>
                  <a:txBody>
                    <a:bodyPr/>
                    <a:lstStyle/>
                    <a:p>
                      <a:pPr>
                        <a:buNone/>
                      </a:pPr>
                      <a:r>
                        <a:rPr lang="en-US" sz="1000"/>
                        <a:t>FR-29</a:t>
                      </a:r>
                    </a:p>
                  </a:txBody>
                  <a:tcPr marL="53065" marR="53065" marT="26533" marB="26533" anchor="ctr">
                    <a:lnL>
                      <a:noFill/>
                    </a:lnL>
                    <a:lnR>
                      <a:noFill/>
                    </a:lnR>
                    <a:lnT>
                      <a:noFill/>
                    </a:lnT>
                    <a:lnB>
                      <a:noFill/>
                    </a:lnB>
                    <a:noFill/>
                  </a:tcPr>
                </a:tc>
                <a:tc>
                  <a:txBody>
                    <a:bodyPr/>
                    <a:lstStyle/>
                    <a:p>
                      <a:pPr>
                        <a:buNone/>
                      </a:pPr>
                      <a:r>
                        <a:rPr lang="ar-SA" sz="2400"/>
                        <a:t>تسجيل الدخول</a:t>
                      </a:r>
                    </a:p>
                  </a:txBody>
                  <a:tcPr marL="53065" marR="53065" marT="26533" marB="26533" anchor="ctr">
                    <a:lnL>
                      <a:noFill/>
                    </a:lnL>
                    <a:lnR>
                      <a:noFill/>
                    </a:lnR>
                    <a:lnT>
                      <a:noFill/>
                    </a:lnT>
                    <a:lnB>
                      <a:noFill/>
                    </a:lnB>
                    <a:noFill/>
                  </a:tcPr>
                </a:tc>
                <a:tc>
                  <a:txBody>
                    <a:bodyPr/>
                    <a:lstStyle/>
                    <a:p>
                      <a:pPr>
                        <a:buNone/>
                      </a:pPr>
                      <a:r>
                        <a:rPr lang="ar-SA" sz="2400"/>
                        <a:t>يستطيع مدير النظام الدخول إلى لوحة الإدارة.</a:t>
                      </a:r>
                    </a:p>
                  </a:txBody>
                  <a:tcPr marL="53065" marR="53065" marT="26533" marB="26533" anchor="ctr">
                    <a:lnL>
                      <a:noFill/>
                    </a:lnL>
                    <a:lnR>
                      <a:noFill/>
                    </a:lnR>
                    <a:lnT>
                      <a:noFill/>
                    </a:lnT>
                    <a:lnB>
                      <a:noFill/>
                    </a:lnB>
                    <a:noFill/>
                  </a:tcPr>
                </a:tc>
                <a:extLst>
                  <a:ext uri="{0D108BD9-81ED-4DB2-BD59-A6C34878D82A}">
                    <a16:rowId xmlns:a16="http://schemas.microsoft.com/office/drawing/2014/main" val="1769910958"/>
                  </a:ext>
                </a:extLst>
              </a:tr>
              <a:tr h="388050">
                <a:tc>
                  <a:txBody>
                    <a:bodyPr/>
                    <a:lstStyle/>
                    <a:p>
                      <a:pPr>
                        <a:buNone/>
                      </a:pPr>
                      <a:r>
                        <a:rPr lang="en-US" sz="1000"/>
                        <a:t>FR-30</a:t>
                      </a:r>
                    </a:p>
                  </a:txBody>
                  <a:tcPr marL="53065" marR="53065" marT="26533" marB="26533" anchor="ctr">
                    <a:lnL>
                      <a:noFill/>
                    </a:lnL>
                    <a:lnR>
                      <a:noFill/>
                    </a:lnR>
                    <a:lnT>
                      <a:noFill/>
                    </a:lnT>
                    <a:lnB>
                      <a:noFill/>
                    </a:lnB>
                    <a:noFill/>
                  </a:tcPr>
                </a:tc>
                <a:tc>
                  <a:txBody>
                    <a:bodyPr/>
                    <a:lstStyle/>
                    <a:p>
                      <a:pPr>
                        <a:buNone/>
                      </a:pPr>
                      <a:r>
                        <a:rPr lang="ar-SA" sz="2400"/>
                        <a:t>تسجيل الخروج</a:t>
                      </a:r>
                    </a:p>
                  </a:txBody>
                  <a:tcPr marL="53065" marR="53065" marT="26533" marB="26533" anchor="ctr">
                    <a:lnL>
                      <a:noFill/>
                    </a:lnL>
                    <a:lnR>
                      <a:noFill/>
                    </a:lnR>
                    <a:lnT>
                      <a:noFill/>
                    </a:lnT>
                    <a:lnB>
                      <a:noFill/>
                    </a:lnB>
                    <a:noFill/>
                  </a:tcPr>
                </a:tc>
                <a:tc>
                  <a:txBody>
                    <a:bodyPr/>
                    <a:lstStyle/>
                    <a:p>
                      <a:pPr>
                        <a:buNone/>
                      </a:pPr>
                      <a:r>
                        <a:rPr lang="ar-SA" sz="2400"/>
                        <a:t>يستطيع مدير النظام إنهاء جلسة الإدارة.</a:t>
                      </a:r>
                    </a:p>
                  </a:txBody>
                  <a:tcPr marL="53065" marR="53065" marT="26533" marB="26533" anchor="ctr">
                    <a:lnL>
                      <a:noFill/>
                    </a:lnL>
                    <a:lnR>
                      <a:noFill/>
                    </a:lnR>
                    <a:lnT>
                      <a:noFill/>
                    </a:lnT>
                    <a:lnB>
                      <a:noFill/>
                    </a:lnB>
                    <a:noFill/>
                  </a:tcPr>
                </a:tc>
                <a:extLst>
                  <a:ext uri="{0D108BD9-81ED-4DB2-BD59-A6C34878D82A}">
                    <a16:rowId xmlns:a16="http://schemas.microsoft.com/office/drawing/2014/main" val="2977762552"/>
                  </a:ext>
                </a:extLst>
              </a:tr>
              <a:tr h="461643">
                <a:tc>
                  <a:txBody>
                    <a:bodyPr/>
                    <a:lstStyle/>
                    <a:p>
                      <a:pPr>
                        <a:buNone/>
                      </a:pPr>
                      <a:r>
                        <a:rPr lang="en-US" sz="1000"/>
                        <a:t>FR-31</a:t>
                      </a:r>
                    </a:p>
                  </a:txBody>
                  <a:tcPr marL="53065" marR="53065" marT="26533" marB="26533" anchor="ctr">
                    <a:lnL>
                      <a:noFill/>
                    </a:lnL>
                    <a:lnR>
                      <a:noFill/>
                    </a:lnR>
                    <a:lnT>
                      <a:noFill/>
                    </a:lnT>
                    <a:lnB>
                      <a:noFill/>
                    </a:lnB>
                    <a:noFill/>
                  </a:tcPr>
                </a:tc>
                <a:tc>
                  <a:txBody>
                    <a:bodyPr/>
                    <a:lstStyle/>
                    <a:p>
                      <a:pPr>
                        <a:buNone/>
                      </a:pPr>
                      <a:r>
                        <a:rPr lang="ar-SA" sz="2400"/>
                        <a:t>عرض لوحة التحكم</a:t>
                      </a:r>
                    </a:p>
                  </a:txBody>
                  <a:tcPr marL="53065" marR="53065" marT="26533" marB="26533" anchor="ctr">
                    <a:lnL>
                      <a:noFill/>
                    </a:lnL>
                    <a:lnR>
                      <a:noFill/>
                    </a:lnR>
                    <a:lnT>
                      <a:noFill/>
                    </a:lnT>
                    <a:lnB>
                      <a:noFill/>
                    </a:lnB>
                    <a:noFill/>
                  </a:tcPr>
                </a:tc>
                <a:tc>
                  <a:txBody>
                    <a:bodyPr/>
                    <a:lstStyle/>
                    <a:p>
                      <a:pPr>
                        <a:buNone/>
                      </a:pPr>
                      <a:r>
                        <a:rPr lang="ar-SA" sz="2400"/>
                        <a:t>يستطيع الاطلاع على ملخص إحصائيات النظام.</a:t>
                      </a:r>
                    </a:p>
                  </a:txBody>
                  <a:tcPr marL="53065" marR="53065" marT="26533" marB="26533" anchor="ctr">
                    <a:lnL>
                      <a:noFill/>
                    </a:lnL>
                    <a:lnR>
                      <a:noFill/>
                    </a:lnR>
                    <a:lnT>
                      <a:noFill/>
                    </a:lnT>
                    <a:lnB>
                      <a:noFill/>
                    </a:lnB>
                    <a:noFill/>
                  </a:tcPr>
                </a:tc>
                <a:extLst>
                  <a:ext uri="{0D108BD9-81ED-4DB2-BD59-A6C34878D82A}">
                    <a16:rowId xmlns:a16="http://schemas.microsoft.com/office/drawing/2014/main" val="1207202944"/>
                  </a:ext>
                </a:extLst>
              </a:tr>
              <a:tr h="461643">
                <a:tc>
                  <a:txBody>
                    <a:bodyPr/>
                    <a:lstStyle/>
                    <a:p>
                      <a:pPr>
                        <a:buNone/>
                      </a:pPr>
                      <a:r>
                        <a:rPr lang="en-US" sz="1000" dirty="0"/>
                        <a:t>FR-32</a:t>
                      </a:r>
                    </a:p>
                  </a:txBody>
                  <a:tcPr marL="53065" marR="53065" marT="26533" marB="26533" anchor="ctr">
                    <a:lnL>
                      <a:noFill/>
                    </a:lnL>
                    <a:lnR>
                      <a:noFill/>
                    </a:lnR>
                    <a:lnT>
                      <a:noFill/>
                    </a:lnT>
                    <a:lnB>
                      <a:noFill/>
                    </a:lnB>
                    <a:noFill/>
                  </a:tcPr>
                </a:tc>
                <a:tc>
                  <a:txBody>
                    <a:bodyPr/>
                    <a:lstStyle/>
                    <a:p>
                      <a:pPr>
                        <a:buNone/>
                      </a:pPr>
                      <a:r>
                        <a:rPr lang="ar-SA" sz="2400"/>
                        <a:t>عرض المستخدمين</a:t>
                      </a:r>
                    </a:p>
                  </a:txBody>
                  <a:tcPr marL="53065" marR="53065" marT="26533" marB="26533" anchor="ctr">
                    <a:lnL>
                      <a:noFill/>
                    </a:lnL>
                    <a:lnR>
                      <a:noFill/>
                    </a:lnR>
                    <a:lnT>
                      <a:noFill/>
                    </a:lnT>
                    <a:lnB>
                      <a:noFill/>
                    </a:lnB>
                    <a:noFill/>
                  </a:tcPr>
                </a:tc>
                <a:tc>
                  <a:txBody>
                    <a:bodyPr/>
                    <a:lstStyle/>
                    <a:p>
                      <a:pPr>
                        <a:buNone/>
                      </a:pPr>
                      <a:r>
                        <a:rPr lang="ar-SA" sz="2400"/>
                        <a:t>يستطيع استعراض حسابات المتطوعين والبحث عنها.</a:t>
                      </a:r>
                    </a:p>
                  </a:txBody>
                  <a:tcPr marL="53065" marR="53065" marT="26533" marB="26533" anchor="ctr">
                    <a:lnL>
                      <a:noFill/>
                    </a:lnL>
                    <a:lnR>
                      <a:noFill/>
                    </a:lnR>
                    <a:lnT>
                      <a:noFill/>
                    </a:lnT>
                    <a:lnB>
                      <a:noFill/>
                    </a:lnB>
                    <a:noFill/>
                  </a:tcPr>
                </a:tc>
                <a:extLst>
                  <a:ext uri="{0D108BD9-81ED-4DB2-BD59-A6C34878D82A}">
                    <a16:rowId xmlns:a16="http://schemas.microsoft.com/office/drawing/2014/main" val="762958589"/>
                  </a:ext>
                </a:extLst>
              </a:tr>
              <a:tr h="461643">
                <a:tc>
                  <a:txBody>
                    <a:bodyPr/>
                    <a:lstStyle/>
                    <a:p>
                      <a:pPr>
                        <a:buNone/>
                      </a:pPr>
                      <a:r>
                        <a:rPr lang="en-US" sz="1000"/>
                        <a:t>FR-33</a:t>
                      </a:r>
                    </a:p>
                  </a:txBody>
                  <a:tcPr marL="53065" marR="53065" marT="26533" marB="26533" anchor="ctr">
                    <a:lnL>
                      <a:noFill/>
                    </a:lnL>
                    <a:lnR>
                      <a:noFill/>
                    </a:lnR>
                    <a:lnT>
                      <a:noFill/>
                    </a:lnT>
                    <a:lnB>
                      <a:noFill/>
                    </a:lnB>
                    <a:noFill/>
                  </a:tcPr>
                </a:tc>
                <a:tc>
                  <a:txBody>
                    <a:bodyPr/>
                    <a:lstStyle/>
                    <a:p>
                      <a:pPr>
                        <a:buNone/>
                      </a:pPr>
                      <a:r>
                        <a:rPr lang="ar-SA" sz="2400"/>
                        <a:t>تفعيل الحسابات أو تعطيلها</a:t>
                      </a:r>
                    </a:p>
                  </a:txBody>
                  <a:tcPr marL="53065" marR="53065" marT="26533" marB="26533" anchor="ctr">
                    <a:lnL>
                      <a:noFill/>
                    </a:lnL>
                    <a:lnR>
                      <a:noFill/>
                    </a:lnR>
                    <a:lnT>
                      <a:noFill/>
                    </a:lnT>
                    <a:lnB>
                      <a:noFill/>
                    </a:lnB>
                    <a:noFill/>
                  </a:tcPr>
                </a:tc>
                <a:tc>
                  <a:txBody>
                    <a:bodyPr/>
                    <a:lstStyle/>
                    <a:p>
                      <a:pPr>
                        <a:buNone/>
                      </a:pPr>
                      <a:r>
                        <a:rPr lang="ar-SA" sz="2400"/>
                        <a:t>يستطيع إدارة حالة حسابات المستخدمين عند الحاجة.</a:t>
                      </a:r>
                    </a:p>
                  </a:txBody>
                  <a:tcPr marL="53065" marR="53065" marT="26533" marB="26533" anchor="ctr">
                    <a:lnL>
                      <a:noFill/>
                    </a:lnL>
                    <a:lnR>
                      <a:noFill/>
                    </a:lnR>
                    <a:lnT>
                      <a:noFill/>
                    </a:lnT>
                    <a:lnB>
                      <a:noFill/>
                    </a:lnB>
                    <a:noFill/>
                  </a:tcPr>
                </a:tc>
                <a:extLst>
                  <a:ext uri="{0D108BD9-81ED-4DB2-BD59-A6C34878D82A}">
                    <a16:rowId xmlns:a16="http://schemas.microsoft.com/office/drawing/2014/main" val="1799376234"/>
                  </a:ext>
                </a:extLst>
              </a:tr>
              <a:tr h="461643">
                <a:tc>
                  <a:txBody>
                    <a:bodyPr/>
                    <a:lstStyle/>
                    <a:p>
                      <a:pPr>
                        <a:buNone/>
                      </a:pPr>
                      <a:r>
                        <a:rPr lang="en-US" sz="1000"/>
                        <a:t>FR-34</a:t>
                      </a:r>
                    </a:p>
                  </a:txBody>
                  <a:tcPr marL="53065" marR="53065" marT="26533" marB="26533" anchor="ctr">
                    <a:lnL>
                      <a:noFill/>
                    </a:lnL>
                    <a:lnR>
                      <a:noFill/>
                    </a:lnR>
                    <a:lnT>
                      <a:noFill/>
                    </a:lnT>
                    <a:lnB>
                      <a:noFill/>
                    </a:lnB>
                    <a:noFill/>
                  </a:tcPr>
                </a:tc>
                <a:tc>
                  <a:txBody>
                    <a:bodyPr/>
                    <a:lstStyle/>
                    <a:p>
                      <a:pPr>
                        <a:buNone/>
                      </a:pPr>
                      <a:r>
                        <a:rPr lang="ar-SA" sz="2400"/>
                        <a:t>عرض طلبات المؤسسات</a:t>
                      </a:r>
                    </a:p>
                  </a:txBody>
                  <a:tcPr marL="53065" marR="53065" marT="26533" marB="26533" anchor="ctr">
                    <a:lnL>
                      <a:noFill/>
                    </a:lnL>
                    <a:lnR>
                      <a:noFill/>
                    </a:lnR>
                    <a:lnT>
                      <a:noFill/>
                    </a:lnT>
                    <a:lnB>
                      <a:noFill/>
                    </a:lnB>
                    <a:noFill/>
                  </a:tcPr>
                </a:tc>
                <a:tc>
                  <a:txBody>
                    <a:bodyPr/>
                    <a:lstStyle/>
                    <a:p>
                      <a:pPr>
                        <a:buNone/>
                      </a:pPr>
                      <a:r>
                        <a:rPr lang="ar-SA" sz="2400"/>
                        <a:t>يستطيع الاطلاع على طلبات تسجيل المؤسسات الجديدة.</a:t>
                      </a:r>
                    </a:p>
                  </a:txBody>
                  <a:tcPr marL="53065" marR="53065" marT="26533" marB="26533" anchor="ctr">
                    <a:lnL>
                      <a:noFill/>
                    </a:lnL>
                    <a:lnR>
                      <a:noFill/>
                    </a:lnR>
                    <a:lnT>
                      <a:noFill/>
                    </a:lnT>
                    <a:lnB>
                      <a:noFill/>
                    </a:lnB>
                    <a:noFill/>
                  </a:tcPr>
                </a:tc>
                <a:extLst>
                  <a:ext uri="{0D108BD9-81ED-4DB2-BD59-A6C34878D82A}">
                    <a16:rowId xmlns:a16="http://schemas.microsoft.com/office/drawing/2014/main" val="120030404"/>
                  </a:ext>
                </a:extLst>
              </a:tr>
              <a:tr h="461643">
                <a:tc>
                  <a:txBody>
                    <a:bodyPr/>
                    <a:lstStyle/>
                    <a:p>
                      <a:pPr>
                        <a:buNone/>
                      </a:pPr>
                      <a:r>
                        <a:rPr lang="en-US" sz="1000"/>
                        <a:t>FR-35</a:t>
                      </a:r>
                    </a:p>
                  </a:txBody>
                  <a:tcPr marL="53065" marR="53065" marT="26533" marB="26533" anchor="ctr">
                    <a:lnL>
                      <a:noFill/>
                    </a:lnL>
                    <a:lnR>
                      <a:noFill/>
                    </a:lnR>
                    <a:lnT>
                      <a:noFill/>
                    </a:lnT>
                    <a:lnB>
                      <a:noFill/>
                    </a:lnB>
                    <a:noFill/>
                  </a:tcPr>
                </a:tc>
                <a:tc>
                  <a:txBody>
                    <a:bodyPr/>
                    <a:lstStyle/>
                    <a:p>
                      <a:pPr>
                        <a:buNone/>
                      </a:pPr>
                      <a:r>
                        <a:rPr lang="ar-SA" sz="2400"/>
                        <a:t>اعتماد المؤسسات أو رفضها</a:t>
                      </a:r>
                    </a:p>
                  </a:txBody>
                  <a:tcPr marL="53065" marR="53065" marT="26533" marB="26533" anchor="ctr">
                    <a:lnL>
                      <a:noFill/>
                    </a:lnL>
                    <a:lnR>
                      <a:noFill/>
                    </a:lnR>
                    <a:lnT>
                      <a:noFill/>
                    </a:lnT>
                    <a:lnB>
                      <a:noFill/>
                    </a:lnB>
                    <a:noFill/>
                  </a:tcPr>
                </a:tc>
                <a:tc>
                  <a:txBody>
                    <a:bodyPr/>
                    <a:lstStyle/>
                    <a:p>
                      <a:pPr>
                        <a:buNone/>
                      </a:pPr>
                      <a:r>
                        <a:rPr lang="ar-SA" sz="2400"/>
                        <a:t>يستطيع الموافقة على تسجيل المؤسسة أو رفضه.</a:t>
                      </a:r>
                    </a:p>
                  </a:txBody>
                  <a:tcPr marL="53065" marR="53065" marT="26533" marB="26533" anchor="ctr">
                    <a:lnL>
                      <a:noFill/>
                    </a:lnL>
                    <a:lnR>
                      <a:noFill/>
                    </a:lnR>
                    <a:lnT>
                      <a:noFill/>
                    </a:lnT>
                    <a:lnB>
                      <a:noFill/>
                    </a:lnB>
                    <a:noFill/>
                  </a:tcPr>
                </a:tc>
                <a:extLst>
                  <a:ext uri="{0D108BD9-81ED-4DB2-BD59-A6C34878D82A}">
                    <a16:rowId xmlns:a16="http://schemas.microsoft.com/office/drawing/2014/main" val="338787284"/>
                  </a:ext>
                </a:extLst>
              </a:tr>
              <a:tr h="461643">
                <a:tc>
                  <a:txBody>
                    <a:bodyPr/>
                    <a:lstStyle/>
                    <a:p>
                      <a:pPr>
                        <a:buNone/>
                      </a:pPr>
                      <a:r>
                        <a:rPr lang="en-US" sz="1000"/>
                        <a:t>FR-36</a:t>
                      </a:r>
                    </a:p>
                  </a:txBody>
                  <a:tcPr marL="53065" marR="53065" marT="26533" marB="26533" anchor="ctr">
                    <a:lnL>
                      <a:noFill/>
                    </a:lnL>
                    <a:lnR>
                      <a:noFill/>
                    </a:lnR>
                    <a:lnT>
                      <a:noFill/>
                    </a:lnT>
                    <a:lnB>
                      <a:noFill/>
                    </a:lnB>
                    <a:noFill/>
                  </a:tcPr>
                </a:tc>
                <a:tc>
                  <a:txBody>
                    <a:bodyPr/>
                    <a:lstStyle/>
                    <a:p>
                      <a:pPr>
                        <a:buNone/>
                      </a:pPr>
                      <a:r>
                        <a:rPr lang="ar-SA" sz="2400"/>
                        <a:t>عرض جميع الفرص</a:t>
                      </a:r>
                    </a:p>
                  </a:txBody>
                  <a:tcPr marL="53065" marR="53065" marT="26533" marB="26533" anchor="ctr">
                    <a:lnL>
                      <a:noFill/>
                    </a:lnL>
                    <a:lnR>
                      <a:noFill/>
                    </a:lnR>
                    <a:lnT>
                      <a:noFill/>
                    </a:lnT>
                    <a:lnB>
                      <a:noFill/>
                    </a:lnB>
                    <a:noFill/>
                  </a:tcPr>
                </a:tc>
                <a:tc>
                  <a:txBody>
                    <a:bodyPr/>
                    <a:lstStyle/>
                    <a:p>
                      <a:pPr>
                        <a:buNone/>
                      </a:pPr>
                      <a:r>
                        <a:rPr lang="ar-SA" sz="2400"/>
                        <a:t>يستطيع استعراض الفرص التطوعية المنشورة في النظام.</a:t>
                      </a:r>
                    </a:p>
                  </a:txBody>
                  <a:tcPr marL="53065" marR="53065" marT="26533" marB="26533" anchor="ctr">
                    <a:lnL>
                      <a:noFill/>
                    </a:lnL>
                    <a:lnR>
                      <a:noFill/>
                    </a:lnR>
                    <a:lnT>
                      <a:noFill/>
                    </a:lnT>
                    <a:lnB>
                      <a:noFill/>
                    </a:lnB>
                    <a:noFill/>
                  </a:tcPr>
                </a:tc>
                <a:extLst>
                  <a:ext uri="{0D108BD9-81ED-4DB2-BD59-A6C34878D82A}">
                    <a16:rowId xmlns:a16="http://schemas.microsoft.com/office/drawing/2014/main" val="3364118929"/>
                  </a:ext>
                </a:extLst>
              </a:tr>
              <a:tr h="461643">
                <a:tc>
                  <a:txBody>
                    <a:bodyPr/>
                    <a:lstStyle/>
                    <a:p>
                      <a:pPr>
                        <a:buNone/>
                      </a:pPr>
                      <a:r>
                        <a:rPr lang="en-US" sz="1000"/>
                        <a:t>FR-37</a:t>
                      </a:r>
                    </a:p>
                  </a:txBody>
                  <a:tcPr marL="53065" marR="53065" marT="26533" marB="26533" anchor="ctr">
                    <a:lnL>
                      <a:noFill/>
                    </a:lnL>
                    <a:lnR>
                      <a:noFill/>
                    </a:lnR>
                    <a:lnT>
                      <a:noFill/>
                    </a:lnT>
                    <a:lnB>
                      <a:noFill/>
                    </a:lnB>
                    <a:noFill/>
                  </a:tcPr>
                </a:tc>
                <a:tc>
                  <a:txBody>
                    <a:bodyPr/>
                    <a:lstStyle/>
                    <a:p>
                      <a:pPr>
                        <a:buNone/>
                      </a:pPr>
                      <a:r>
                        <a:rPr lang="ar-SA" sz="2400"/>
                        <a:t>حذف الفرص المخالفة أو إخفاؤها</a:t>
                      </a:r>
                    </a:p>
                  </a:txBody>
                  <a:tcPr marL="53065" marR="53065" marT="26533" marB="26533" anchor="ctr">
                    <a:lnL>
                      <a:noFill/>
                    </a:lnL>
                    <a:lnR>
                      <a:noFill/>
                    </a:lnR>
                    <a:lnT>
                      <a:noFill/>
                    </a:lnT>
                    <a:lnB>
                      <a:noFill/>
                    </a:lnB>
                    <a:noFill/>
                  </a:tcPr>
                </a:tc>
                <a:tc>
                  <a:txBody>
                    <a:bodyPr/>
                    <a:lstStyle/>
                    <a:p>
                      <a:pPr>
                        <a:buNone/>
                      </a:pPr>
                      <a:r>
                        <a:rPr lang="ar-SA" sz="2400"/>
                        <a:t>يستطيع إزالة الفرص المخالفة لسياسة المنصة من العرض العام.</a:t>
                      </a:r>
                    </a:p>
                  </a:txBody>
                  <a:tcPr marL="53065" marR="53065" marT="26533" marB="26533" anchor="ctr">
                    <a:lnL>
                      <a:noFill/>
                    </a:lnL>
                    <a:lnR>
                      <a:noFill/>
                    </a:lnR>
                    <a:lnT>
                      <a:noFill/>
                    </a:lnT>
                    <a:lnB>
                      <a:noFill/>
                    </a:lnB>
                    <a:noFill/>
                  </a:tcPr>
                </a:tc>
                <a:extLst>
                  <a:ext uri="{0D108BD9-81ED-4DB2-BD59-A6C34878D82A}">
                    <a16:rowId xmlns:a16="http://schemas.microsoft.com/office/drawing/2014/main" val="1492550864"/>
                  </a:ext>
                </a:extLst>
              </a:tr>
              <a:tr h="726933">
                <a:tc>
                  <a:txBody>
                    <a:bodyPr/>
                    <a:lstStyle/>
                    <a:p>
                      <a:pPr>
                        <a:buNone/>
                      </a:pPr>
                      <a:r>
                        <a:rPr lang="en-US" sz="1000"/>
                        <a:t>FR-38</a:t>
                      </a:r>
                    </a:p>
                  </a:txBody>
                  <a:tcPr marL="53065" marR="53065" marT="26533" marB="26533" anchor="ctr">
                    <a:lnL>
                      <a:noFill/>
                    </a:lnL>
                    <a:lnR>
                      <a:noFill/>
                    </a:lnR>
                    <a:lnT>
                      <a:noFill/>
                    </a:lnT>
                    <a:lnB>
                      <a:noFill/>
                    </a:lnB>
                    <a:noFill/>
                  </a:tcPr>
                </a:tc>
                <a:tc>
                  <a:txBody>
                    <a:bodyPr/>
                    <a:lstStyle/>
                    <a:p>
                      <a:pPr>
                        <a:buNone/>
                      </a:pPr>
                      <a:r>
                        <a:rPr lang="ar-SA" sz="2400"/>
                        <a:t>إدارة المجالات التطوعية</a:t>
                      </a:r>
                    </a:p>
                  </a:txBody>
                  <a:tcPr marL="53065" marR="53065" marT="26533" marB="26533" anchor="ctr">
                    <a:lnL>
                      <a:noFill/>
                    </a:lnL>
                    <a:lnR>
                      <a:noFill/>
                    </a:lnR>
                    <a:lnT>
                      <a:noFill/>
                    </a:lnT>
                    <a:lnB>
                      <a:noFill/>
                    </a:lnB>
                    <a:noFill/>
                  </a:tcPr>
                </a:tc>
                <a:tc>
                  <a:txBody>
                    <a:bodyPr/>
                    <a:lstStyle/>
                    <a:p>
                      <a:pPr>
                        <a:buNone/>
                      </a:pPr>
                      <a:r>
                        <a:rPr lang="ar-SA" sz="2400"/>
                        <a:t>يستطيع إضافة المجالات التطوعية أو تعديلها أو حذفها عند عدم استخدامها.</a:t>
                      </a:r>
                    </a:p>
                  </a:txBody>
                  <a:tcPr marL="53065" marR="53065" marT="26533" marB="26533" anchor="ctr">
                    <a:lnL>
                      <a:noFill/>
                    </a:lnL>
                    <a:lnR>
                      <a:noFill/>
                    </a:lnR>
                    <a:lnT>
                      <a:noFill/>
                    </a:lnT>
                    <a:lnB>
                      <a:noFill/>
                    </a:lnB>
                    <a:noFill/>
                  </a:tcPr>
                </a:tc>
                <a:extLst>
                  <a:ext uri="{0D108BD9-81ED-4DB2-BD59-A6C34878D82A}">
                    <a16:rowId xmlns:a16="http://schemas.microsoft.com/office/drawing/2014/main" val="3633211081"/>
                  </a:ext>
                </a:extLst>
              </a:tr>
              <a:tr h="726933">
                <a:tc>
                  <a:txBody>
                    <a:bodyPr/>
                    <a:lstStyle/>
                    <a:p>
                      <a:pPr>
                        <a:buNone/>
                      </a:pPr>
                      <a:r>
                        <a:rPr lang="en-US" sz="1000"/>
                        <a:t>FR-39</a:t>
                      </a:r>
                    </a:p>
                  </a:txBody>
                  <a:tcPr marL="53065" marR="53065" marT="26533" marB="26533" anchor="ctr">
                    <a:lnL>
                      <a:noFill/>
                    </a:lnL>
                    <a:lnR>
                      <a:noFill/>
                    </a:lnR>
                    <a:lnT>
                      <a:noFill/>
                    </a:lnT>
                    <a:lnB>
                      <a:noFill/>
                    </a:lnB>
                    <a:noFill/>
                  </a:tcPr>
                </a:tc>
                <a:tc>
                  <a:txBody>
                    <a:bodyPr/>
                    <a:lstStyle/>
                    <a:p>
                      <a:pPr>
                        <a:buNone/>
                      </a:pPr>
                      <a:r>
                        <a:rPr lang="ar-SA" sz="2400"/>
                        <a:t>عرض التقارير والإحصائيات</a:t>
                      </a:r>
                    </a:p>
                  </a:txBody>
                  <a:tcPr marL="53065" marR="53065" marT="26533" marB="26533" anchor="ctr">
                    <a:lnL>
                      <a:noFill/>
                    </a:lnL>
                    <a:lnR>
                      <a:noFill/>
                    </a:lnR>
                    <a:lnT>
                      <a:noFill/>
                    </a:lnT>
                    <a:lnB>
                      <a:noFill/>
                    </a:lnB>
                    <a:noFill/>
                  </a:tcPr>
                </a:tc>
                <a:tc>
                  <a:txBody>
                    <a:bodyPr/>
                    <a:lstStyle/>
                    <a:p>
                      <a:pPr>
                        <a:buNone/>
                      </a:pPr>
                      <a:r>
                        <a:rPr lang="ar-SA" sz="2400" dirty="0"/>
                        <a:t>يستطيع الاطلاع على أعداد المستخدمين والمؤسسات والفرص والتسجيلات.</a:t>
                      </a:r>
                    </a:p>
                  </a:txBody>
                  <a:tcPr marL="53065" marR="53065" marT="26533" marB="26533" anchor="ctr">
                    <a:lnL>
                      <a:noFill/>
                    </a:lnL>
                    <a:lnR>
                      <a:noFill/>
                    </a:lnR>
                    <a:lnT>
                      <a:noFill/>
                    </a:lnT>
                    <a:lnB>
                      <a:noFill/>
                    </a:lnB>
                    <a:noFill/>
                  </a:tcPr>
                </a:tc>
                <a:extLst>
                  <a:ext uri="{0D108BD9-81ED-4DB2-BD59-A6C34878D82A}">
                    <a16:rowId xmlns:a16="http://schemas.microsoft.com/office/drawing/2014/main" val="620737529"/>
                  </a:ext>
                </a:extLst>
              </a:tr>
              <a:tr h="461643">
                <a:tc>
                  <a:txBody>
                    <a:bodyPr/>
                    <a:lstStyle/>
                    <a:p>
                      <a:pPr>
                        <a:buNone/>
                      </a:pPr>
                      <a:r>
                        <a:rPr lang="en-US" sz="1000"/>
                        <a:t>FR-40</a:t>
                      </a:r>
                    </a:p>
                  </a:txBody>
                  <a:tcPr marL="53065" marR="53065" marT="26533" marB="26533" anchor="ctr">
                    <a:lnL>
                      <a:noFill/>
                    </a:lnL>
                    <a:lnR>
                      <a:noFill/>
                    </a:lnR>
                    <a:lnT>
                      <a:noFill/>
                    </a:lnT>
                    <a:lnB>
                      <a:noFill/>
                    </a:lnB>
                    <a:noFill/>
                  </a:tcPr>
                </a:tc>
                <a:tc>
                  <a:txBody>
                    <a:bodyPr/>
                    <a:lstStyle/>
                    <a:p>
                      <a:pPr>
                        <a:buNone/>
                      </a:pPr>
                      <a:r>
                        <a:rPr lang="ar-SA" sz="2400" dirty="0"/>
                        <a:t>مراجعة التقييمات</a:t>
                      </a:r>
                    </a:p>
                  </a:txBody>
                  <a:tcPr marL="53065" marR="53065" marT="26533" marB="26533" anchor="ctr">
                    <a:lnL>
                      <a:noFill/>
                    </a:lnL>
                    <a:lnR>
                      <a:noFill/>
                    </a:lnR>
                    <a:lnT>
                      <a:noFill/>
                    </a:lnT>
                    <a:lnB>
                      <a:noFill/>
                    </a:lnB>
                    <a:noFill/>
                  </a:tcPr>
                </a:tc>
                <a:tc>
                  <a:txBody>
                    <a:bodyPr/>
                    <a:lstStyle/>
                    <a:p>
                      <a:pPr>
                        <a:buNone/>
                      </a:pPr>
                      <a:r>
                        <a:rPr lang="ar-SA" sz="2400" dirty="0"/>
                        <a:t>يستطيع مراجعة التقييمات المبلّغ عنها واتخاذ الإجراء المناسب.</a:t>
                      </a:r>
                    </a:p>
                  </a:txBody>
                  <a:tcPr marL="53065" marR="53065" marT="26533" marB="26533" anchor="ctr">
                    <a:lnL>
                      <a:noFill/>
                    </a:lnL>
                    <a:lnR>
                      <a:noFill/>
                    </a:lnR>
                    <a:lnT>
                      <a:noFill/>
                    </a:lnT>
                    <a:lnB>
                      <a:noFill/>
                    </a:lnB>
                    <a:noFill/>
                  </a:tcPr>
                </a:tc>
                <a:extLst>
                  <a:ext uri="{0D108BD9-81ED-4DB2-BD59-A6C34878D82A}">
                    <a16:rowId xmlns:a16="http://schemas.microsoft.com/office/drawing/2014/main" val="4016736883"/>
                  </a:ext>
                </a:extLst>
              </a:tr>
            </a:tbl>
          </a:graphicData>
        </a:graphic>
      </p:graphicFrame>
      <p:sp>
        <p:nvSpPr>
          <p:cNvPr id="3" name="Slide Number Placeholder 2">
            <a:extLst>
              <a:ext uri="{FF2B5EF4-FFF2-40B4-BE49-F238E27FC236}">
                <a16:creationId xmlns:a16="http://schemas.microsoft.com/office/drawing/2014/main" id="{ABADFB3B-3F1C-0A3E-4F00-8EA0175AD858}"/>
              </a:ext>
            </a:extLst>
          </p:cNvPr>
          <p:cNvSpPr>
            <a:spLocks noGrp="1"/>
          </p:cNvSpPr>
          <p:nvPr>
            <p:ph type="sldNum" sz="quarter" idx="12"/>
          </p:nvPr>
        </p:nvSpPr>
        <p:spPr/>
        <p:txBody>
          <a:bodyPr/>
          <a:lstStyle/>
          <a:p>
            <a:fld id="{3EB37142-BB67-4B06-93E6-8D10723F8802}" type="slidenum">
              <a:rPr lang="en-US" smtClean="0"/>
              <a:t>9</a:t>
            </a:fld>
            <a:endParaRPr lang="en-US" dirty="0"/>
          </a:p>
        </p:txBody>
      </p:sp>
    </p:spTree>
    <p:extLst>
      <p:ext uri="{BB962C8B-B14F-4D97-AF65-F5344CB8AC3E}">
        <p14:creationId xmlns:p14="http://schemas.microsoft.com/office/powerpoint/2010/main" val="3033864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80ED6-B331-335A-4C82-476DCEB5008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E779E2F-B70F-D0A2-6287-DA91B6CE972C}"/>
              </a:ext>
            </a:extLst>
          </p:cNvPr>
          <p:cNvSpPr txBox="1">
            <a:spLocks/>
          </p:cNvSpPr>
          <p:nvPr/>
        </p:nvSpPr>
        <p:spPr>
          <a:xfrm>
            <a:off x="8476162" y="-272966"/>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المتطلبات غير الوظيفية :</a:t>
            </a:r>
            <a:endParaRPr lang="en-US" sz="3200" dirty="0"/>
          </a:p>
        </p:txBody>
      </p:sp>
      <p:sp>
        <p:nvSpPr>
          <p:cNvPr id="10" name="Title 1">
            <a:extLst>
              <a:ext uri="{FF2B5EF4-FFF2-40B4-BE49-F238E27FC236}">
                <a16:creationId xmlns:a16="http://schemas.microsoft.com/office/drawing/2014/main" id="{81CD4E39-BFCD-D894-8551-0584DE69999C}"/>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3" name="Table 2">
            <a:extLst>
              <a:ext uri="{FF2B5EF4-FFF2-40B4-BE49-F238E27FC236}">
                <a16:creationId xmlns:a16="http://schemas.microsoft.com/office/drawing/2014/main" id="{1F1F21B5-3B4B-E842-0033-B918469DB13B}"/>
              </a:ext>
            </a:extLst>
          </p:cNvPr>
          <p:cNvGraphicFramePr>
            <a:graphicFrameLocks noGrp="1"/>
          </p:cNvGraphicFramePr>
          <p:nvPr>
            <p:extLst>
              <p:ext uri="{D42A27DB-BD31-4B8C-83A1-F6EECF244321}">
                <p14:modId xmlns:p14="http://schemas.microsoft.com/office/powerpoint/2010/main" val="102748867"/>
              </p:ext>
            </p:extLst>
          </p:nvPr>
        </p:nvGraphicFramePr>
        <p:xfrm>
          <a:off x="296172" y="850232"/>
          <a:ext cx="11199906" cy="5893038"/>
        </p:xfrm>
        <a:graphic>
          <a:graphicData uri="http://schemas.openxmlformats.org/drawingml/2006/table">
            <a:tbl>
              <a:tblPr/>
              <a:tblGrid>
                <a:gridCol w="1179702">
                  <a:extLst>
                    <a:ext uri="{9D8B030D-6E8A-4147-A177-3AD203B41FA5}">
                      <a16:colId xmlns:a16="http://schemas.microsoft.com/office/drawing/2014/main" val="394878062"/>
                    </a:ext>
                  </a:extLst>
                </a:gridCol>
                <a:gridCol w="1876926">
                  <a:extLst>
                    <a:ext uri="{9D8B030D-6E8A-4147-A177-3AD203B41FA5}">
                      <a16:colId xmlns:a16="http://schemas.microsoft.com/office/drawing/2014/main" val="876537289"/>
                    </a:ext>
                  </a:extLst>
                </a:gridCol>
                <a:gridCol w="8143278">
                  <a:extLst>
                    <a:ext uri="{9D8B030D-6E8A-4147-A177-3AD203B41FA5}">
                      <a16:colId xmlns:a16="http://schemas.microsoft.com/office/drawing/2014/main" val="1432593704"/>
                    </a:ext>
                  </a:extLst>
                </a:gridCol>
              </a:tblGrid>
              <a:tr h="433315">
                <a:tc>
                  <a:txBody>
                    <a:bodyPr/>
                    <a:lstStyle/>
                    <a:p>
                      <a:pPr>
                        <a:buNone/>
                      </a:pPr>
                      <a:r>
                        <a:rPr lang="ar-SA" sz="2400" b="1" dirty="0"/>
                        <a:t>لرمز</a:t>
                      </a:r>
                    </a:p>
                  </a:txBody>
                  <a:tcPr marL="80580" marR="80580" marT="40290" marB="40290" anchor="ctr">
                    <a:lnL>
                      <a:noFill/>
                    </a:lnL>
                    <a:lnR>
                      <a:noFill/>
                    </a:lnR>
                    <a:lnT>
                      <a:noFill/>
                    </a:lnT>
                    <a:lnB>
                      <a:noFill/>
                    </a:lnB>
                    <a:noFill/>
                  </a:tcPr>
                </a:tc>
                <a:tc>
                  <a:txBody>
                    <a:bodyPr/>
                    <a:lstStyle/>
                    <a:p>
                      <a:pPr>
                        <a:buNone/>
                      </a:pPr>
                      <a:r>
                        <a:rPr lang="ar-SA" sz="2400" b="1"/>
                        <a:t>المتطلب</a:t>
                      </a:r>
                    </a:p>
                  </a:txBody>
                  <a:tcPr marL="80580" marR="80580" marT="40290" marB="40290" anchor="ctr">
                    <a:lnL>
                      <a:noFill/>
                    </a:lnL>
                    <a:lnR>
                      <a:noFill/>
                    </a:lnR>
                    <a:lnT>
                      <a:noFill/>
                    </a:lnT>
                    <a:lnB>
                      <a:noFill/>
                    </a:lnB>
                    <a:noFill/>
                  </a:tcPr>
                </a:tc>
                <a:tc>
                  <a:txBody>
                    <a:bodyPr/>
                    <a:lstStyle/>
                    <a:p>
                      <a:pPr>
                        <a:buNone/>
                      </a:pPr>
                      <a:r>
                        <a:rPr lang="ar-SA" sz="2400" b="1" dirty="0"/>
                        <a:t>الوصف</a:t>
                      </a:r>
                    </a:p>
                  </a:txBody>
                  <a:tcPr marL="80580" marR="80580" marT="40290" marB="40290" anchor="ctr">
                    <a:lnL>
                      <a:noFill/>
                    </a:lnL>
                    <a:lnR>
                      <a:noFill/>
                    </a:lnR>
                    <a:lnT>
                      <a:noFill/>
                    </a:lnT>
                    <a:lnB>
                      <a:noFill/>
                    </a:lnB>
                    <a:noFill/>
                  </a:tcPr>
                </a:tc>
                <a:extLst>
                  <a:ext uri="{0D108BD9-81ED-4DB2-BD59-A6C34878D82A}">
                    <a16:rowId xmlns:a16="http://schemas.microsoft.com/office/drawing/2014/main" val="1011452965"/>
                  </a:ext>
                </a:extLst>
              </a:tr>
              <a:tr h="759003">
                <a:tc>
                  <a:txBody>
                    <a:bodyPr/>
                    <a:lstStyle/>
                    <a:p>
                      <a:pPr>
                        <a:buNone/>
                      </a:pPr>
                      <a:r>
                        <a:rPr lang="en-US" sz="1600"/>
                        <a:t>NFR-01</a:t>
                      </a:r>
                    </a:p>
                  </a:txBody>
                  <a:tcPr marL="80580" marR="80580" marT="40290" marB="40290" anchor="ctr">
                    <a:lnL>
                      <a:noFill/>
                    </a:lnL>
                    <a:lnR>
                      <a:noFill/>
                    </a:lnR>
                    <a:lnT>
                      <a:noFill/>
                    </a:lnT>
                    <a:lnB>
                      <a:noFill/>
                    </a:lnB>
                    <a:noFill/>
                  </a:tcPr>
                </a:tc>
                <a:tc>
                  <a:txBody>
                    <a:bodyPr/>
                    <a:lstStyle/>
                    <a:p>
                      <a:pPr>
                        <a:buNone/>
                      </a:pPr>
                      <a:r>
                        <a:rPr lang="ar-SA" sz="2400"/>
                        <a:t>الأمان</a:t>
                      </a:r>
                    </a:p>
                  </a:txBody>
                  <a:tcPr marL="80580" marR="80580" marT="40290" marB="40290" anchor="ctr">
                    <a:lnL>
                      <a:noFill/>
                    </a:lnL>
                    <a:lnR>
                      <a:noFill/>
                    </a:lnR>
                    <a:lnT>
                      <a:noFill/>
                    </a:lnT>
                    <a:lnB>
                      <a:noFill/>
                    </a:lnB>
                    <a:noFill/>
                  </a:tcPr>
                </a:tc>
                <a:tc>
                  <a:txBody>
                    <a:bodyPr/>
                    <a:lstStyle/>
                    <a:p>
                      <a:pPr>
                        <a:buNone/>
                      </a:pPr>
                      <a:r>
                        <a:rPr lang="ar-SA" sz="2400"/>
                        <a:t>حماية الحسابات والتحقق من صلاحيات المستخدم قبل تنفيذ العمليات.</a:t>
                      </a:r>
                    </a:p>
                  </a:txBody>
                  <a:tcPr marL="80580" marR="80580" marT="40290" marB="40290" anchor="ctr">
                    <a:lnL>
                      <a:noFill/>
                    </a:lnL>
                    <a:lnR>
                      <a:noFill/>
                    </a:lnR>
                    <a:lnT>
                      <a:noFill/>
                    </a:lnT>
                    <a:lnB>
                      <a:noFill/>
                    </a:lnB>
                    <a:noFill/>
                  </a:tcPr>
                </a:tc>
                <a:extLst>
                  <a:ext uri="{0D108BD9-81ED-4DB2-BD59-A6C34878D82A}">
                    <a16:rowId xmlns:a16="http://schemas.microsoft.com/office/drawing/2014/main" val="2999289739"/>
                  </a:ext>
                </a:extLst>
              </a:tr>
              <a:tr h="759003">
                <a:tc>
                  <a:txBody>
                    <a:bodyPr/>
                    <a:lstStyle/>
                    <a:p>
                      <a:pPr>
                        <a:buNone/>
                      </a:pPr>
                      <a:r>
                        <a:rPr lang="en-US" sz="1600"/>
                        <a:t>NFR-02</a:t>
                      </a:r>
                    </a:p>
                  </a:txBody>
                  <a:tcPr marL="80580" marR="80580" marT="40290" marB="40290" anchor="ctr">
                    <a:lnL>
                      <a:noFill/>
                    </a:lnL>
                    <a:lnR>
                      <a:noFill/>
                    </a:lnR>
                    <a:lnT>
                      <a:noFill/>
                    </a:lnT>
                    <a:lnB>
                      <a:noFill/>
                    </a:lnB>
                    <a:noFill/>
                  </a:tcPr>
                </a:tc>
                <a:tc>
                  <a:txBody>
                    <a:bodyPr/>
                    <a:lstStyle/>
                    <a:p>
                      <a:pPr>
                        <a:buNone/>
                      </a:pPr>
                      <a:r>
                        <a:rPr lang="ar-SA" sz="2400"/>
                        <a:t>الخصوصية</a:t>
                      </a:r>
                    </a:p>
                  </a:txBody>
                  <a:tcPr marL="80580" marR="80580" marT="40290" marB="40290" anchor="ctr">
                    <a:lnL>
                      <a:noFill/>
                    </a:lnL>
                    <a:lnR>
                      <a:noFill/>
                    </a:lnR>
                    <a:lnT>
                      <a:noFill/>
                    </a:lnT>
                    <a:lnB>
                      <a:noFill/>
                    </a:lnB>
                    <a:noFill/>
                  </a:tcPr>
                </a:tc>
                <a:tc>
                  <a:txBody>
                    <a:bodyPr/>
                    <a:lstStyle/>
                    <a:p>
                      <a:pPr>
                        <a:buNone/>
                      </a:pPr>
                      <a:r>
                        <a:rPr lang="ar-SA" sz="2400"/>
                        <a:t>حماية البيانات الشخصية وعدم إتاحتها لغير المصرح لهم.</a:t>
                      </a:r>
                    </a:p>
                  </a:txBody>
                  <a:tcPr marL="80580" marR="80580" marT="40290" marB="40290" anchor="ctr">
                    <a:lnL>
                      <a:noFill/>
                    </a:lnL>
                    <a:lnR>
                      <a:noFill/>
                    </a:lnR>
                    <a:lnT>
                      <a:noFill/>
                    </a:lnT>
                    <a:lnB>
                      <a:noFill/>
                    </a:lnB>
                    <a:noFill/>
                  </a:tcPr>
                </a:tc>
                <a:extLst>
                  <a:ext uri="{0D108BD9-81ED-4DB2-BD59-A6C34878D82A}">
                    <a16:rowId xmlns:a16="http://schemas.microsoft.com/office/drawing/2014/main" val="3941838050"/>
                  </a:ext>
                </a:extLst>
              </a:tr>
              <a:tr h="433315">
                <a:tc>
                  <a:txBody>
                    <a:bodyPr/>
                    <a:lstStyle/>
                    <a:p>
                      <a:pPr>
                        <a:buNone/>
                      </a:pPr>
                      <a:r>
                        <a:rPr lang="en-US" sz="1600"/>
                        <a:t>NFR-03</a:t>
                      </a:r>
                    </a:p>
                  </a:txBody>
                  <a:tcPr marL="80580" marR="80580" marT="40290" marB="40290" anchor="ctr">
                    <a:lnL>
                      <a:noFill/>
                    </a:lnL>
                    <a:lnR>
                      <a:noFill/>
                    </a:lnR>
                    <a:lnT>
                      <a:noFill/>
                    </a:lnT>
                    <a:lnB>
                      <a:noFill/>
                    </a:lnB>
                    <a:noFill/>
                  </a:tcPr>
                </a:tc>
                <a:tc>
                  <a:txBody>
                    <a:bodyPr/>
                    <a:lstStyle/>
                    <a:p>
                      <a:pPr>
                        <a:buNone/>
                      </a:pPr>
                      <a:r>
                        <a:rPr lang="ar-SA" sz="2400"/>
                        <a:t>سهولة الاستخدام</a:t>
                      </a:r>
                    </a:p>
                  </a:txBody>
                  <a:tcPr marL="80580" marR="80580" marT="40290" marB="40290" anchor="ctr">
                    <a:lnL>
                      <a:noFill/>
                    </a:lnL>
                    <a:lnR>
                      <a:noFill/>
                    </a:lnR>
                    <a:lnT>
                      <a:noFill/>
                    </a:lnT>
                    <a:lnB>
                      <a:noFill/>
                    </a:lnB>
                    <a:noFill/>
                  </a:tcPr>
                </a:tc>
                <a:tc>
                  <a:txBody>
                    <a:bodyPr/>
                    <a:lstStyle/>
                    <a:p>
                      <a:pPr>
                        <a:buNone/>
                      </a:pPr>
                      <a:r>
                        <a:rPr lang="ar-SA" sz="2400"/>
                        <a:t>توفير واجهات واضحة وسهلة التعلم والتنقل.</a:t>
                      </a:r>
                    </a:p>
                  </a:txBody>
                  <a:tcPr marL="80580" marR="80580" marT="40290" marB="40290" anchor="ctr">
                    <a:lnL>
                      <a:noFill/>
                    </a:lnL>
                    <a:lnR>
                      <a:noFill/>
                    </a:lnR>
                    <a:lnT>
                      <a:noFill/>
                    </a:lnT>
                    <a:lnB>
                      <a:noFill/>
                    </a:lnB>
                    <a:noFill/>
                  </a:tcPr>
                </a:tc>
                <a:extLst>
                  <a:ext uri="{0D108BD9-81ED-4DB2-BD59-A6C34878D82A}">
                    <a16:rowId xmlns:a16="http://schemas.microsoft.com/office/drawing/2014/main" val="1958154218"/>
                  </a:ext>
                </a:extLst>
              </a:tr>
              <a:tr h="759003">
                <a:tc>
                  <a:txBody>
                    <a:bodyPr/>
                    <a:lstStyle/>
                    <a:p>
                      <a:pPr>
                        <a:buNone/>
                      </a:pPr>
                      <a:r>
                        <a:rPr lang="en-US" sz="1600"/>
                        <a:t>NFR-04</a:t>
                      </a:r>
                    </a:p>
                  </a:txBody>
                  <a:tcPr marL="80580" marR="80580" marT="40290" marB="40290" anchor="ctr">
                    <a:lnL>
                      <a:noFill/>
                    </a:lnL>
                    <a:lnR>
                      <a:noFill/>
                    </a:lnR>
                    <a:lnT>
                      <a:noFill/>
                    </a:lnT>
                    <a:lnB>
                      <a:noFill/>
                    </a:lnB>
                    <a:noFill/>
                  </a:tcPr>
                </a:tc>
                <a:tc>
                  <a:txBody>
                    <a:bodyPr/>
                    <a:lstStyle/>
                    <a:p>
                      <a:pPr>
                        <a:buNone/>
                      </a:pPr>
                      <a:r>
                        <a:rPr lang="ar-SA" sz="2400"/>
                        <a:t>الأداء</a:t>
                      </a:r>
                    </a:p>
                  </a:txBody>
                  <a:tcPr marL="80580" marR="80580" marT="40290" marB="40290" anchor="ctr">
                    <a:lnL>
                      <a:noFill/>
                    </a:lnL>
                    <a:lnR>
                      <a:noFill/>
                    </a:lnR>
                    <a:lnT>
                      <a:noFill/>
                    </a:lnT>
                    <a:lnB>
                      <a:noFill/>
                    </a:lnB>
                    <a:noFill/>
                  </a:tcPr>
                </a:tc>
                <a:tc>
                  <a:txBody>
                    <a:bodyPr/>
                    <a:lstStyle/>
                    <a:p>
                      <a:pPr>
                        <a:buNone/>
                      </a:pPr>
                      <a:r>
                        <a:rPr lang="ar-SA" sz="2400" dirty="0"/>
                        <a:t>عرض الصفحات ونتائج البحث خلال زمن استجابة مناسب.</a:t>
                      </a:r>
                    </a:p>
                  </a:txBody>
                  <a:tcPr marL="80580" marR="80580" marT="40290" marB="40290" anchor="ctr">
                    <a:lnL>
                      <a:noFill/>
                    </a:lnL>
                    <a:lnR>
                      <a:noFill/>
                    </a:lnR>
                    <a:lnT>
                      <a:noFill/>
                    </a:lnT>
                    <a:lnB>
                      <a:noFill/>
                    </a:lnB>
                    <a:noFill/>
                  </a:tcPr>
                </a:tc>
                <a:extLst>
                  <a:ext uri="{0D108BD9-81ED-4DB2-BD59-A6C34878D82A}">
                    <a16:rowId xmlns:a16="http://schemas.microsoft.com/office/drawing/2014/main" val="830269280"/>
                  </a:ext>
                </a:extLst>
              </a:tr>
              <a:tr h="759003">
                <a:tc>
                  <a:txBody>
                    <a:bodyPr/>
                    <a:lstStyle/>
                    <a:p>
                      <a:pPr>
                        <a:buNone/>
                      </a:pPr>
                      <a:r>
                        <a:rPr lang="en-US" sz="1600"/>
                        <a:t>NFR-05</a:t>
                      </a:r>
                    </a:p>
                  </a:txBody>
                  <a:tcPr marL="80580" marR="80580" marT="40290" marB="40290" anchor="ctr">
                    <a:lnL>
                      <a:noFill/>
                    </a:lnL>
                    <a:lnR>
                      <a:noFill/>
                    </a:lnR>
                    <a:lnT>
                      <a:noFill/>
                    </a:lnT>
                    <a:lnB>
                      <a:noFill/>
                    </a:lnB>
                    <a:noFill/>
                  </a:tcPr>
                </a:tc>
                <a:tc>
                  <a:txBody>
                    <a:bodyPr/>
                    <a:lstStyle/>
                    <a:p>
                      <a:pPr>
                        <a:buNone/>
                      </a:pPr>
                      <a:r>
                        <a:rPr lang="ar-SA" sz="2400"/>
                        <a:t>سلامة البيانات</a:t>
                      </a:r>
                    </a:p>
                  </a:txBody>
                  <a:tcPr marL="80580" marR="80580" marT="40290" marB="40290" anchor="ctr">
                    <a:lnL>
                      <a:noFill/>
                    </a:lnL>
                    <a:lnR>
                      <a:noFill/>
                    </a:lnR>
                    <a:lnT>
                      <a:noFill/>
                    </a:lnT>
                    <a:lnB>
                      <a:noFill/>
                    </a:lnB>
                    <a:noFill/>
                  </a:tcPr>
                </a:tc>
                <a:tc>
                  <a:txBody>
                    <a:bodyPr/>
                    <a:lstStyle/>
                    <a:p>
                      <a:pPr>
                        <a:buNone/>
                      </a:pPr>
                      <a:r>
                        <a:rPr lang="ar-SA" sz="2400" dirty="0"/>
                        <a:t>منع التسجيل المكرر والتحقق من سعة الفرصة وصحة البيانات.</a:t>
                      </a:r>
                    </a:p>
                  </a:txBody>
                  <a:tcPr marL="80580" marR="80580" marT="40290" marB="40290" anchor="ctr">
                    <a:lnL>
                      <a:noFill/>
                    </a:lnL>
                    <a:lnR>
                      <a:noFill/>
                    </a:lnR>
                    <a:lnT>
                      <a:noFill/>
                    </a:lnT>
                    <a:lnB>
                      <a:noFill/>
                    </a:lnB>
                    <a:noFill/>
                  </a:tcPr>
                </a:tc>
                <a:extLst>
                  <a:ext uri="{0D108BD9-81ED-4DB2-BD59-A6C34878D82A}">
                    <a16:rowId xmlns:a16="http://schemas.microsoft.com/office/drawing/2014/main" val="1760330109"/>
                  </a:ext>
                </a:extLst>
              </a:tr>
              <a:tr h="759003">
                <a:tc>
                  <a:txBody>
                    <a:bodyPr/>
                    <a:lstStyle/>
                    <a:p>
                      <a:pPr>
                        <a:buNone/>
                      </a:pPr>
                      <a:r>
                        <a:rPr lang="en-US" sz="1600"/>
                        <a:t>NFR-06</a:t>
                      </a:r>
                    </a:p>
                  </a:txBody>
                  <a:tcPr marL="80580" marR="80580" marT="40290" marB="40290" anchor="ctr">
                    <a:lnL>
                      <a:noFill/>
                    </a:lnL>
                    <a:lnR>
                      <a:noFill/>
                    </a:lnR>
                    <a:lnT>
                      <a:noFill/>
                    </a:lnT>
                    <a:lnB>
                      <a:noFill/>
                    </a:lnB>
                    <a:noFill/>
                  </a:tcPr>
                </a:tc>
                <a:tc>
                  <a:txBody>
                    <a:bodyPr/>
                    <a:lstStyle/>
                    <a:p>
                      <a:pPr>
                        <a:buNone/>
                      </a:pPr>
                      <a:r>
                        <a:rPr lang="ar-SA" sz="2400"/>
                        <a:t>قابلية الصيانة</a:t>
                      </a:r>
                    </a:p>
                  </a:txBody>
                  <a:tcPr marL="80580" marR="80580" marT="40290" marB="40290" anchor="ctr">
                    <a:lnL>
                      <a:noFill/>
                    </a:lnL>
                    <a:lnR>
                      <a:noFill/>
                    </a:lnR>
                    <a:lnT>
                      <a:noFill/>
                    </a:lnT>
                    <a:lnB>
                      <a:noFill/>
                    </a:lnB>
                    <a:noFill/>
                  </a:tcPr>
                </a:tc>
                <a:tc>
                  <a:txBody>
                    <a:bodyPr/>
                    <a:lstStyle/>
                    <a:p>
                      <a:pPr>
                        <a:buNone/>
                      </a:pPr>
                      <a:r>
                        <a:rPr lang="ar-SA" sz="2400"/>
                        <a:t>تنظيم النظام في طبقات لتسهيل تطويره وصيانته.</a:t>
                      </a:r>
                    </a:p>
                  </a:txBody>
                  <a:tcPr marL="80580" marR="80580" marT="40290" marB="40290" anchor="ctr">
                    <a:lnL>
                      <a:noFill/>
                    </a:lnL>
                    <a:lnR>
                      <a:noFill/>
                    </a:lnR>
                    <a:lnT>
                      <a:noFill/>
                    </a:lnT>
                    <a:lnB>
                      <a:noFill/>
                    </a:lnB>
                    <a:noFill/>
                  </a:tcPr>
                </a:tc>
                <a:extLst>
                  <a:ext uri="{0D108BD9-81ED-4DB2-BD59-A6C34878D82A}">
                    <a16:rowId xmlns:a16="http://schemas.microsoft.com/office/drawing/2014/main" val="517837984"/>
                  </a:ext>
                </a:extLst>
              </a:tr>
              <a:tr h="433315">
                <a:tc>
                  <a:txBody>
                    <a:bodyPr/>
                    <a:lstStyle/>
                    <a:p>
                      <a:pPr>
                        <a:buNone/>
                      </a:pPr>
                      <a:r>
                        <a:rPr lang="en-US" sz="1600"/>
                        <a:t>NFR-07</a:t>
                      </a:r>
                    </a:p>
                  </a:txBody>
                  <a:tcPr marL="80580" marR="80580" marT="40290" marB="40290" anchor="ctr">
                    <a:lnL>
                      <a:noFill/>
                    </a:lnL>
                    <a:lnR>
                      <a:noFill/>
                    </a:lnR>
                    <a:lnT>
                      <a:noFill/>
                    </a:lnT>
                    <a:lnB>
                      <a:noFill/>
                    </a:lnB>
                    <a:noFill/>
                  </a:tcPr>
                </a:tc>
                <a:tc>
                  <a:txBody>
                    <a:bodyPr/>
                    <a:lstStyle/>
                    <a:p>
                      <a:pPr>
                        <a:buNone/>
                      </a:pPr>
                      <a:r>
                        <a:rPr lang="ar-SA" sz="2400"/>
                        <a:t>التوافق</a:t>
                      </a:r>
                    </a:p>
                  </a:txBody>
                  <a:tcPr marL="80580" marR="80580" marT="40290" marB="40290" anchor="ctr">
                    <a:lnL>
                      <a:noFill/>
                    </a:lnL>
                    <a:lnR>
                      <a:noFill/>
                    </a:lnR>
                    <a:lnT>
                      <a:noFill/>
                    </a:lnT>
                    <a:lnB>
                      <a:noFill/>
                    </a:lnB>
                    <a:noFill/>
                  </a:tcPr>
                </a:tc>
                <a:tc>
                  <a:txBody>
                    <a:bodyPr/>
                    <a:lstStyle/>
                    <a:p>
                      <a:pPr>
                        <a:buNone/>
                      </a:pPr>
                      <a:r>
                        <a:rPr lang="ar-SA" sz="2400"/>
                        <a:t>دعم المتصفحات الحديثة والشاشات المختلفة.</a:t>
                      </a:r>
                    </a:p>
                  </a:txBody>
                  <a:tcPr marL="80580" marR="80580" marT="40290" marB="40290" anchor="ctr">
                    <a:lnL>
                      <a:noFill/>
                    </a:lnL>
                    <a:lnR>
                      <a:noFill/>
                    </a:lnR>
                    <a:lnT>
                      <a:noFill/>
                    </a:lnT>
                    <a:lnB>
                      <a:noFill/>
                    </a:lnB>
                    <a:noFill/>
                  </a:tcPr>
                </a:tc>
                <a:extLst>
                  <a:ext uri="{0D108BD9-81ED-4DB2-BD59-A6C34878D82A}">
                    <a16:rowId xmlns:a16="http://schemas.microsoft.com/office/drawing/2014/main" val="663960507"/>
                  </a:ext>
                </a:extLst>
              </a:tr>
              <a:tr h="759003">
                <a:tc>
                  <a:txBody>
                    <a:bodyPr/>
                    <a:lstStyle/>
                    <a:p>
                      <a:pPr>
                        <a:buNone/>
                      </a:pPr>
                      <a:r>
                        <a:rPr lang="en-US" sz="1600"/>
                        <a:t>NFR-08</a:t>
                      </a:r>
                    </a:p>
                  </a:txBody>
                  <a:tcPr marL="80580" marR="80580" marT="40290" marB="40290" anchor="ctr">
                    <a:lnL>
                      <a:noFill/>
                    </a:lnL>
                    <a:lnR>
                      <a:noFill/>
                    </a:lnR>
                    <a:lnT>
                      <a:noFill/>
                    </a:lnT>
                    <a:lnB>
                      <a:noFill/>
                    </a:lnB>
                    <a:noFill/>
                  </a:tcPr>
                </a:tc>
                <a:tc>
                  <a:txBody>
                    <a:bodyPr/>
                    <a:lstStyle/>
                    <a:p>
                      <a:pPr>
                        <a:buNone/>
                      </a:pPr>
                      <a:r>
                        <a:rPr lang="ar-SA" sz="2400" dirty="0"/>
                        <a:t>الاعتمادية</a:t>
                      </a:r>
                    </a:p>
                  </a:txBody>
                  <a:tcPr marL="80580" marR="80580" marT="40290" marB="40290" anchor="ctr">
                    <a:lnL>
                      <a:noFill/>
                    </a:lnL>
                    <a:lnR>
                      <a:noFill/>
                    </a:lnR>
                    <a:lnT>
                      <a:noFill/>
                    </a:lnT>
                    <a:lnB>
                      <a:noFill/>
                    </a:lnB>
                    <a:noFill/>
                  </a:tcPr>
                </a:tc>
                <a:tc>
                  <a:txBody>
                    <a:bodyPr/>
                    <a:lstStyle/>
                    <a:p>
                      <a:pPr>
                        <a:buNone/>
                      </a:pPr>
                      <a:r>
                        <a:rPr lang="ar-SA" sz="2400" dirty="0"/>
                        <a:t>معالجة الأخطاء والمحافظة على اتساق البيانات.</a:t>
                      </a:r>
                    </a:p>
                  </a:txBody>
                  <a:tcPr marL="80580" marR="80580" marT="40290" marB="40290" anchor="ctr">
                    <a:lnL>
                      <a:noFill/>
                    </a:lnL>
                    <a:lnR>
                      <a:noFill/>
                    </a:lnR>
                    <a:lnT>
                      <a:noFill/>
                    </a:lnT>
                    <a:lnB>
                      <a:noFill/>
                    </a:lnB>
                    <a:noFill/>
                  </a:tcPr>
                </a:tc>
                <a:extLst>
                  <a:ext uri="{0D108BD9-81ED-4DB2-BD59-A6C34878D82A}">
                    <a16:rowId xmlns:a16="http://schemas.microsoft.com/office/drawing/2014/main" val="3366926133"/>
                  </a:ext>
                </a:extLst>
              </a:tr>
            </a:tbl>
          </a:graphicData>
        </a:graphic>
      </p:graphicFrame>
      <p:sp>
        <p:nvSpPr>
          <p:cNvPr id="2" name="Slide Number Placeholder 1">
            <a:extLst>
              <a:ext uri="{FF2B5EF4-FFF2-40B4-BE49-F238E27FC236}">
                <a16:creationId xmlns:a16="http://schemas.microsoft.com/office/drawing/2014/main" id="{A53DC2E1-2917-99B7-DA79-A28E0B3E2CC4}"/>
              </a:ext>
            </a:extLst>
          </p:cNvPr>
          <p:cNvSpPr>
            <a:spLocks noGrp="1"/>
          </p:cNvSpPr>
          <p:nvPr>
            <p:ph type="sldNum" sz="quarter" idx="12"/>
          </p:nvPr>
        </p:nvSpPr>
        <p:spPr/>
        <p:txBody>
          <a:bodyPr/>
          <a:lstStyle/>
          <a:p>
            <a:fld id="{3EB37142-BB67-4B06-93E6-8D10723F8802}" type="slidenum">
              <a:rPr lang="en-US" smtClean="0"/>
              <a:t>10</a:t>
            </a:fld>
            <a:endParaRPr lang="en-US" dirty="0"/>
          </a:p>
        </p:txBody>
      </p:sp>
    </p:spTree>
    <p:extLst>
      <p:ext uri="{BB962C8B-B14F-4D97-AF65-F5344CB8AC3E}">
        <p14:creationId xmlns:p14="http://schemas.microsoft.com/office/powerpoint/2010/main" val="1082778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8EBCC-ECFA-9B87-7227-2E91A2B5761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E5913FE-A3C2-8848-B342-4878984740B6}"/>
              </a:ext>
            </a:extLst>
          </p:cNvPr>
          <p:cNvSpPr txBox="1">
            <a:spLocks/>
          </p:cNvSpPr>
          <p:nvPr/>
        </p:nvSpPr>
        <p:spPr>
          <a:xfrm>
            <a:off x="8476162" y="-272966"/>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جدول الصلاحيات :</a:t>
            </a:r>
            <a:endParaRPr lang="en-US" sz="3200" dirty="0"/>
          </a:p>
        </p:txBody>
      </p:sp>
      <p:sp>
        <p:nvSpPr>
          <p:cNvPr id="10" name="Title 1">
            <a:extLst>
              <a:ext uri="{FF2B5EF4-FFF2-40B4-BE49-F238E27FC236}">
                <a16:creationId xmlns:a16="http://schemas.microsoft.com/office/drawing/2014/main" id="{339D70B7-7F9D-B02F-E31C-4F5BFBD2A937}"/>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78FBAD7E-9333-71D5-DA63-6C8500870C17}"/>
              </a:ext>
            </a:extLst>
          </p:cNvPr>
          <p:cNvGraphicFramePr>
            <a:graphicFrameLocks noGrp="1"/>
          </p:cNvGraphicFramePr>
          <p:nvPr>
            <p:extLst>
              <p:ext uri="{D42A27DB-BD31-4B8C-83A1-F6EECF244321}">
                <p14:modId xmlns:p14="http://schemas.microsoft.com/office/powerpoint/2010/main" val="3369003681"/>
              </p:ext>
            </p:extLst>
          </p:nvPr>
        </p:nvGraphicFramePr>
        <p:xfrm>
          <a:off x="497305" y="580572"/>
          <a:ext cx="11398524" cy="6162976"/>
        </p:xfrm>
        <a:graphic>
          <a:graphicData uri="http://schemas.openxmlformats.org/drawingml/2006/table">
            <a:tbl>
              <a:tblPr/>
              <a:tblGrid>
                <a:gridCol w="3457682">
                  <a:extLst>
                    <a:ext uri="{9D8B030D-6E8A-4147-A177-3AD203B41FA5}">
                      <a16:colId xmlns:a16="http://schemas.microsoft.com/office/drawing/2014/main" val="2818789929"/>
                    </a:ext>
                  </a:extLst>
                </a:gridCol>
                <a:gridCol w="1491915">
                  <a:extLst>
                    <a:ext uri="{9D8B030D-6E8A-4147-A177-3AD203B41FA5}">
                      <a16:colId xmlns:a16="http://schemas.microsoft.com/office/drawing/2014/main" val="2191595355"/>
                    </a:ext>
                  </a:extLst>
                </a:gridCol>
                <a:gridCol w="1443790">
                  <a:extLst>
                    <a:ext uri="{9D8B030D-6E8A-4147-A177-3AD203B41FA5}">
                      <a16:colId xmlns:a16="http://schemas.microsoft.com/office/drawing/2014/main" val="1813191148"/>
                    </a:ext>
                  </a:extLst>
                </a:gridCol>
                <a:gridCol w="5005137">
                  <a:extLst>
                    <a:ext uri="{9D8B030D-6E8A-4147-A177-3AD203B41FA5}">
                      <a16:colId xmlns:a16="http://schemas.microsoft.com/office/drawing/2014/main" val="3378679848"/>
                    </a:ext>
                  </a:extLst>
                </a:gridCol>
              </a:tblGrid>
              <a:tr h="471048">
                <a:tc>
                  <a:txBody>
                    <a:bodyPr/>
                    <a:lstStyle/>
                    <a:p>
                      <a:pPr>
                        <a:buNone/>
                      </a:pPr>
                      <a:r>
                        <a:rPr lang="ar-SA" sz="2800" b="1"/>
                        <a:t>العملية</a:t>
                      </a:r>
                    </a:p>
                  </a:txBody>
                  <a:tcPr marL="83680" marR="83680" marT="41840" marB="41840" anchor="ctr">
                    <a:lnL>
                      <a:noFill/>
                    </a:lnL>
                    <a:lnR>
                      <a:noFill/>
                    </a:lnR>
                    <a:lnT>
                      <a:noFill/>
                    </a:lnT>
                    <a:lnB>
                      <a:noFill/>
                    </a:lnB>
                    <a:noFill/>
                  </a:tcPr>
                </a:tc>
                <a:tc>
                  <a:txBody>
                    <a:bodyPr/>
                    <a:lstStyle/>
                    <a:p>
                      <a:pPr>
                        <a:buNone/>
                      </a:pPr>
                      <a:r>
                        <a:rPr lang="ar-SA" sz="2800" b="1"/>
                        <a:t>المتطوع</a:t>
                      </a:r>
                    </a:p>
                  </a:txBody>
                  <a:tcPr marL="83680" marR="83680" marT="41840" marB="41840" anchor="ctr">
                    <a:lnL>
                      <a:noFill/>
                    </a:lnL>
                    <a:lnR>
                      <a:noFill/>
                    </a:lnR>
                    <a:lnT>
                      <a:noFill/>
                    </a:lnT>
                    <a:lnB>
                      <a:noFill/>
                    </a:lnB>
                    <a:noFill/>
                  </a:tcPr>
                </a:tc>
                <a:tc>
                  <a:txBody>
                    <a:bodyPr/>
                    <a:lstStyle/>
                    <a:p>
                      <a:pPr>
                        <a:buNone/>
                      </a:pPr>
                      <a:r>
                        <a:rPr lang="ar-SA" sz="2800" b="1" dirty="0"/>
                        <a:t>المؤسسة</a:t>
                      </a:r>
                    </a:p>
                  </a:txBody>
                  <a:tcPr marL="83680" marR="83680" marT="41840" marB="41840" anchor="ctr">
                    <a:lnL>
                      <a:noFill/>
                    </a:lnL>
                    <a:lnR>
                      <a:noFill/>
                    </a:lnR>
                    <a:lnT>
                      <a:noFill/>
                    </a:lnT>
                    <a:lnB>
                      <a:noFill/>
                    </a:lnB>
                    <a:noFill/>
                  </a:tcPr>
                </a:tc>
                <a:tc>
                  <a:txBody>
                    <a:bodyPr/>
                    <a:lstStyle/>
                    <a:p>
                      <a:pPr>
                        <a:buNone/>
                      </a:pPr>
                      <a:r>
                        <a:rPr lang="ar-SA" sz="2800" b="1" dirty="0"/>
                        <a:t>المدير</a:t>
                      </a:r>
                    </a:p>
                  </a:txBody>
                  <a:tcPr marL="83680" marR="83680" marT="41840" marB="41840" anchor="ctr">
                    <a:lnL>
                      <a:noFill/>
                    </a:lnL>
                    <a:lnR>
                      <a:noFill/>
                    </a:lnR>
                    <a:lnT>
                      <a:noFill/>
                    </a:lnT>
                    <a:lnB>
                      <a:noFill/>
                    </a:lnB>
                    <a:noFill/>
                  </a:tcPr>
                </a:tc>
                <a:extLst>
                  <a:ext uri="{0D108BD9-81ED-4DB2-BD59-A6C34878D82A}">
                    <a16:rowId xmlns:a16="http://schemas.microsoft.com/office/drawing/2014/main" val="2803529542"/>
                  </a:ext>
                </a:extLst>
              </a:tr>
              <a:tr h="471048">
                <a:tc>
                  <a:txBody>
                    <a:bodyPr/>
                    <a:lstStyle/>
                    <a:p>
                      <a:pPr>
                        <a:buNone/>
                      </a:pPr>
                      <a:r>
                        <a:rPr lang="ar-SA" sz="2400"/>
                        <a:t>إنشاء حساب</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497462255"/>
                  </a:ext>
                </a:extLst>
              </a:tr>
              <a:tr h="471048">
                <a:tc>
                  <a:txBody>
                    <a:bodyPr/>
                    <a:lstStyle/>
                    <a:p>
                      <a:pPr>
                        <a:buNone/>
                      </a:pPr>
                      <a:r>
                        <a:rPr lang="ar-SA" sz="2400"/>
                        <a:t>تسجيل الدخول والخروج</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1739596744"/>
                  </a:ext>
                </a:extLst>
              </a:tr>
              <a:tr h="471048">
                <a:tc>
                  <a:txBody>
                    <a:bodyPr/>
                    <a:lstStyle/>
                    <a:p>
                      <a:pPr>
                        <a:buNone/>
                      </a:pPr>
                      <a:r>
                        <a:rPr lang="ar-SA" sz="2400"/>
                        <a:t>البحث عن الفرص</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2823612766"/>
                  </a:ext>
                </a:extLst>
              </a:tr>
              <a:tr h="471048">
                <a:tc>
                  <a:txBody>
                    <a:bodyPr/>
                    <a:lstStyle/>
                    <a:p>
                      <a:pPr>
                        <a:buNone/>
                      </a:pPr>
                      <a:r>
                        <a:rPr lang="ar-SA" sz="2400"/>
                        <a:t>تعديل الملف الشخصي</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dirty="0"/>
                        <a:t>✓</a:t>
                      </a:r>
                    </a:p>
                  </a:txBody>
                  <a:tcPr marL="83680" marR="83680" marT="41840" marB="41840" anchor="ctr">
                    <a:lnL>
                      <a:noFill/>
                    </a:lnL>
                    <a:lnR>
                      <a:noFill/>
                    </a:lnR>
                    <a:lnT>
                      <a:noFill/>
                    </a:lnT>
                    <a:lnB>
                      <a:noFill/>
                    </a:lnB>
                    <a:noFill/>
                  </a:tcPr>
                </a:tc>
                <a:tc>
                  <a:txBody>
                    <a:bodyPr/>
                    <a:lstStyle/>
                    <a:p>
                      <a:pPr>
                        <a:buNone/>
                      </a:pPr>
                      <a:r>
                        <a:rPr lang="ar-SA" sz="2000"/>
                        <a:t>وفق الصلاحية</a:t>
                      </a:r>
                    </a:p>
                  </a:txBody>
                  <a:tcPr marL="83680" marR="83680" marT="41840" marB="41840" anchor="ctr">
                    <a:lnL>
                      <a:noFill/>
                    </a:lnL>
                    <a:lnR>
                      <a:noFill/>
                    </a:lnR>
                    <a:lnT>
                      <a:noFill/>
                    </a:lnT>
                    <a:lnB>
                      <a:noFill/>
                    </a:lnB>
                    <a:noFill/>
                  </a:tcPr>
                </a:tc>
                <a:extLst>
                  <a:ext uri="{0D108BD9-81ED-4DB2-BD59-A6C34878D82A}">
                    <a16:rowId xmlns:a16="http://schemas.microsoft.com/office/drawing/2014/main" val="3286131973"/>
                  </a:ext>
                </a:extLst>
              </a:tr>
              <a:tr h="471048">
                <a:tc>
                  <a:txBody>
                    <a:bodyPr/>
                    <a:lstStyle/>
                    <a:p>
                      <a:pPr>
                        <a:buNone/>
                      </a:pPr>
                      <a:r>
                        <a:rPr lang="ar-SA" sz="2400"/>
                        <a:t>إنشاء فرصة تطوعية</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ar-SA" sz="2000"/>
                        <a:t>إشراف</a:t>
                      </a:r>
                    </a:p>
                  </a:txBody>
                  <a:tcPr marL="83680" marR="83680" marT="41840" marB="41840" anchor="ctr">
                    <a:lnL>
                      <a:noFill/>
                    </a:lnL>
                    <a:lnR>
                      <a:noFill/>
                    </a:lnR>
                    <a:lnT>
                      <a:noFill/>
                    </a:lnT>
                    <a:lnB>
                      <a:noFill/>
                    </a:lnB>
                    <a:noFill/>
                  </a:tcPr>
                </a:tc>
                <a:extLst>
                  <a:ext uri="{0D108BD9-81ED-4DB2-BD59-A6C34878D82A}">
                    <a16:rowId xmlns:a16="http://schemas.microsoft.com/office/drawing/2014/main" val="3869431036"/>
                  </a:ext>
                </a:extLst>
              </a:tr>
              <a:tr h="471048">
                <a:tc>
                  <a:txBody>
                    <a:bodyPr/>
                    <a:lstStyle/>
                    <a:p>
                      <a:pPr>
                        <a:buNone/>
                      </a:pPr>
                      <a:r>
                        <a:rPr lang="ar-SA" sz="2400"/>
                        <a:t>تعديل فرص المؤسسة</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ar-SA" sz="2000"/>
                        <a:t>إشراف</a:t>
                      </a:r>
                    </a:p>
                  </a:txBody>
                  <a:tcPr marL="83680" marR="83680" marT="41840" marB="41840" anchor="ctr">
                    <a:lnL>
                      <a:noFill/>
                    </a:lnL>
                    <a:lnR>
                      <a:noFill/>
                    </a:lnR>
                    <a:lnT>
                      <a:noFill/>
                    </a:lnT>
                    <a:lnB>
                      <a:noFill/>
                    </a:lnB>
                    <a:noFill/>
                  </a:tcPr>
                </a:tc>
                <a:extLst>
                  <a:ext uri="{0D108BD9-81ED-4DB2-BD59-A6C34878D82A}">
                    <a16:rowId xmlns:a16="http://schemas.microsoft.com/office/drawing/2014/main" val="2519570984"/>
                  </a:ext>
                </a:extLst>
              </a:tr>
              <a:tr h="471048">
                <a:tc>
                  <a:txBody>
                    <a:bodyPr/>
                    <a:lstStyle/>
                    <a:p>
                      <a:pPr>
                        <a:buNone/>
                      </a:pPr>
                      <a:r>
                        <a:rPr lang="ar-SA" sz="2400"/>
                        <a:t>التسجيل في فرصة</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4151400760"/>
                  </a:ext>
                </a:extLst>
              </a:tr>
              <a:tr h="471048">
                <a:tc>
                  <a:txBody>
                    <a:bodyPr/>
                    <a:lstStyle/>
                    <a:p>
                      <a:pPr>
                        <a:buNone/>
                      </a:pPr>
                      <a:r>
                        <a:rPr lang="ar-SA" sz="2400"/>
                        <a:t>قبول أو رفض طلبات التسجيل</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2609287332"/>
                  </a:ext>
                </a:extLst>
              </a:tr>
              <a:tr h="471048">
                <a:tc>
                  <a:txBody>
                    <a:bodyPr/>
                    <a:lstStyle/>
                    <a:p>
                      <a:pPr>
                        <a:buNone/>
                      </a:pPr>
                      <a:r>
                        <a:rPr lang="ar-SA" sz="2400"/>
                        <a:t>اعتماد المؤسسات</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1416693433"/>
                  </a:ext>
                </a:extLst>
              </a:tr>
              <a:tr h="471048">
                <a:tc>
                  <a:txBody>
                    <a:bodyPr/>
                    <a:lstStyle/>
                    <a:p>
                      <a:pPr>
                        <a:buNone/>
                      </a:pPr>
                      <a:r>
                        <a:rPr lang="ar-SA" sz="2400"/>
                        <a:t>إدارة حسابات المستخدمين</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2357416834"/>
                  </a:ext>
                </a:extLst>
              </a:tr>
              <a:tr h="471048">
                <a:tc>
                  <a:txBody>
                    <a:bodyPr/>
                    <a:lstStyle/>
                    <a:p>
                      <a:pPr>
                        <a:buNone/>
                      </a:pPr>
                      <a:r>
                        <a:rPr lang="ar-SA" sz="2400"/>
                        <a:t>إدارة التصنيفات</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en-US" sz="2000" dirty="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869760419"/>
                  </a:ext>
                </a:extLst>
              </a:tr>
              <a:tr h="471048">
                <a:tc>
                  <a:txBody>
                    <a:bodyPr/>
                    <a:lstStyle/>
                    <a:p>
                      <a:pPr>
                        <a:buNone/>
                      </a:pPr>
                      <a:r>
                        <a:rPr lang="ar-SA" sz="2400" dirty="0"/>
                        <a:t>عرض التقارير الإدارية</a:t>
                      </a:r>
                    </a:p>
                  </a:txBody>
                  <a:tcPr marL="83680" marR="83680" marT="41840" marB="41840" anchor="ctr">
                    <a:lnL>
                      <a:noFill/>
                    </a:lnL>
                    <a:lnR>
                      <a:noFill/>
                    </a:lnR>
                    <a:lnT>
                      <a:noFill/>
                    </a:lnT>
                    <a:lnB>
                      <a:noFill/>
                    </a:lnB>
                    <a:noFill/>
                  </a:tcPr>
                </a:tc>
                <a:tc>
                  <a:txBody>
                    <a:bodyPr/>
                    <a:lstStyle/>
                    <a:p>
                      <a:pPr>
                        <a:buNone/>
                      </a:pPr>
                      <a:r>
                        <a:rPr lang="en-US" sz="2000"/>
                        <a:t>—</a:t>
                      </a:r>
                    </a:p>
                  </a:txBody>
                  <a:tcPr marL="83680" marR="83680" marT="41840" marB="41840" anchor="ctr">
                    <a:lnL>
                      <a:noFill/>
                    </a:lnL>
                    <a:lnR>
                      <a:noFill/>
                    </a:lnR>
                    <a:lnT>
                      <a:noFill/>
                    </a:lnT>
                    <a:lnB>
                      <a:noFill/>
                    </a:lnB>
                    <a:noFill/>
                  </a:tcPr>
                </a:tc>
                <a:tc>
                  <a:txBody>
                    <a:bodyPr/>
                    <a:lstStyle/>
                    <a:p>
                      <a:pPr>
                        <a:buNone/>
                      </a:pPr>
                      <a:r>
                        <a:rPr lang="ar-SA" sz="2000"/>
                        <a:t>تقارير مؤسسته</a:t>
                      </a:r>
                    </a:p>
                  </a:txBody>
                  <a:tcPr marL="83680" marR="83680" marT="41840" marB="41840" anchor="ctr">
                    <a:lnL>
                      <a:noFill/>
                    </a:lnL>
                    <a:lnR>
                      <a:noFill/>
                    </a:lnR>
                    <a:lnT>
                      <a:noFill/>
                    </a:lnT>
                    <a:lnB>
                      <a:noFill/>
                    </a:lnB>
                    <a:noFill/>
                  </a:tcPr>
                </a:tc>
                <a:tc>
                  <a:txBody>
                    <a:bodyPr/>
                    <a:lstStyle/>
                    <a:p>
                      <a:pPr>
                        <a:buNone/>
                      </a:pPr>
                      <a:r>
                        <a:rPr lang="en-US" sz="2000" dirty="0"/>
                        <a:t>✓</a:t>
                      </a:r>
                    </a:p>
                  </a:txBody>
                  <a:tcPr marL="83680" marR="83680" marT="41840" marB="41840" anchor="ctr">
                    <a:lnL>
                      <a:noFill/>
                    </a:lnL>
                    <a:lnR>
                      <a:noFill/>
                    </a:lnR>
                    <a:lnT>
                      <a:noFill/>
                    </a:lnT>
                    <a:lnB>
                      <a:noFill/>
                    </a:lnB>
                    <a:noFill/>
                  </a:tcPr>
                </a:tc>
                <a:extLst>
                  <a:ext uri="{0D108BD9-81ED-4DB2-BD59-A6C34878D82A}">
                    <a16:rowId xmlns:a16="http://schemas.microsoft.com/office/drawing/2014/main" val="903262697"/>
                  </a:ext>
                </a:extLst>
              </a:tr>
            </a:tbl>
          </a:graphicData>
        </a:graphic>
      </p:graphicFrame>
      <p:sp>
        <p:nvSpPr>
          <p:cNvPr id="3" name="Slide Number Placeholder 2">
            <a:extLst>
              <a:ext uri="{FF2B5EF4-FFF2-40B4-BE49-F238E27FC236}">
                <a16:creationId xmlns:a16="http://schemas.microsoft.com/office/drawing/2014/main" id="{12D8D6BC-317A-CBB8-376C-9EE26270C098}"/>
              </a:ext>
            </a:extLst>
          </p:cNvPr>
          <p:cNvSpPr>
            <a:spLocks noGrp="1"/>
          </p:cNvSpPr>
          <p:nvPr>
            <p:ph type="sldNum" sz="quarter" idx="12"/>
          </p:nvPr>
        </p:nvSpPr>
        <p:spPr/>
        <p:txBody>
          <a:bodyPr/>
          <a:lstStyle/>
          <a:p>
            <a:fld id="{3EB37142-BB67-4B06-93E6-8D10723F8802}" type="slidenum">
              <a:rPr lang="en-US" smtClean="0"/>
              <a:t>11</a:t>
            </a:fld>
            <a:endParaRPr lang="en-US" dirty="0"/>
          </a:p>
        </p:txBody>
      </p:sp>
    </p:spTree>
    <p:extLst>
      <p:ext uri="{BB962C8B-B14F-4D97-AF65-F5344CB8AC3E}">
        <p14:creationId xmlns:p14="http://schemas.microsoft.com/office/powerpoint/2010/main" val="82140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25DF8-F074-6599-2803-077DA56CE0D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BC3354C-2C4B-B638-B9EF-55FE7219B1B9}"/>
              </a:ext>
            </a:extLst>
          </p:cNvPr>
          <p:cNvSpPr txBox="1">
            <a:spLocks/>
          </p:cNvSpPr>
          <p:nvPr/>
        </p:nvSpPr>
        <p:spPr>
          <a:xfrm>
            <a:off x="7234989" y="368718"/>
            <a:ext cx="4436251"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000" dirty="0"/>
              <a:t>منهجية تطوير النظام :</a:t>
            </a:r>
            <a:endParaRPr lang="en-US" sz="4000" dirty="0"/>
          </a:p>
        </p:txBody>
      </p:sp>
      <p:sp>
        <p:nvSpPr>
          <p:cNvPr id="10" name="Title 1">
            <a:extLst>
              <a:ext uri="{FF2B5EF4-FFF2-40B4-BE49-F238E27FC236}">
                <a16:creationId xmlns:a16="http://schemas.microsoft.com/office/drawing/2014/main" id="{F34F0300-AAA9-A276-15D0-6A20EBBC4C32}"/>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3" name="Title 1">
            <a:extLst>
              <a:ext uri="{FF2B5EF4-FFF2-40B4-BE49-F238E27FC236}">
                <a16:creationId xmlns:a16="http://schemas.microsoft.com/office/drawing/2014/main" id="{70C211B8-444C-9589-D263-4CC367E307F7}"/>
              </a:ext>
            </a:extLst>
          </p:cNvPr>
          <p:cNvSpPr txBox="1">
            <a:spLocks/>
          </p:cNvSpPr>
          <p:nvPr/>
        </p:nvSpPr>
        <p:spPr>
          <a:xfrm>
            <a:off x="0" y="1411705"/>
            <a:ext cx="11671240" cy="303195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سيعتمد المشروع على منهجية </a:t>
            </a:r>
            <a:r>
              <a:rPr lang="en-US" sz="3200" dirty="0"/>
              <a:t>Agile</a:t>
            </a:r>
            <a:endParaRPr lang="ar-SA" sz="3200" dirty="0"/>
          </a:p>
          <a:p>
            <a:pPr algn="r"/>
            <a:r>
              <a:rPr lang="ar-SA" sz="3200" dirty="0"/>
              <a:t>لتنظيم العمل على مراحل قصيرة، بحيث تُقسّم المهام إلى أجزاء قابلة للتحليل والتصميم والتنفيذ والاختبار والمراجعة.</a:t>
            </a:r>
          </a:p>
          <a:p>
            <a:pPr algn="r"/>
            <a:endParaRPr lang="ar-SA" sz="3200" dirty="0"/>
          </a:p>
          <a:p>
            <a:pPr algn="r"/>
            <a:r>
              <a:rPr lang="ar-SA" sz="3200" dirty="0"/>
              <a:t>تتميز هذه المنهجية بالمرونة وإمكانية مراجعة المخرجات وتحسينها بناءً على الملاحظات.</a:t>
            </a:r>
          </a:p>
          <a:p>
            <a:pPr algn="r" rtl="1"/>
            <a:endParaRPr lang="en-US" sz="3200" dirty="0"/>
          </a:p>
        </p:txBody>
      </p:sp>
      <p:sp>
        <p:nvSpPr>
          <p:cNvPr id="2" name="Slide Number Placeholder 1">
            <a:extLst>
              <a:ext uri="{FF2B5EF4-FFF2-40B4-BE49-F238E27FC236}">
                <a16:creationId xmlns:a16="http://schemas.microsoft.com/office/drawing/2014/main" id="{09D23928-E3CB-71D3-C726-7701818CED0F}"/>
              </a:ext>
            </a:extLst>
          </p:cNvPr>
          <p:cNvSpPr>
            <a:spLocks noGrp="1"/>
          </p:cNvSpPr>
          <p:nvPr>
            <p:ph type="sldNum" sz="quarter" idx="12"/>
          </p:nvPr>
        </p:nvSpPr>
        <p:spPr/>
        <p:txBody>
          <a:bodyPr/>
          <a:lstStyle/>
          <a:p>
            <a:fld id="{3EB37142-BB67-4B06-93E6-8D10723F8802}" type="slidenum">
              <a:rPr lang="en-US" smtClean="0"/>
              <a:t>12</a:t>
            </a:fld>
            <a:endParaRPr lang="en-US" dirty="0"/>
          </a:p>
        </p:txBody>
      </p:sp>
    </p:spTree>
    <p:extLst>
      <p:ext uri="{BB962C8B-B14F-4D97-AF65-F5344CB8AC3E}">
        <p14:creationId xmlns:p14="http://schemas.microsoft.com/office/powerpoint/2010/main" val="3016847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10CB1-3207-E05F-CD1B-D487D7BCAD2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B6256D6-5E67-A0EF-A781-93BD382A7A37}"/>
              </a:ext>
            </a:extLst>
          </p:cNvPr>
          <p:cNvSpPr txBox="1">
            <a:spLocks/>
          </p:cNvSpPr>
          <p:nvPr/>
        </p:nvSpPr>
        <p:spPr>
          <a:xfrm>
            <a:off x="7490181" y="795488"/>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معمارية النظام :</a:t>
            </a:r>
            <a:endParaRPr lang="en-US" sz="4400" dirty="0"/>
          </a:p>
        </p:txBody>
      </p:sp>
      <p:sp>
        <p:nvSpPr>
          <p:cNvPr id="10" name="Title 1">
            <a:extLst>
              <a:ext uri="{FF2B5EF4-FFF2-40B4-BE49-F238E27FC236}">
                <a16:creationId xmlns:a16="http://schemas.microsoft.com/office/drawing/2014/main" id="{B6119E6F-C818-D83F-66CF-F01110CC576D}"/>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3" name="Title 1">
            <a:extLst>
              <a:ext uri="{FF2B5EF4-FFF2-40B4-BE49-F238E27FC236}">
                <a16:creationId xmlns:a16="http://schemas.microsoft.com/office/drawing/2014/main" id="{346F7CDF-9238-9F92-1ADE-7C1678C87D7E}"/>
              </a:ext>
            </a:extLst>
          </p:cNvPr>
          <p:cNvSpPr txBox="1">
            <a:spLocks/>
          </p:cNvSpPr>
          <p:nvPr/>
        </p:nvSpPr>
        <p:spPr>
          <a:xfrm>
            <a:off x="-1" y="1222258"/>
            <a:ext cx="11895829" cy="370266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سيتم اعتماد المعمارية الطبقية</a:t>
            </a:r>
            <a:r>
              <a:rPr lang="en-US" sz="3200" dirty="0"/>
              <a:t>Layered Architecture) </a:t>
            </a:r>
            <a:r>
              <a:rPr lang="ar-SA" sz="3200" dirty="0"/>
              <a:t>) في تصميم النظام، </a:t>
            </a:r>
          </a:p>
          <a:p>
            <a:pPr algn="r" rtl="1"/>
            <a:r>
              <a:rPr lang="ar-SA" sz="3200" dirty="0"/>
              <a:t>وهي أسلوب لتنظيم التطبيق في طبقات منفصلة، بحيث تكون لكل طبقة مسؤولية محددة، وتتعاون الطبقات لتنفيذ طلب المستخدم، </a:t>
            </a:r>
          </a:p>
          <a:p>
            <a:pPr algn="r" rtl="1"/>
            <a:r>
              <a:rPr lang="ar-SA" sz="3200" dirty="0"/>
              <a:t>مما يسهل التطوير والصيانة والاختبار</a:t>
            </a:r>
          </a:p>
          <a:p>
            <a:pPr algn="r" rtl="1"/>
            <a:r>
              <a:rPr lang="ar-SA" sz="3200" dirty="0"/>
              <a:t>وتقليل الترابط بين المكونات، وتسهيل اكتشاف الأخطاء، وإمكانية تطوير وظائف جديدة دون إعادة بناء النظام بالكامل</a:t>
            </a:r>
            <a:endParaRPr lang="en-US" sz="3200" dirty="0"/>
          </a:p>
        </p:txBody>
      </p:sp>
      <p:sp>
        <p:nvSpPr>
          <p:cNvPr id="2" name="Slide Number Placeholder 1">
            <a:extLst>
              <a:ext uri="{FF2B5EF4-FFF2-40B4-BE49-F238E27FC236}">
                <a16:creationId xmlns:a16="http://schemas.microsoft.com/office/drawing/2014/main" id="{C3C1E0B9-CF01-39D4-6D8B-B1825AB774DB}"/>
              </a:ext>
            </a:extLst>
          </p:cNvPr>
          <p:cNvSpPr>
            <a:spLocks noGrp="1"/>
          </p:cNvSpPr>
          <p:nvPr>
            <p:ph type="sldNum" sz="quarter" idx="12"/>
          </p:nvPr>
        </p:nvSpPr>
        <p:spPr/>
        <p:txBody>
          <a:bodyPr/>
          <a:lstStyle/>
          <a:p>
            <a:fld id="{3EB37142-BB67-4B06-93E6-8D10723F8802}" type="slidenum">
              <a:rPr lang="en-US" smtClean="0"/>
              <a:t>13</a:t>
            </a:fld>
            <a:endParaRPr lang="en-US" dirty="0"/>
          </a:p>
        </p:txBody>
      </p:sp>
    </p:spTree>
    <p:extLst>
      <p:ext uri="{BB962C8B-B14F-4D97-AF65-F5344CB8AC3E}">
        <p14:creationId xmlns:p14="http://schemas.microsoft.com/office/powerpoint/2010/main" val="2656150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4B55D-C6D9-F8C2-B730-07D93B3C76D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F8EC6A4-0919-F4CE-F172-8F413683830D}"/>
              </a:ext>
            </a:extLst>
          </p:cNvPr>
          <p:cNvSpPr txBox="1">
            <a:spLocks/>
          </p:cNvSpPr>
          <p:nvPr/>
        </p:nvSpPr>
        <p:spPr>
          <a:xfrm>
            <a:off x="7490181" y="795488"/>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معمارية النظام :</a:t>
            </a:r>
            <a:endParaRPr lang="en-US" sz="4400" dirty="0"/>
          </a:p>
        </p:txBody>
      </p:sp>
      <p:sp>
        <p:nvSpPr>
          <p:cNvPr id="10" name="Title 1">
            <a:extLst>
              <a:ext uri="{FF2B5EF4-FFF2-40B4-BE49-F238E27FC236}">
                <a16:creationId xmlns:a16="http://schemas.microsoft.com/office/drawing/2014/main" id="{5A6ABB01-1188-02A1-F4B0-CDCF7A7C262A}"/>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3" name="Title 1">
            <a:extLst>
              <a:ext uri="{FF2B5EF4-FFF2-40B4-BE49-F238E27FC236}">
                <a16:creationId xmlns:a16="http://schemas.microsoft.com/office/drawing/2014/main" id="{1782B24C-F6EF-3D8D-5175-32C4D557B688}"/>
              </a:ext>
            </a:extLst>
          </p:cNvPr>
          <p:cNvSpPr txBox="1">
            <a:spLocks/>
          </p:cNvSpPr>
          <p:nvPr/>
        </p:nvSpPr>
        <p:spPr>
          <a:xfrm>
            <a:off x="0" y="1818870"/>
            <a:ext cx="11895829" cy="4742351"/>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3200" b="1" dirty="0"/>
              <a:t> Presentation Layer </a:t>
            </a:r>
            <a:r>
              <a:rPr lang="en-US" sz="3200" dirty="0"/>
              <a:t> </a:t>
            </a:r>
            <a:r>
              <a:rPr lang="ar-SA" sz="3200" dirty="0"/>
              <a:t>طبقة العرض</a:t>
            </a:r>
            <a:r>
              <a:rPr lang="en-US" sz="3200" dirty="0"/>
              <a:t> </a:t>
            </a:r>
            <a:endParaRPr lang="ar-SA" sz="3200" dirty="0"/>
          </a:p>
          <a:p>
            <a:pPr algn="r" rtl="1"/>
            <a:r>
              <a:rPr lang="en-US" sz="3200" dirty="0"/>
              <a:t>HTML، CSS، </a:t>
            </a:r>
            <a:r>
              <a:rPr lang="ar-SA" sz="3200" dirty="0"/>
              <a:t>صفحات </a:t>
            </a:r>
            <a:r>
              <a:rPr lang="en-US" sz="3200" dirty="0"/>
              <a:t>PHP، </a:t>
            </a:r>
            <a:r>
              <a:rPr lang="ar-SA" sz="3200" dirty="0"/>
              <a:t>النماذج والجداول ولوحات التحكم</a:t>
            </a:r>
            <a:endParaRPr lang="en-US" sz="3200" dirty="0"/>
          </a:p>
          <a:p>
            <a:pPr algn="r" rtl="1"/>
            <a:endParaRPr lang="ar-SA" sz="3200" dirty="0"/>
          </a:p>
          <a:p>
            <a:pPr algn="r"/>
            <a:r>
              <a:rPr lang="en-US" sz="3200" b="1" dirty="0"/>
              <a:t>Business Logic Layer</a:t>
            </a:r>
            <a:r>
              <a:rPr lang="en-US" sz="3200" dirty="0"/>
              <a:t> </a:t>
            </a:r>
            <a:r>
              <a:rPr lang="ar-SA" sz="3200" dirty="0"/>
              <a:t>طبقة منطق الأعمال</a:t>
            </a:r>
          </a:p>
          <a:p>
            <a:pPr algn="r" rtl="1"/>
            <a:r>
              <a:rPr lang="ar-SA" sz="3200" dirty="0"/>
              <a:t>التحقق من المدخلات، والصلاحيات، والتسجيل، وقواعد المقاعد، والتوصية الذكية</a:t>
            </a:r>
          </a:p>
          <a:p>
            <a:pPr algn="r"/>
            <a:endParaRPr lang="en-US" sz="3200" b="1" dirty="0"/>
          </a:p>
          <a:p>
            <a:pPr algn="r"/>
            <a:r>
              <a:rPr lang="en-US" sz="3200" b="1" dirty="0"/>
              <a:t>Data Access Layer</a:t>
            </a:r>
            <a:r>
              <a:rPr lang="en-US" sz="3200" dirty="0"/>
              <a:t> </a:t>
            </a:r>
            <a:r>
              <a:rPr lang="ar-SA" sz="3200" dirty="0"/>
              <a:t>طبقة الوصول إلى البيانات</a:t>
            </a:r>
            <a:r>
              <a:rPr lang="en-US" sz="3200" dirty="0"/>
              <a:t> </a:t>
            </a:r>
            <a:endParaRPr lang="en-US" sz="3200" b="1" dirty="0"/>
          </a:p>
          <a:p>
            <a:pPr algn="r" rtl="1"/>
            <a:r>
              <a:rPr lang="ar-SA" sz="3200" dirty="0"/>
              <a:t>تنفيذ عمليات القراءة والإضافة والتعديل والحذف باستخدام </a:t>
            </a:r>
            <a:r>
              <a:rPr lang="en-US" sz="3200" dirty="0"/>
              <a:t>PDO </a:t>
            </a:r>
            <a:r>
              <a:rPr lang="ar-SA" sz="3200" dirty="0"/>
              <a:t>والاستعلامات المجهزة</a:t>
            </a:r>
          </a:p>
          <a:p>
            <a:pPr algn="r"/>
            <a:endParaRPr lang="en-US" sz="3200" b="1" dirty="0"/>
          </a:p>
          <a:p>
            <a:pPr algn="r"/>
            <a:r>
              <a:rPr lang="en-US" sz="3200" b="1" dirty="0"/>
              <a:t>Database</a:t>
            </a:r>
            <a:r>
              <a:rPr lang="ar-SA" sz="3200" dirty="0"/>
              <a:t>قاعدة بيانات </a:t>
            </a:r>
            <a:r>
              <a:rPr lang="en-US" sz="3200" dirty="0"/>
              <a:t>MySQL </a:t>
            </a:r>
            <a:endParaRPr lang="en-US" sz="3200" b="1" dirty="0"/>
          </a:p>
          <a:p>
            <a:pPr algn="r" rtl="1"/>
            <a:r>
              <a:rPr lang="ar-SA" sz="3200" dirty="0"/>
              <a:t>حفظ المستخدمين والمؤسسات والفرص والتسجيلات والتقييمات والتفاعلات</a:t>
            </a:r>
          </a:p>
          <a:p>
            <a:pPr algn="r" rtl="1"/>
            <a:endParaRPr lang="en-US" sz="3200" dirty="0"/>
          </a:p>
        </p:txBody>
      </p:sp>
      <p:sp>
        <p:nvSpPr>
          <p:cNvPr id="2" name="Slide Number Placeholder 1">
            <a:extLst>
              <a:ext uri="{FF2B5EF4-FFF2-40B4-BE49-F238E27FC236}">
                <a16:creationId xmlns:a16="http://schemas.microsoft.com/office/drawing/2014/main" id="{94A9D645-467D-36F1-68DB-478D4EF6E674}"/>
              </a:ext>
            </a:extLst>
          </p:cNvPr>
          <p:cNvSpPr>
            <a:spLocks noGrp="1"/>
          </p:cNvSpPr>
          <p:nvPr>
            <p:ph type="sldNum" sz="quarter" idx="12"/>
          </p:nvPr>
        </p:nvSpPr>
        <p:spPr/>
        <p:txBody>
          <a:bodyPr/>
          <a:lstStyle/>
          <a:p>
            <a:fld id="{3EB37142-BB67-4B06-93E6-8D10723F8802}" type="slidenum">
              <a:rPr lang="en-US" smtClean="0"/>
              <a:t>14</a:t>
            </a:fld>
            <a:endParaRPr lang="en-US" dirty="0"/>
          </a:p>
        </p:txBody>
      </p:sp>
    </p:spTree>
    <p:extLst>
      <p:ext uri="{BB962C8B-B14F-4D97-AF65-F5344CB8AC3E}">
        <p14:creationId xmlns:p14="http://schemas.microsoft.com/office/powerpoint/2010/main" val="1301070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59E5D-9BA1-482B-703D-1FFB8976B24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DE1FF1F-579F-7653-0EDB-2C0A573759CE}"/>
              </a:ext>
            </a:extLst>
          </p:cNvPr>
          <p:cNvSpPr txBox="1">
            <a:spLocks/>
          </p:cNvSpPr>
          <p:nvPr/>
        </p:nvSpPr>
        <p:spPr>
          <a:xfrm>
            <a:off x="7827066" y="210713"/>
            <a:ext cx="3715838" cy="8535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تحليل النظام :</a:t>
            </a:r>
            <a:endParaRPr lang="en-US" sz="4400" dirty="0"/>
          </a:p>
        </p:txBody>
      </p:sp>
      <p:sp>
        <p:nvSpPr>
          <p:cNvPr id="10" name="Title 1">
            <a:extLst>
              <a:ext uri="{FF2B5EF4-FFF2-40B4-BE49-F238E27FC236}">
                <a16:creationId xmlns:a16="http://schemas.microsoft.com/office/drawing/2014/main" id="{FEF11047-AF58-369A-06C4-9F98F1865651}"/>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4" name="TextBox 3">
            <a:extLst>
              <a:ext uri="{FF2B5EF4-FFF2-40B4-BE49-F238E27FC236}">
                <a16:creationId xmlns:a16="http://schemas.microsoft.com/office/drawing/2014/main" id="{AF6B103F-5D89-5E75-D74A-059B3C220EC3}"/>
              </a:ext>
            </a:extLst>
          </p:cNvPr>
          <p:cNvSpPr txBox="1"/>
          <p:nvPr/>
        </p:nvSpPr>
        <p:spPr>
          <a:xfrm>
            <a:off x="4987612" y="1234096"/>
            <a:ext cx="6096000" cy="584775"/>
          </a:xfrm>
          <a:prstGeom prst="rect">
            <a:avLst/>
          </a:prstGeom>
          <a:noFill/>
        </p:spPr>
        <p:txBody>
          <a:bodyPr wrap="square">
            <a:spAutoFit/>
          </a:bodyPr>
          <a:lstStyle/>
          <a:p>
            <a:pPr algn="r" rtl="1"/>
            <a:r>
              <a:rPr lang="ar-SA" sz="3200" dirty="0"/>
              <a:t>الممثلون الرئيسيون للنظام </a:t>
            </a:r>
            <a:r>
              <a:rPr lang="en-US" sz="3200" dirty="0"/>
              <a:t>Actors)</a:t>
            </a:r>
            <a:r>
              <a:rPr lang="ar-SA" sz="3200" dirty="0"/>
              <a:t>)</a:t>
            </a:r>
            <a:endParaRPr lang="en-US" sz="3200" dirty="0"/>
          </a:p>
        </p:txBody>
      </p:sp>
      <p:graphicFrame>
        <p:nvGraphicFramePr>
          <p:cNvPr id="5" name="Table 4">
            <a:extLst>
              <a:ext uri="{FF2B5EF4-FFF2-40B4-BE49-F238E27FC236}">
                <a16:creationId xmlns:a16="http://schemas.microsoft.com/office/drawing/2014/main" id="{3F39D1AA-E65E-506A-5E85-8564D30B4DC1}"/>
              </a:ext>
            </a:extLst>
          </p:cNvPr>
          <p:cNvGraphicFramePr>
            <a:graphicFrameLocks noGrp="1"/>
          </p:cNvGraphicFramePr>
          <p:nvPr>
            <p:extLst>
              <p:ext uri="{D42A27DB-BD31-4B8C-83A1-F6EECF244321}">
                <p14:modId xmlns:p14="http://schemas.microsoft.com/office/powerpoint/2010/main" val="413338468"/>
              </p:ext>
            </p:extLst>
          </p:nvPr>
        </p:nvGraphicFramePr>
        <p:xfrm>
          <a:off x="212254" y="2036220"/>
          <a:ext cx="11767492" cy="3552628"/>
        </p:xfrm>
        <a:graphic>
          <a:graphicData uri="http://schemas.openxmlformats.org/drawingml/2006/table">
            <a:tbl>
              <a:tblPr/>
              <a:tblGrid>
                <a:gridCol w="2161978">
                  <a:extLst>
                    <a:ext uri="{9D8B030D-6E8A-4147-A177-3AD203B41FA5}">
                      <a16:colId xmlns:a16="http://schemas.microsoft.com/office/drawing/2014/main" val="3766876710"/>
                    </a:ext>
                  </a:extLst>
                </a:gridCol>
                <a:gridCol w="9605514">
                  <a:extLst>
                    <a:ext uri="{9D8B030D-6E8A-4147-A177-3AD203B41FA5}">
                      <a16:colId xmlns:a16="http://schemas.microsoft.com/office/drawing/2014/main" val="286761893"/>
                    </a:ext>
                  </a:extLst>
                </a:gridCol>
              </a:tblGrid>
              <a:tr h="747922">
                <a:tc>
                  <a:txBody>
                    <a:bodyPr/>
                    <a:lstStyle/>
                    <a:p>
                      <a:pPr>
                        <a:buNone/>
                      </a:pPr>
                      <a:r>
                        <a:rPr lang="ar-SA" sz="3600" b="1" dirty="0"/>
                        <a:t>لممثل</a:t>
                      </a:r>
                    </a:p>
                  </a:txBody>
                  <a:tcPr anchor="ctr">
                    <a:lnL>
                      <a:noFill/>
                    </a:lnL>
                    <a:lnR>
                      <a:noFill/>
                    </a:lnR>
                    <a:lnT>
                      <a:noFill/>
                    </a:lnT>
                    <a:lnB>
                      <a:noFill/>
                    </a:lnB>
                    <a:noFill/>
                  </a:tcPr>
                </a:tc>
                <a:tc>
                  <a:txBody>
                    <a:bodyPr/>
                    <a:lstStyle/>
                    <a:p>
                      <a:pPr>
                        <a:buNone/>
                      </a:pPr>
                      <a:r>
                        <a:rPr lang="ar-SA" sz="3600" b="1" dirty="0"/>
                        <a:t>المسؤوليات</a:t>
                      </a:r>
                    </a:p>
                  </a:txBody>
                  <a:tcPr anchor="ctr">
                    <a:lnL>
                      <a:noFill/>
                    </a:lnL>
                    <a:lnR>
                      <a:noFill/>
                    </a:lnR>
                    <a:lnT>
                      <a:noFill/>
                    </a:lnT>
                    <a:lnB>
                      <a:noFill/>
                    </a:lnB>
                    <a:noFill/>
                  </a:tcPr>
                </a:tc>
                <a:extLst>
                  <a:ext uri="{0D108BD9-81ED-4DB2-BD59-A6C34878D82A}">
                    <a16:rowId xmlns:a16="http://schemas.microsoft.com/office/drawing/2014/main" val="444239852"/>
                  </a:ext>
                </a:extLst>
              </a:tr>
              <a:tr h="1308862">
                <a:tc>
                  <a:txBody>
                    <a:bodyPr/>
                    <a:lstStyle/>
                    <a:p>
                      <a:pPr>
                        <a:buNone/>
                      </a:pPr>
                      <a:r>
                        <a:rPr lang="ar-SA" sz="3200"/>
                        <a:t>المتطوع</a:t>
                      </a:r>
                    </a:p>
                  </a:txBody>
                  <a:tcPr anchor="ctr">
                    <a:lnL>
                      <a:noFill/>
                    </a:lnL>
                    <a:lnR>
                      <a:noFill/>
                    </a:lnR>
                    <a:lnT>
                      <a:noFill/>
                    </a:lnT>
                    <a:lnB>
                      <a:noFill/>
                    </a:lnB>
                    <a:noFill/>
                  </a:tcPr>
                </a:tc>
                <a:tc>
                  <a:txBody>
                    <a:bodyPr/>
                    <a:lstStyle/>
                    <a:p>
                      <a:pPr>
                        <a:buNone/>
                      </a:pPr>
                      <a:r>
                        <a:rPr lang="ar-SA" sz="3200" dirty="0"/>
                        <a:t>تصفح الفرص والبحث عنها، وإدارة ملفه الشخصي، وحفظ الفرص والتسجيل فيها وتقييمها.</a:t>
                      </a:r>
                    </a:p>
                  </a:txBody>
                  <a:tcPr anchor="ctr">
                    <a:lnL>
                      <a:noFill/>
                    </a:lnL>
                    <a:lnR>
                      <a:noFill/>
                    </a:lnR>
                    <a:lnT>
                      <a:noFill/>
                    </a:lnT>
                    <a:lnB>
                      <a:noFill/>
                    </a:lnB>
                    <a:noFill/>
                  </a:tcPr>
                </a:tc>
                <a:extLst>
                  <a:ext uri="{0D108BD9-81ED-4DB2-BD59-A6C34878D82A}">
                    <a16:rowId xmlns:a16="http://schemas.microsoft.com/office/drawing/2014/main" val="1760450218"/>
                  </a:ext>
                </a:extLst>
              </a:tr>
              <a:tr h="747922">
                <a:tc>
                  <a:txBody>
                    <a:bodyPr/>
                    <a:lstStyle/>
                    <a:p>
                      <a:pPr>
                        <a:buNone/>
                      </a:pPr>
                      <a:r>
                        <a:rPr lang="ar-SA" sz="3200"/>
                        <a:t>المؤسسة</a:t>
                      </a:r>
                    </a:p>
                  </a:txBody>
                  <a:tcPr anchor="ctr">
                    <a:lnL>
                      <a:noFill/>
                    </a:lnL>
                    <a:lnR>
                      <a:noFill/>
                    </a:lnR>
                    <a:lnT>
                      <a:noFill/>
                    </a:lnT>
                    <a:lnB>
                      <a:noFill/>
                    </a:lnB>
                    <a:noFill/>
                  </a:tcPr>
                </a:tc>
                <a:tc>
                  <a:txBody>
                    <a:bodyPr/>
                    <a:lstStyle/>
                    <a:p>
                      <a:pPr>
                        <a:buNone/>
                      </a:pPr>
                      <a:r>
                        <a:rPr lang="ar-SA" sz="3200"/>
                        <a:t>إدارة بيانات المؤسسة وإنشاء الفرص وتعديلها وإدارة طلبات المشاركة.</a:t>
                      </a:r>
                    </a:p>
                  </a:txBody>
                  <a:tcPr anchor="ctr">
                    <a:lnL>
                      <a:noFill/>
                    </a:lnL>
                    <a:lnR>
                      <a:noFill/>
                    </a:lnR>
                    <a:lnT>
                      <a:noFill/>
                    </a:lnT>
                    <a:lnB>
                      <a:noFill/>
                    </a:lnB>
                    <a:noFill/>
                  </a:tcPr>
                </a:tc>
                <a:extLst>
                  <a:ext uri="{0D108BD9-81ED-4DB2-BD59-A6C34878D82A}">
                    <a16:rowId xmlns:a16="http://schemas.microsoft.com/office/drawing/2014/main" val="17678009"/>
                  </a:ext>
                </a:extLst>
              </a:tr>
              <a:tr h="747922">
                <a:tc>
                  <a:txBody>
                    <a:bodyPr/>
                    <a:lstStyle/>
                    <a:p>
                      <a:pPr>
                        <a:buNone/>
                      </a:pPr>
                      <a:r>
                        <a:rPr lang="ar-SA" sz="3200"/>
                        <a:t>مدير النظام</a:t>
                      </a:r>
                    </a:p>
                  </a:txBody>
                  <a:tcPr anchor="ctr">
                    <a:lnL>
                      <a:noFill/>
                    </a:lnL>
                    <a:lnR>
                      <a:noFill/>
                    </a:lnR>
                    <a:lnT>
                      <a:noFill/>
                    </a:lnT>
                    <a:lnB>
                      <a:noFill/>
                    </a:lnB>
                    <a:noFill/>
                  </a:tcPr>
                </a:tc>
                <a:tc>
                  <a:txBody>
                    <a:bodyPr/>
                    <a:lstStyle/>
                    <a:p>
                      <a:pPr>
                        <a:buNone/>
                      </a:pPr>
                      <a:r>
                        <a:rPr lang="ar-SA" sz="3200" dirty="0"/>
                        <a:t>إدارة المستخدمين والمؤسسات والفرص والتصنيفات والتقارير.</a:t>
                      </a:r>
                    </a:p>
                  </a:txBody>
                  <a:tcPr anchor="ctr">
                    <a:lnL>
                      <a:noFill/>
                    </a:lnL>
                    <a:lnR>
                      <a:noFill/>
                    </a:lnR>
                    <a:lnT>
                      <a:noFill/>
                    </a:lnT>
                    <a:lnB>
                      <a:noFill/>
                    </a:lnB>
                    <a:noFill/>
                  </a:tcPr>
                </a:tc>
                <a:extLst>
                  <a:ext uri="{0D108BD9-81ED-4DB2-BD59-A6C34878D82A}">
                    <a16:rowId xmlns:a16="http://schemas.microsoft.com/office/drawing/2014/main" val="3957563033"/>
                  </a:ext>
                </a:extLst>
              </a:tr>
            </a:tbl>
          </a:graphicData>
        </a:graphic>
      </p:graphicFrame>
      <p:sp>
        <p:nvSpPr>
          <p:cNvPr id="2" name="Slide Number Placeholder 1">
            <a:extLst>
              <a:ext uri="{FF2B5EF4-FFF2-40B4-BE49-F238E27FC236}">
                <a16:creationId xmlns:a16="http://schemas.microsoft.com/office/drawing/2014/main" id="{BBE37975-B5AA-9D1E-5CCB-A19242867609}"/>
              </a:ext>
            </a:extLst>
          </p:cNvPr>
          <p:cNvSpPr>
            <a:spLocks noGrp="1"/>
          </p:cNvSpPr>
          <p:nvPr>
            <p:ph type="sldNum" sz="quarter" idx="12"/>
          </p:nvPr>
        </p:nvSpPr>
        <p:spPr/>
        <p:txBody>
          <a:bodyPr/>
          <a:lstStyle/>
          <a:p>
            <a:fld id="{3EB37142-BB67-4B06-93E6-8D10723F8802}" type="slidenum">
              <a:rPr lang="en-US" smtClean="0"/>
              <a:t>15</a:t>
            </a:fld>
            <a:endParaRPr lang="en-US" dirty="0"/>
          </a:p>
        </p:txBody>
      </p:sp>
    </p:spTree>
    <p:extLst>
      <p:ext uri="{BB962C8B-B14F-4D97-AF65-F5344CB8AC3E}">
        <p14:creationId xmlns:p14="http://schemas.microsoft.com/office/powerpoint/2010/main" val="3114944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88AB-D47B-DE00-A601-F1728EB6C96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56EE4D9-CC0A-0E5C-1D04-FA7A26BFA7A1}"/>
              </a:ext>
            </a:extLst>
          </p:cNvPr>
          <p:cNvSpPr txBox="1">
            <a:spLocks/>
          </p:cNvSpPr>
          <p:nvPr/>
        </p:nvSpPr>
        <p:spPr>
          <a:xfrm>
            <a:off x="9146137" y="264160"/>
            <a:ext cx="2935247" cy="26212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مخطط حالات الاستخدام </a:t>
            </a:r>
            <a:r>
              <a:rPr lang="en-US" sz="4400" dirty="0"/>
              <a:t>Use Case) Diagram</a:t>
            </a:r>
            <a:r>
              <a:rPr lang="ar-SA" sz="4400" dirty="0"/>
              <a:t>) :</a:t>
            </a:r>
            <a:endParaRPr lang="en-US" sz="4400" dirty="0"/>
          </a:p>
        </p:txBody>
      </p:sp>
      <p:sp>
        <p:nvSpPr>
          <p:cNvPr id="10" name="Title 1">
            <a:extLst>
              <a:ext uri="{FF2B5EF4-FFF2-40B4-BE49-F238E27FC236}">
                <a16:creationId xmlns:a16="http://schemas.microsoft.com/office/drawing/2014/main" id="{7FC98CBE-CF37-4DB5-622C-E8B9A999C533}"/>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pic>
        <p:nvPicPr>
          <p:cNvPr id="8" name="Picture 7">
            <a:extLst>
              <a:ext uri="{FF2B5EF4-FFF2-40B4-BE49-F238E27FC236}">
                <a16:creationId xmlns:a16="http://schemas.microsoft.com/office/drawing/2014/main" id="{F6133B0D-0F57-F5FF-5267-13F3F4EAF3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329195" cy="6858000"/>
          </a:xfrm>
          <a:prstGeom prst="rect">
            <a:avLst/>
          </a:prstGeom>
        </p:spPr>
      </p:pic>
      <p:sp>
        <p:nvSpPr>
          <p:cNvPr id="2" name="Slide Number Placeholder 1">
            <a:extLst>
              <a:ext uri="{FF2B5EF4-FFF2-40B4-BE49-F238E27FC236}">
                <a16:creationId xmlns:a16="http://schemas.microsoft.com/office/drawing/2014/main" id="{733C7B58-A728-4887-918A-BFEFED5D8E0A}"/>
              </a:ext>
            </a:extLst>
          </p:cNvPr>
          <p:cNvSpPr>
            <a:spLocks noGrp="1"/>
          </p:cNvSpPr>
          <p:nvPr>
            <p:ph type="sldNum" sz="quarter" idx="12"/>
          </p:nvPr>
        </p:nvSpPr>
        <p:spPr/>
        <p:txBody>
          <a:bodyPr/>
          <a:lstStyle/>
          <a:p>
            <a:fld id="{3EB37142-BB67-4B06-93E6-8D10723F8802}" type="slidenum">
              <a:rPr lang="en-US" smtClean="0"/>
              <a:t>16</a:t>
            </a:fld>
            <a:endParaRPr lang="en-US" dirty="0"/>
          </a:p>
        </p:txBody>
      </p:sp>
    </p:spTree>
    <p:extLst>
      <p:ext uri="{BB962C8B-B14F-4D97-AF65-F5344CB8AC3E}">
        <p14:creationId xmlns:p14="http://schemas.microsoft.com/office/powerpoint/2010/main" val="1950075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9741C-90B6-F1CB-6D66-B909DCB2B6F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C2E1F69-9186-6A3D-1372-4795CFB310B5}"/>
              </a:ext>
            </a:extLst>
          </p:cNvPr>
          <p:cNvSpPr txBox="1">
            <a:spLocks/>
          </p:cNvSpPr>
          <p:nvPr/>
        </p:nvSpPr>
        <p:spPr>
          <a:xfrm>
            <a:off x="9146137" y="264160"/>
            <a:ext cx="2935247" cy="26212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مخطط النشاط (</a:t>
            </a:r>
            <a:r>
              <a:rPr lang="en-US" sz="4400" dirty="0"/>
              <a:t>Activity Diagram</a:t>
            </a:r>
            <a:r>
              <a:rPr lang="ar-SA" sz="4400" dirty="0"/>
              <a:t>) :</a:t>
            </a:r>
            <a:endParaRPr lang="en-US" sz="4400" dirty="0"/>
          </a:p>
        </p:txBody>
      </p:sp>
      <p:sp>
        <p:nvSpPr>
          <p:cNvPr id="10" name="Title 1">
            <a:extLst>
              <a:ext uri="{FF2B5EF4-FFF2-40B4-BE49-F238E27FC236}">
                <a16:creationId xmlns:a16="http://schemas.microsoft.com/office/drawing/2014/main" id="{F64F0E12-7898-93B4-4AEF-8F66B79C819E}"/>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pic>
        <p:nvPicPr>
          <p:cNvPr id="4" name="Picture 3">
            <a:extLst>
              <a:ext uri="{FF2B5EF4-FFF2-40B4-BE49-F238E27FC236}">
                <a16:creationId xmlns:a16="http://schemas.microsoft.com/office/drawing/2014/main" id="{50035EEF-749E-05B6-55D9-62D02C72F5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616" y="-1"/>
            <a:ext cx="8849966" cy="6887121"/>
          </a:xfrm>
          <a:prstGeom prst="rect">
            <a:avLst/>
          </a:prstGeom>
        </p:spPr>
      </p:pic>
      <p:sp>
        <p:nvSpPr>
          <p:cNvPr id="7" name="TextBox 6">
            <a:extLst>
              <a:ext uri="{FF2B5EF4-FFF2-40B4-BE49-F238E27FC236}">
                <a16:creationId xmlns:a16="http://schemas.microsoft.com/office/drawing/2014/main" id="{3DDF13E7-D184-F375-5C90-970FED14D749}"/>
              </a:ext>
            </a:extLst>
          </p:cNvPr>
          <p:cNvSpPr txBox="1"/>
          <p:nvPr/>
        </p:nvSpPr>
        <p:spPr>
          <a:xfrm>
            <a:off x="9256754" y="3018455"/>
            <a:ext cx="2935246" cy="954107"/>
          </a:xfrm>
          <a:prstGeom prst="rect">
            <a:avLst/>
          </a:prstGeom>
          <a:noFill/>
        </p:spPr>
        <p:txBody>
          <a:bodyPr wrap="square">
            <a:spAutoFit/>
          </a:bodyPr>
          <a:lstStyle/>
          <a:p>
            <a:r>
              <a:rPr lang="ar-SA" sz="2800" dirty="0"/>
              <a:t>عملية التسجيل في فرصة تطوعية</a:t>
            </a:r>
            <a:endParaRPr lang="en-US" sz="2800" dirty="0"/>
          </a:p>
        </p:txBody>
      </p:sp>
      <p:sp>
        <p:nvSpPr>
          <p:cNvPr id="2" name="Slide Number Placeholder 1">
            <a:extLst>
              <a:ext uri="{FF2B5EF4-FFF2-40B4-BE49-F238E27FC236}">
                <a16:creationId xmlns:a16="http://schemas.microsoft.com/office/drawing/2014/main" id="{45C55739-C732-3B00-D828-14A08E83378E}"/>
              </a:ext>
            </a:extLst>
          </p:cNvPr>
          <p:cNvSpPr>
            <a:spLocks noGrp="1"/>
          </p:cNvSpPr>
          <p:nvPr>
            <p:ph type="sldNum" sz="quarter" idx="12"/>
          </p:nvPr>
        </p:nvSpPr>
        <p:spPr/>
        <p:txBody>
          <a:bodyPr/>
          <a:lstStyle/>
          <a:p>
            <a:fld id="{3EB37142-BB67-4B06-93E6-8D10723F8802}" type="slidenum">
              <a:rPr lang="en-US" smtClean="0"/>
              <a:t>17</a:t>
            </a:fld>
            <a:endParaRPr lang="en-US" dirty="0"/>
          </a:p>
        </p:txBody>
      </p:sp>
    </p:spTree>
    <p:extLst>
      <p:ext uri="{BB962C8B-B14F-4D97-AF65-F5344CB8AC3E}">
        <p14:creationId xmlns:p14="http://schemas.microsoft.com/office/powerpoint/2010/main" val="807503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39677-E02D-ABD4-3DFC-9C602D059B1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69F23A3-2900-419A-A366-A0E3C5D4E1C6}"/>
              </a:ext>
            </a:extLst>
          </p:cNvPr>
          <p:cNvSpPr txBox="1">
            <a:spLocks/>
          </p:cNvSpPr>
          <p:nvPr/>
        </p:nvSpPr>
        <p:spPr>
          <a:xfrm>
            <a:off x="9146137" y="264160"/>
            <a:ext cx="2935247" cy="26212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مخطط التسلسل (</a:t>
            </a:r>
            <a:r>
              <a:rPr lang="en-US" sz="4400" dirty="0"/>
              <a:t>Sequence Diagram</a:t>
            </a:r>
            <a:r>
              <a:rPr lang="ar-SA" sz="4400" dirty="0"/>
              <a:t>) :</a:t>
            </a:r>
            <a:endParaRPr lang="en-US" sz="4400" dirty="0"/>
          </a:p>
        </p:txBody>
      </p:sp>
      <p:sp>
        <p:nvSpPr>
          <p:cNvPr id="10" name="Title 1">
            <a:extLst>
              <a:ext uri="{FF2B5EF4-FFF2-40B4-BE49-F238E27FC236}">
                <a16:creationId xmlns:a16="http://schemas.microsoft.com/office/drawing/2014/main" id="{EA96A212-F7AC-0F2F-0BAA-528B8EB01378}"/>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pic>
        <p:nvPicPr>
          <p:cNvPr id="4" name="Picture 3">
            <a:extLst>
              <a:ext uri="{FF2B5EF4-FFF2-40B4-BE49-F238E27FC236}">
                <a16:creationId xmlns:a16="http://schemas.microsoft.com/office/drawing/2014/main" id="{F4E7944A-7307-9A93-21C1-3080B3EDB8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248172" cy="6858000"/>
          </a:xfrm>
          <a:prstGeom prst="rect">
            <a:avLst/>
          </a:prstGeom>
        </p:spPr>
      </p:pic>
      <p:sp>
        <p:nvSpPr>
          <p:cNvPr id="2" name="Slide Number Placeholder 1">
            <a:extLst>
              <a:ext uri="{FF2B5EF4-FFF2-40B4-BE49-F238E27FC236}">
                <a16:creationId xmlns:a16="http://schemas.microsoft.com/office/drawing/2014/main" id="{A63574FE-2C78-8357-20B6-2FB16EE93F6F}"/>
              </a:ext>
            </a:extLst>
          </p:cNvPr>
          <p:cNvSpPr>
            <a:spLocks noGrp="1"/>
          </p:cNvSpPr>
          <p:nvPr>
            <p:ph type="sldNum" sz="quarter" idx="12"/>
          </p:nvPr>
        </p:nvSpPr>
        <p:spPr/>
        <p:txBody>
          <a:bodyPr/>
          <a:lstStyle/>
          <a:p>
            <a:fld id="{3EB37142-BB67-4B06-93E6-8D10723F8802}" type="slidenum">
              <a:rPr lang="en-US" smtClean="0"/>
              <a:t>18</a:t>
            </a:fld>
            <a:endParaRPr lang="en-US" dirty="0"/>
          </a:p>
        </p:txBody>
      </p:sp>
    </p:spTree>
    <p:extLst>
      <p:ext uri="{BB962C8B-B14F-4D97-AF65-F5344CB8AC3E}">
        <p14:creationId xmlns:p14="http://schemas.microsoft.com/office/powerpoint/2010/main" val="655853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44FB5-D848-8F61-BE40-EB7F8DF2D1E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4FEDFFE-3FB3-240A-F7F6-EEEFDAE9F343}"/>
              </a:ext>
            </a:extLst>
          </p:cNvPr>
          <p:cNvSpPr txBox="1">
            <a:spLocks/>
          </p:cNvSpPr>
          <p:nvPr/>
        </p:nvSpPr>
        <p:spPr>
          <a:xfrm>
            <a:off x="9146137" y="264160"/>
            <a:ext cx="2935247" cy="26212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مخطط الفئات (</a:t>
            </a:r>
            <a:r>
              <a:rPr lang="en-US" sz="4400" dirty="0"/>
              <a:t>Class Diagram</a:t>
            </a:r>
            <a:r>
              <a:rPr lang="ar-SA" sz="4400" dirty="0"/>
              <a:t>):</a:t>
            </a:r>
            <a:endParaRPr lang="en-US" sz="4400" dirty="0"/>
          </a:p>
        </p:txBody>
      </p:sp>
      <p:sp>
        <p:nvSpPr>
          <p:cNvPr id="10" name="Title 1">
            <a:extLst>
              <a:ext uri="{FF2B5EF4-FFF2-40B4-BE49-F238E27FC236}">
                <a16:creationId xmlns:a16="http://schemas.microsoft.com/office/drawing/2014/main" id="{29E2E26F-5EAC-BE81-12AA-63CA65A29008}"/>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pic>
        <p:nvPicPr>
          <p:cNvPr id="7" name="Picture 6">
            <a:extLst>
              <a:ext uri="{FF2B5EF4-FFF2-40B4-BE49-F238E27FC236}">
                <a16:creationId xmlns:a16="http://schemas.microsoft.com/office/drawing/2014/main" id="{9D32988E-2C71-D3F7-0715-C9C688C81D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241535" cy="6858000"/>
          </a:xfrm>
          <a:prstGeom prst="rect">
            <a:avLst/>
          </a:prstGeom>
        </p:spPr>
      </p:pic>
      <p:sp>
        <p:nvSpPr>
          <p:cNvPr id="2" name="Slide Number Placeholder 1">
            <a:extLst>
              <a:ext uri="{FF2B5EF4-FFF2-40B4-BE49-F238E27FC236}">
                <a16:creationId xmlns:a16="http://schemas.microsoft.com/office/drawing/2014/main" id="{C656E9EE-4A80-A226-8169-60A9CF222B48}"/>
              </a:ext>
            </a:extLst>
          </p:cNvPr>
          <p:cNvSpPr>
            <a:spLocks noGrp="1"/>
          </p:cNvSpPr>
          <p:nvPr>
            <p:ph type="sldNum" sz="quarter" idx="12"/>
          </p:nvPr>
        </p:nvSpPr>
        <p:spPr/>
        <p:txBody>
          <a:bodyPr/>
          <a:lstStyle/>
          <a:p>
            <a:fld id="{3EB37142-BB67-4B06-93E6-8D10723F8802}" type="slidenum">
              <a:rPr lang="en-US" smtClean="0"/>
              <a:t>19</a:t>
            </a:fld>
            <a:endParaRPr lang="en-US" dirty="0"/>
          </a:p>
        </p:txBody>
      </p:sp>
    </p:spTree>
    <p:extLst>
      <p:ext uri="{BB962C8B-B14F-4D97-AF65-F5344CB8AC3E}">
        <p14:creationId xmlns:p14="http://schemas.microsoft.com/office/powerpoint/2010/main" val="1670477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4C114-82C7-64A2-9B8D-BF0CB99DB2A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A235110-F910-3B86-75B3-B877C9DFBD8F}"/>
              </a:ext>
            </a:extLst>
          </p:cNvPr>
          <p:cNvSpPr txBox="1">
            <a:spLocks/>
          </p:cNvSpPr>
          <p:nvPr/>
        </p:nvSpPr>
        <p:spPr>
          <a:xfrm>
            <a:off x="9146137" y="264160"/>
            <a:ext cx="2935247" cy="26212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مخطط الكيانات والعلاقات</a:t>
            </a:r>
          </a:p>
          <a:p>
            <a:pPr algn="r" rtl="1"/>
            <a:r>
              <a:rPr lang="ar-SA" sz="4400" dirty="0"/>
              <a:t> (</a:t>
            </a:r>
            <a:r>
              <a:rPr lang="en-US" sz="4400" dirty="0"/>
              <a:t>ERD</a:t>
            </a:r>
            <a:r>
              <a:rPr lang="ar-SA" sz="4400" dirty="0"/>
              <a:t> )</a:t>
            </a:r>
            <a:r>
              <a:rPr lang="en-US" sz="4400" dirty="0"/>
              <a:t> </a:t>
            </a:r>
            <a:r>
              <a:rPr lang="ar-SA" sz="4400" dirty="0"/>
              <a:t>:</a:t>
            </a:r>
            <a:endParaRPr lang="en-US" sz="4400" dirty="0"/>
          </a:p>
        </p:txBody>
      </p:sp>
      <p:sp>
        <p:nvSpPr>
          <p:cNvPr id="10" name="Title 1">
            <a:extLst>
              <a:ext uri="{FF2B5EF4-FFF2-40B4-BE49-F238E27FC236}">
                <a16:creationId xmlns:a16="http://schemas.microsoft.com/office/drawing/2014/main" id="{877A3842-BC8F-2B26-2340-2343682C7465}"/>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pic>
        <p:nvPicPr>
          <p:cNvPr id="5" name="Picture 4">
            <a:extLst>
              <a:ext uri="{FF2B5EF4-FFF2-40B4-BE49-F238E27FC236}">
                <a16:creationId xmlns:a16="http://schemas.microsoft.com/office/drawing/2014/main" id="{CD00E854-AF11-A8E8-080E-BACFB87366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6137" cy="6858000"/>
          </a:xfrm>
          <a:prstGeom prst="rect">
            <a:avLst/>
          </a:prstGeom>
        </p:spPr>
      </p:pic>
      <p:sp>
        <p:nvSpPr>
          <p:cNvPr id="2" name="Slide Number Placeholder 1">
            <a:extLst>
              <a:ext uri="{FF2B5EF4-FFF2-40B4-BE49-F238E27FC236}">
                <a16:creationId xmlns:a16="http://schemas.microsoft.com/office/drawing/2014/main" id="{59329B4A-04F7-5CAB-3789-2368DBED9B22}"/>
              </a:ext>
            </a:extLst>
          </p:cNvPr>
          <p:cNvSpPr>
            <a:spLocks noGrp="1"/>
          </p:cNvSpPr>
          <p:nvPr>
            <p:ph type="sldNum" sz="quarter" idx="12"/>
          </p:nvPr>
        </p:nvSpPr>
        <p:spPr/>
        <p:txBody>
          <a:bodyPr/>
          <a:lstStyle/>
          <a:p>
            <a:fld id="{3EB37142-BB67-4B06-93E6-8D10723F8802}" type="slidenum">
              <a:rPr lang="en-US" smtClean="0"/>
              <a:t>20</a:t>
            </a:fld>
            <a:endParaRPr lang="en-US" dirty="0"/>
          </a:p>
        </p:txBody>
      </p:sp>
    </p:spTree>
    <p:extLst>
      <p:ext uri="{BB962C8B-B14F-4D97-AF65-F5344CB8AC3E}">
        <p14:creationId xmlns:p14="http://schemas.microsoft.com/office/powerpoint/2010/main" val="1746444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B08D-F8A6-8DBF-1688-EC16591A85F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702F27B-6DD3-7143-E357-5B076D19E1B4}"/>
              </a:ext>
            </a:extLst>
          </p:cNvPr>
          <p:cNvSpPr txBox="1">
            <a:spLocks/>
          </p:cNvSpPr>
          <p:nvPr/>
        </p:nvSpPr>
        <p:spPr>
          <a:xfrm>
            <a:off x="7170821" y="368718"/>
            <a:ext cx="4500419"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آلية التوصية الذكية :</a:t>
            </a:r>
            <a:endParaRPr lang="en-US" sz="4400" dirty="0"/>
          </a:p>
        </p:txBody>
      </p:sp>
      <p:sp>
        <p:nvSpPr>
          <p:cNvPr id="10" name="Title 1">
            <a:extLst>
              <a:ext uri="{FF2B5EF4-FFF2-40B4-BE49-F238E27FC236}">
                <a16:creationId xmlns:a16="http://schemas.microsoft.com/office/drawing/2014/main" id="{33451A5B-1194-A3B0-B133-6E8A203F4CE0}"/>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2" name="Title 1">
            <a:extLst>
              <a:ext uri="{FF2B5EF4-FFF2-40B4-BE49-F238E27FC236}">
                <a16:creationId xmlns:a16="http://schemas.microsoft.com/office/drawing/2014/main" id="{ACD98320-FA97-1D6D-3592-56BDDED7F1B0}"/>
              </a:ext>
            </a:extLst>
          </p:cNvPr>
          <p:cNvSpPr txBox="1">
            <a:spLocks/>
          </p:cNvSpPr>
          <p:nvPr/>
        </p:nvSpPr>
        <p:spPr>
          <a:xfrm>
            <a:off x="866274" y="1321350"/>
            <a:ext cx="11029555" cy="13194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يهدف نظام التوصية الذكية إلى اقتراح الفرص التطوعية التي تتناسب مع اهتمامات المتطوع ومهاراته وتفضيلاته، بدلًا من عرض قائمة واحدة لجميع المستخدمين.</a:t>
            </a:r>
            <a:endParaRPr lang="en-US" sz="3200" dirty="0"/>
          </a:p>
        </p:txBody>
      </p:sp>
      <p:sp>
        <p:nvSpPr>
          <p:cNvPr id="7" name="TextBox 6">
            <a:extLst>
              <a:ext uri="{FF2B5EF4-FFF2-40B4-BE49-F238E27FC236}">
                <a16:creationId xmlns:a16="http://schemas.microsoft.com/office/drawing/2014/main" id="{3A8A3919-E042-3BB2-9CEF-7D50A33394A1}"/>
              </a:ext>
            </a:extLst>
          </p:cNvPr>
          <p:cNvSpPr txBox="1"/>
          <p:nvPr/>
        </p:nvSpPr>
        <p:spPr>
          <a:xfrm>
            <a:off x="750270" y="2739906"/>
            <a:ext cx="10299031" cy="4031873"/>
          </a:xfrm>
          <a:prstGeom prst="rect">
            <a:avLst/>
          </a:prstGeom>
          <a:noFill/>
        </p:spPr>
        <p:txBody>
          <a:bodyPr wrap="square">
            <a:spAutoFit/>
          </a:bodyPr>
          <a:lstStyle/>
          <a:p>
            <a:pPr algn="r" rtl="1">
              <a:buNone/>
            </a:pPr>
            <a:r>
              <a:rPr lang="ar-SA" sz="3200" dirty="0"/>
              <a:t>البيانات التي يعتمد عليها النظام:</a:t>
            </a:r>
          </a:p>
          <a:p>
            <a:pPr algn="r" rtl="1">
              <a:buFont typeface="Arial" panose="020B0604020202020204" pitchFamily="34" charset="0"/>
              <a:buChar char="•"/>
            </a:pPr>
            <a:r>
              <a:rPr lang="ar-SA" sz="3200" dirty="0"/>
              <a:t>اهتمامات المتطوع وتصنيفاته المفضلة.</a:t>
            </a:r>
          </a:p>
          <a:p>
            <a:pPr algn="r" rtl="1">
              <a:buFont typeface="Arial" panose="020B0604020202020204" pitchFamily="34" charset="0"/>
              <a:buChar char="•"/>
            </a:pPr>
            <a:r>
              <a:rPr lang="ar-SA" sz="3200" dirty="0"/>
              <a:t>المهارات التي يمتلكها المتطوع.</a:t>
            </a:r>
          </a:p>
          <a:p>
            <a:pPr algn="r" rtl="1">
              <a:buFont typeface="Arial" panose="020B0604020202020204" pitchFamily="34" charset="0"/>
              <a:buChar char="•"/>
            </a:pPr>
            <a:r>
              <a:rPr lang="ar-SA" sz="3200" dirty="0"/>
              <a:t>المهارات المطلوبة في الفرصة.</a:t>
            </a:r>
          </a:p>
          <a:p>
            <a:pPr algn="r" rtl="1">
              <a:buFont typeface="Arial" panose="020B0604020202020204" pitchFamily="34" charset="0"/>
              <a:buChar char="•"/>
            </a:pPr>
            <a:r>
              <a:rPr lang="ar-SA" sz="3200" dirty="0"/>
              <a:t>الموقع الجغرافي أو نمط المشاركة، مثل حضوري أو عن بُعد.</a:t>
            </a:r>
          </a:p>
          <a:p>
            <a:pPr algn="r" rtl="1">
              <a:buFont typeface="Arial" panose="020B0604020202020204" pitchFamily="34" charset="0"/>
              <a:buChar char="•"/>
            </a:pPr>
            <a:r>
              <a:rPr lang="ar-SA" sz="3200" dirty="0"/>
              <a:t>تفضيلات الوقت والتوافر.</a:t>
            </a:r>
          </a:p>
          <a:p>
            <a:pPr algn="r" rtl="1">
              <a:buFont typeface="Arial" panose="020B0604020202020204" pitchFamily="34" charset="0"/>
              <a:buChar char="•"/>
            </a:pPr>
            <a:r>
              <a:rPr lang="ar-SA" sz="3200" dirty="0"/>
              <a:t>التفاعلات السابقة، مثل التسجيل في الفرص أو حفظها في المفضلة، إذا كانت هذه البيانات متاحة.</a:t>
            </a:r>
          </a:p>
        </p:txBody>
      </p:sp>
      <p:sp>
        <p:nvSpPr>
          <p:cNvPr id="3" name="Slide Number Placeholder 2">
            <a:extLst>
              <a:ext uri="{FF2B5EF4-FFF2-40B4-BE49-F238E27FC236}">
                <a16:creationId xmlns:a16="http://schemas.microsoft.com/office/drawing/2014/main" id="{FD8E0FE5-10A1-1172-4785-270DB9B705CE}"/>
              </a:ext>
            </a:extLst>
          </p:cNvPr>
          <p:cNvSpPr>
            <a:spLocks noGrp="1"/>
          </p:cNvSpPr>
          <p:nvPr>
            <p:ph type="sldNum" sz="quarter" idx="12"/>
          </p:nvPr>
        </p:nvSpPr>
        <p:spPr/>
        <p:txBody>
          <a:bodyPr/>
          <a:lstStyle/>
          <a:p>
            <a:fld id="{3EB37142-BB67-4B06-93E6-8D10723F8802}" type="slidenum">
              <a:rPr lang="en-US" smtClean="0"/>
              <a:t>21</a:t>
            </a:fld>
            <a:endParaRPr lang="en-US" dirty="0"/>
          </a:p>
        </p:txBody>
      </p:sp>
    </p:spTree>
    <p:extLst>
      <p:ext uri="{BB962C8B-B14F-4D97-AF65-F5344CB8AC3E}">
        <p14:creationId xmlns:p14="http://schemas.microsoft.com/office/powerpoint/2010/main" val="2208371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F27E-19A9-2ABF-0473-25CAB286A79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033C015-CD6F-8C7A-BA43-FF020BB4D087}"/>
              </a:ext>
            </a:extLst>
          </p:cNvPr>
          <p:cNvSpPr txBox="1">
            <a:spLocks/>
          </p:cNvSpPr>
          <p:nvPr/>
        </p:nvSpPr>
        <p:spPr>
          <a:xfrm>
            <a:off x="4122821" y="368718"/>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b="1" dirty="0"/>
              <a:t>اختيار خوارزمية التوصية الذكية :</a:t>
            </a:r>
          </a:p>
        </p:txBody>
      </p:sp>
      <p:sp>
        <p:nvSpPr>
          <p:cNvPr id="10" name="Title 1">
            <a:extLst>
              <a:ext uri="{FF2B5EF4-FFF2-40B4-BE49-F238E27FC236}">
                <a16:creationId xmlns:a16="http://schemas.microsoft.com/office/drawing/2014/main" id="{628A5A11-FDD3-4AF6-523A-E084F0DADCE1}"/>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2" name="Title 1">
            <a:extLst>
              <a:ext uri="{FF2B5EF4-FFF2-40B4-BE49-F238E27FC236}">
                <a16:creationId xmlns:a16="http://schemas.microsoft.com/office/drawing/2014/main" id="{FE368DCA-BD1B-CCEC-C183-6DA849C3A0C7}"/>
              </a:ext>
            </a:extLst>
          </p:cNvPr>
          <p:cNvSpPr txBox="1">
            <a:spLocks/>
          </p:cNvSpPr>
          <p:nvPr/>
        </p:nvSpPr>
        <p:spPr>
          <a:xfrm>
            <a:off x="1779191" y="1559142"/>
            <a:ext cx="9489513" cy="4601026"/>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b="1" dirty="0"/>
              <a:t>الاحتمال الاول:</a:t>
            </a:r>
          </a:p>
          <a:p>
            <a:pPr algn="r"/>
            <a:r>
              <a:rPr lang="en-US" sz="3200" dirty="0"/>
              <a:t>Text Vectorization</a:t>
            </a:r>
            <a:r>
              <a:rPr lang="ar-SA" sz="3200" dirty="0"/>
              <a:t>هوعمل </a:t>
            </a:r>
            <a:endParaRPr lang="ar-SA" sz="3200" b="1" dirty="0"/>
          </a:p>
          <a:p>
            <a:pPr algn="r" rtl="1"/>
            <a:r>
              <a:rPr lang="ar-SA" sz="3200" dirty="0"/>
              <a:t>تقارن الخوارزمية خصائص المتطوع بخصائص الفرصة،</a:t>
            </a:r>
          </a:p>
          <a:p>
            <a:pPr algn="r" rtl="1"/>
            <a:r>
              <a:rPr lang="ar-SA" sz="3200" dirty="0"/>
              <a:t> مثل الاهتمامات والمهارات والتصنيف والوصف.</a:t>
            </a:r>
          </a:p>
          <a:p>
            <a:pPr algn="r" rtl="1"/>
            <a:r>
              <a:rPr lang="ar-SA" sz="3200" dirty="0"/>
              <a:t> يمكن استخدام </a:t>
            </a:r>
            <a:r>
              <a:rPr lang="en-US" sz="3200" dirty="0"/>
              <a:t>TF-IDF </a:t>
            </a:r>
            <a:r>
              <a:rPr lang="ar-SA" sz="3200" dirty="0"/>
              <a:t> و</a:t>
            </a:r>
            <a:r>
              <a:rPr lang="en-US" sz="3200" dirty="0"/>
              <a:t>Cosine Similarity </a:t>
            </a:r>
            <a:r>
              <a:rPr lang="ar-SA" sz="3200" dirty="0"/>
              <a:t> لتحويل النصوص إلى تمثيلات رقمية ثم حساب التشابه بينها.</a:t>
            </a:r>
          </a:p>
          <a:p>
            <a:pPr algn="r" rtl="1"/>
            <a:endParaRPr lang="ar-SA" sz="3200" dirty="0"/>
          </a:p>
          <a:p>
            <a:pPr algn="r" rtl="1"/>
            <a:endParaRPr lang="ar-SA" sz="3200" dirty="0"/>
          </a:p>
          <a:p>
            <a:pPr algn="r" rtl="1"/>
            <a:r>
              <a:rPr lang="ar-SA" sz="3200" dirty="0"/>
              <a:t>ميزته: يمكن البدء به دون الحاجة إلى سجل ضخم من التسجيلات السابقة أو تقييمات المستخدمين. لكنه ليس تدريبًا إشرافيًا على بيانات معنونة بالمعنى المعتاد.</a:t>
            </a:r>
          </a:p>
          <a:p>
            <a:pPr algn="r" rtl="1"/>
            <a:endParaRPr lang="en-US" sz="3200" dirty="0"/>
          </a:p>
        </p:txBody>
      </p:sp>
      <p:sp>
        <p:nvSpPr>
          <p:cNvPr id="3" name="Slide Number Placeholder 2">
            <a:extLst>
              <a:ext uri="{FF2B5EF4-FFF2-40B4-BE49-F238E27FC236}">
                <a16:creationId xmlns:a16="http://schemas.microsoft.com/office/drawing/2014/main" id="{5AD700F7-3EF2-CADD-4DC8-72E125B60205}"/>
              </a:ext>
            </a:extLst>
          </p:cNvPr>
          <p:cNvSpPr>
            <a:spLocks noGrp="1"/>
          </p:cNvSpPr>
          <p:nvPr>
            <p:ph type="sldNum" sz="quarter" idx="12"/>
          </p:nvPr>
        </p:nvSpPr>
        <p:spPr/>
        <p:txBody>
          <a:bodyPr/>
          <a:lstStyle/>
          <a:p>
            <a:fld id="{3EB37142-BB67-4B06-93E6-8D10723F8802}" type="slidenum">
              <a:rPr lang="en-US" smtClean="0"/>
              <a:t>22</a:t>
            </a:fld>
            <a:endParaRPr lang="en-US" dirty="0"/>
          </a:p>
        </p:txBody>
      </p:sp>
    </p:spTree>
    <p:extLst>
      <p:ext uri="{BB962C8B-B14F-4D97-AF65-F5344CB8AC3E}">
        <p14:creationId xmlns:p14="http://schemas.microsoft.com/office/powerpoint/2010/main" val="472804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C5B8F-6AD8-EBAF-9DC6-E7C7FCE04C1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660B26C-7354-ADD4-DF3B-AE99005721B2}"/>
              </a:ext>
            </a:extLst>
          </p:cNvPr>
          <p:cNvSpPr txBox="1">
            <a:spLocks/>
          </p:cNvSpPr>
          <p:nvPr/>
        </p:nvSpPr>
        <p:spPr>
          <a:xfrm>
            <a:off x="4122821" y="368718"/>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b="1" dirty="0"/>
              <a:t>اختيار خوارزمية التوصية الذكية :</a:t>
            </a:r>
          </a:p>
        </p:txBody>
      </p:sp>
      <p:sp>
        <p:nvSpPr>
          <p:cNvPr id="10" name="Title 1">
            <a:extLst>
              <a:ext uri="{FF2B5EF4-FFF2-40B4-BE49-F238E27FC236}">
                <a16:creationId xmlns:a16="http://schemas.microsoft.com/office/drawing/2014/main" id="{3DC76D98-1CFF-1147-59DA-3074FC206152}"/>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2" name="Title 1">
            <a:extLst>
              <a:ext uri="{FF2B5EF4-FFF2-40B4-BE49-F238E27FC236}">
                <a16:creationId xmlns:a16="http://schemas.microsoft.com/office/drawing/2014/main" id="{5457708E-E52D-8BF0-BB43-9E891470ADB7}"/>
              </a:ext>
            </a:extLst>
          </p:cNvPr>
          <p:cNvSpPr txBox="1">
            <a:spLocks/>
          </p:cNvSpPr>
          <p:nvPr/>
        </p:nvSpPr>
        <p:spPr>
          <a:xfrm>
            <a:off x="1779191" y="1559142"/>
            <a:ext cx="9489513" cy="488532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b="1" dirty="0"/>
              <a:t>الاحتمال الثاني:</a:t>
            </a:r>
          </a:p>
          <a:p>
            <a:pPr algn="r" rtl="1"/>
            <a:r>
              <a:rPr lang="ar-SA" sz="3200" dirty="0"/>
              <a:t>هو اختيار احدى خوارزميات التعلم الآلي المناسبة، </a:t>
            </a:r>
          </a:p>
          <a:p>
            <a:pPr algn="r" rtl="1"/>
            <a:r>
              <a:rPr lang="ar-SA" sz="3200" dirty="0"/>
              <a:t>مثل </a:t>
            </a:r>
            <a:r>
              <a:rPr lang="en-US" sz="3200" b="1" dirty="0"/>
              <a:t>Logistic Regression </a:t>
            </a:r>
            <a:r>
              <a:rPr lang="ar-SA" sz="3200" b="1" dirty="0"/>
              <a:t> أو  </a:t>
            </a:r>
            <a:r>
              <a:rPr lang="en-US" sz="3200" b="1" dirty="0"/>
              <a:t>Random Forest </a:t>
            </a:r>
            <a:r>
              <a:rPr lang="ar-SA" sz="3200" b="1" dirty="0"/>
              <a:t>أو </a:t>
            </a:r>
            <a:r>
              <a:rPr lang="en-US" sz="3200" b="1" dirty="0"/>
              <a:t>XGBoost</a:t>
            </a:r>
            <a:r>
              <a:rPr lang="en-US" sz="3200" dirty="0"/>
              <a:t>، </a:t>
            </a:r>
            <a:r>
              <a:rPr lang="ar-SA" sz="3200" dirty="0"/>
              <a:t>للتنبؤ بمدى ملاءمة الفرص التطوعية للمتطوعين، اعتمادًا على خصائص مثل الاهتمامات والمهارات والتصنيف والتوافر الزمني والموقع.</a:t>
            </a:r>
          </a:p>
          <a:p>
            <a:pPr algn="r" rtl="1"/>
            <a:r>
              <a:rPr lang="ar-SA" sz="3200" dirty="0"/>
              <a:t>تتطلب هذه الطريقة جمع بيانات تدريبية تتضمن أمثلة لمتطوعين وفرص تطوعية، مع تحديد مدى ملاءمة كل فرصة للمتطوع. ويمكن البحث عن مجموعة بيانات جاهزة ومناسبة، أو إعداد بيانات أولية مصنّفة بعناية عند عدم توفر بيانات مناسبة، ثم تجهيز البيانات وتدريب النموذج وتقييم أدائه لاختيار الخوارزمية الأفضل.</a:t>
            </a:r>
          </a:p>
          <a:p>
            <a:pPr algn="r"/>
            <a:endParaRPr lang="ar-SA" sz="3200" b="1" dirty="0"/>
          </a:p>
        </p:txBody>
      </p:sp>
      <p:sp>
        <p:nvSpPr>
          <p:cNvPr id="3" name="Slide Number Placeholder 2">
            <a:extLst>
              <a:ext uri="{FF2B5EF4-FFF2-40B4-BE49-F238E27FC236}">
                <a16:creationId xmlns:a16="http://schemas.microsoft.com/office/drawing/2014/main" id="{361BF23C-2246-D96A-64A5-C49458F841BD}"/>
              </a:ext>
            </a:extLst>
          </p:cNvPr>
          <p:cNvSpPr>
            <a:spLocks noGrp="1"/>
          </p:cNvSpPr>
          <p:nvPr>
            <p:ph type="sldNum" sz="quarter" idx="12"/>
          </p:nvPr>
        </p:nvSpPr>
        <p:spPr/>
        <p:txBody>
          <a:bodyPr/>
          <a:lstStyle/>
          <a:p>
            <a:fld id="{3EB37142-BB67-4B06-93E6-8D10723F8802}" type="slidenum">
              <a:rPr lang="en-US" smtClean="0"/>
              <a:t>23</a:t>
            </a:fld>
            <a:endParaRPr lang="en-US" dirty="0"/>
          </a:p>
        </p:txBody>
      </p:sp>
    </p:spTree>
    <p:extLst>
      <p:ext uri="{BB962C8B-B14F-4D97-AF65-F5344CB8AC3E}">
        <p14:creationId xmlns:p14="http://schemas.microsoft.com/office/powerpoint/2010/main" val="2974803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CBB69-0EF6-3857-892D-48E3543501B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0D2E788-85AC-BE36-AC54-1B71D599ED70}"/>
              </a:ext>
            </a:extLst>
          </p:cNvPr>
          <p:cNvSpPr txBox="1">
            <a:spLocks/>
          </p:cNvSpPr>
          <p:nvPr/>
        </p:nvSpPr>
        <p:spPr>
          <a:xfrm>
            <a:off x="4122821" y="368718"/>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b="1" dirty="0"/>
              <a:t>اختيار خوارزمية التوصية الذكية :</a:t>
            </a:r>
          </a:p>
        </p:txBody>
      </p:sp>
      <p:sp>
        <p:nvSpPr>
          <p:cNvPr id="10" name="Title 1">
            <a:extLst>
              <a:ext uri="{FF2B5EF4-FFF2-40B4-BE49-F238E27FC236}">
                <a16:creationId xmlns:a16="http://schemas.microsoft.com/office/drawing/2014/main" id="{394BA558-06DF-C4B8-694D-3A12B10F8840}"/>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2" name="Title 1">
            <a:extLst>
              <a:ext uri="{FF2B5EF4-FFF2-40B4-BE49-F238E27FC236}">
                <a16:creationId xmlns:a16="http://schemas.microsoft.com/office/drawing/2014/main" id="{AB2EF3EB-B8B8-033C-0AC5-E6ADD1808238}"/>
              </a:ext>
            </a:extLst>
          </p:cNvPr>
          <p:cNvSpPr txBox="1">
            <a:spLocks/>
          </p:cNvSpPr>
          <p:nvPr/>
        </p:nvSpPr>
        <p:spPr>
          <a:xfrm>
            <a:off x="296171" y="1818870"/>
            <a:ext cx="11599658" cy="462559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b="1" dirty="0"/>
              <a:t>الاحتمال الثالث:</a:t>
            </a:r>
          </a:p>
          <a:p>
            <a:pPr algn="r" rtl="1"/>
            <a:endParaRPr lang="ar-SA" sz="3200" b="1" dirty="0"/>
          </a:p>
          <a:p>
            <a:pPr algn="r" rtl="1"/>
            <a:r>
              <a:rPr lang="ar-SA" sz="3200" b="1" dirty="0"/>
              <a:t>استخدام نموذج ذكاء اصطناعي جاهز عبر </a:t>
            </a:r>
            <a:r>
              <a:rPr lang="en-US" sz="3200" b="1" dirty="0"/>
              <a:t>API</a:t>
            </a:r>
          </a:p>
          <a:p>
            <a:pPr algn="r" rtl="1"/>
            <a:r>
              <a:rPr lang="ar-SA" sz="3200" dirty="0"/>
              <a:t>بدلًا من تدريب نموذج تعلم آلي خاص بالمشروع، يمكن استخدام </a:t>
            </a:r>
            <a:r>
              <a:rPr lang="en-US" sz="3200" b="1" dirty="0"/>
              <a:t>OpenAI API</a:t>
            </a:r>
            <a:r>
              <a:rPr lang="en-US" sz="3200" dirty="0"/>
              <a:t> </a:t>
            </a:r>
            <a:r>
              <a:rPr lang="ar-SA" sz="3200" dirty="0"/>
              <a:t>لربط النظام بنموذج ذكاء اصطناعي جاهز، وإرسال معلومات المتطوع والفرص التطوعية المتاحة إليه، ليحلل مدى ملاءمتها ويعيد الفرص الأكثر توافقًا مع اهتمامات المتطوع ومهاراته وتفضيلاته.</a:t>
            </a:r>
          </a:p>
          <a:p>
            <a:pPr algn="r" rtl="1"/>
            <a:endParaRPr lang="ar-SA" sz="3200" dirty="0"/>
          </a:p>
          <a:p>
            <a:pPr algn="r" rtl="1"/>
            <a:r>
              <a:rPr lang="ar-SA" sz="3200" b="1" dirty="0"/>
              <a:t>ميزته:</a:t>
            </a:r>
            <a:r>
              <a:rPr lang="ar-SA" sz="3200" dirty="0"/>
              <a:t> لا يتطلب تدريب نموذج خاص أو جمع مجموعة بيانات تدريبية كبيرة في البداية، كما يتيح الاستفادة من قدرات نموذج جاهز في تحليل النصوص ومقارنة الفرص. لكن استخدامه قد يترتب عليه تكاليف تشغيلية، ويعتمد على توفر الخدمة والاتصال بالإنترنت، كما يجب تقييم جودة التوصيات والتحقق من صحتها قبل عرضها.</a:t>
            </a:r>
          </a:p>
        </p:txBody>
      </p:sp>
      <p:sp>
        <p:nvSpPr>
          <p:cNvPr id="3" name="Slide Number Placeholder 2">
            <a:extLst>
              <a:ext uri="{FF2B5EF4-FFF2-40B4-BE49-F238E27FC236}">
                <a16:creationId xmlns:a16="http://schemas.microsoft.com/office/drawing/2014/main" id="{8AFD6AC5-B2CF-8904-81FB-5C26B5ACC205}"/>
              </a:ext>
            </a:extLst>
          </p:cNvPr>
          <p:cNvSpPr>
            <a:spLocks noGrp="1"/>
          </p:cNvSpPr>
          <p:nvPr>
            <p:ph type="sldNum" sz="quarter" idx="12"/>
          </p:nvPr>
        </p:nvSpPr>
        <p:spPr/>
        <p:txBody>
          <a:bodyPr/>
          <a:lstStyle/>
          <a:p>
            <a:fld id="{3EB37142-BB67-4B06-93E6-8D10723F8802}" type="slidenum">
              <a:rPr lang="en-US" smtClean="0"/>
              <a:t>24</a:t>
            </a:fld>
            <a:endParaRPr lang="en-US" dirty="0"/>
          </a:p>
        </p:txBody>
      </p:sp>
    </p:spTree>
    <p:extLst>
      <p:ext uri="{BB962C8B-B14F-4D97-AF65-F5344CB8AC3E}">
        <p14:creationId xmlns:p14="http://schemas.microsoft.com/office/powerpoint/2010/main" val="2220442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3D7B6-BAAC-0A39-C572-3D95D15E656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9D171A4-533E-5B14-A158-F3DFCD72AEE5}"/>
              </a:ext>
            </a:extLst>
          </p:cNvPr>
          <p:cNvSpPr txBox="1">
            <a:spLocks/>
          </p:cNvSpPr>
          <p:nvPr/>
        </p:nvSpPr>
        <p:spPr>
          <a:xfrm>
            <a:off x="4405781" y="7041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4400" dirty="0"/>
              <a:t>خطة الاختبار و جداوله :</a:t>
            </a:r>
            <a:endParaRPr lang="ar-SA" sz="4400" b="1" dirty="0"/>
          </a:p>
        </p:txBody>
      </p:sp>
      <p:sp>
        <p:nvSpPr>
          <p:cNvPr id="10" name="Title 1">
            <a:extLst>
              <a:ext uri="{FF2B5EF4-FFF2-40B4-BE49-F238E27FC236}">
                <a16:creationId xmlns:a16="http://schemas.microsoft.com/office/drawing/2014/main" id="{3D81AF45-4830-BB92-6199-870C1E58B3DF}"/>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sp>
        <p:nvSpPr>
          <p:cNvPr id="2" name="Title 1">
            <a:extLst>
              <a:ext uri="{FF2B5EF4-FFF2-40B4-BE49-F238E27FC236}">
                <a16:creationId xmlns:a16="http://schemas.microsoft.com/office/drawing/2014/main" id="{56AC7687-AF13-099E-6064-40715B9CF5A4}"/>
              </a:ext>
            </a:extLst>
          </p:cNvPr>
          <p:cNvSpPr txBox="1">
            <a:spLocks/>
          </p:cNvSpPr>
          <p:nvPr/>
        </p:nvSpPr>
        <p:spPr>
          <a:xfrm>
            <a:off x="144379" y="753090"/>
            <a:ext cx="11599658" cy="15676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200" dirty="0"/>
              <a:t>تهدف خطة الاختبار إلى التحقق من أن النظام ينفذ المتطلبات الوظيفية وغير الوظيفية بصورة صحيحة، وأن المستخدمين يستطيعون تنفيذ المهام المسموح بها دون تجاوز الصلاحيات المحددة.</a:t>
            </a:r>
          </a:p>
        </p:txBody>
      </p:sp>
      <p:sp>
        <p:nvSpPr>
          <p:cNvPr id="7" name="TextBox 6">
            <a:extLst>
              <a:ext uri="{FF2B5EF4-FFF2-40B4-BE49-F238E27FC236}">
                <a16:creationId xmlns:a16="http://schemas.microsoft.com/office/drawing/2014/main" id="{AB0739B9-748A-C529-6C58-80AC8BC33307}"/>
              </a:ext>
            </a:extLst>
          </p:cNvPr>
          <p:cNvSpPr txBox="1"/>
          <p:nvPr/>
        </p:nvSpPr>
        <p:spPr>
          <a:xfrm>
            <a:off x="4871308" y="2418658"/>
            <a:ext cx="6168188" cy="584775"/>
          </a:xfrm>
          <a:prstGeom prst="rect">
            <a:avLst/>
          </a:prstGeom>
          <a:noFill/>
        </p:spPr>
        <p:txBody>
          <a:bodyPr wrap="square">
            <a:spAutoFit/>
          </a:bodyPr>
          <a:lstStyle/>
          <a:p>
            <a:pPr algn="r"/>
            <a:r>
              <a:rPr lang="ar-SA" sz="3200" dirty="0"/>
              <a:t>نواع الاختبارات المقترحة:</a:t>
            </a:r>
            <a:endParaRPr lang="en-US" sz="3200" dirty="0"/>
          </a:p>
        </p:txBody>
      </p:sp>
      <p:graphicFrame>
        <p:nvGraphicFramePr>
          <p:cNvPr id="9" name="Table 8">
            <a:extLst>
              <a:ext uri="{FF2B5EF4-FFF2-40B4-BE49-F238E27FC236}">
                <a16:creationId xmlns:a16="http://schemas.microsoft.com/office/drawing/2014/main" id="{E847EAB7-A248-9E6A-5B1A-4A14ADAE0070}"/>
              </a:ext>
            </a:extLst>
          </p:cNvPr>
          <p:cNvGraphicFramePr>
            <a:graphicFrameLocks noGrp="1"/>
          </p:cNvGraphicFramePr>
          <p:nvPr>
            <p:extLst>
              <p:ext uri="{D42A27DB-BD31-4B8C-83A1-F6EECF244321}">
                <p14:modId xmlns:p14="http://schemas.microsoft.com/office/powerpoint/2010/main" val="2158353952"/>
              </p:ext>
            </p:extLst>
          </p:nvPr>
        </p:nvGraphicFramePr>
        <p:xfrm>
          <a:off x="296171" y="2894698"/>
          <a:ext cx="11447866" cy="3617300"/>
        </p:xfrm>
        <a:graphic>
          <a:graphicData uri="http://schemas.openxmlformats.org/drawingml/2006/table">
            <a:tbl>
              <a:tblPr/>
              <a:tblGrid>
                <a:gridCol w="3168924">
                  <a:extLst>
                    <a:ext uri="{9D8B030D-6E8A-4147-A177-3AD203B41FA5}">
                      <a16:colId xmlns:a16="http://schemas.microsoft.com/office/drawing/2014/main" val="2938478889"/>
                    </a:ext>
                  </a:extLst>
                </a:gridCol>
                <a:gridCol w="8278942">
                  <a:extLst>
                    <a:ext uri="{9D8B030D-6E8A-4147-A177-3AD203B41FA5}">
                      <a16:colId xmlns:a16="http://schemas.microsoft.com/office/drawing/2014/main" val="2705240331"/>
                    </a:ext>
                  </a:extLst>
                </a:gridCol>
              </a:tblGrid>
              <a:tr h="723460">
                <a:tc>
                  <a:txBody>
                    <a:bodyPr/>
                    <a:lstStyle/>
                    <a:p>
                      <a:pPr>
                        <a:buNone/>
                      </a:pPr>
                      <a:r>
                        <a:rPr lang="ar-SA" sz="2400"/>
                        <a:t>اختبار التحقق من المدخلات</a:t>
                      </a:r>
                    </a:p>
                  </a:txBody>
                  <a:tcPr anchor="ctr">
                    <a:lnL>
                      <a:noFill/>
                    </a:lnL>
                    <a:lnR>
                      <a:noFill/>
                    </a:lnR>
                    <a:lnT>
                      <a:noFill/>
                    </a:lnT>
                    <a:lnB>
                      <a:noFill/>
                    </a:lnB>
                    <a:noFill/>
                  </a:tcPr>
                </a:tc>
                <a:tc>
                  <a:txBody>
                    <a:bodyPr/>
                    <a:lstStyle/>
                    <a:p>
                      <a:pPr>
                        <a:buNone/>
                      </a:pPr>
                      <a:r>
                        <a:rPr lang="ar-SA" sz="2400"/>
                        <a:t>رفض البيانات الناقصة أو غير الصحيحة.</a:t>
                      </a:r>
                    </a:p>
                  </a:txBody>
                  <a:tcPr anchor="ctr">
                    <a:lnL>
                      <a:noFill/>
                    </a:lnL>
                    <a:lnR>
                      <a:noFill/>
                    </a:lnR>
                    <a:lnT>
                      <a:noFill/>
                    </a:lnT>
                    <a:lnB>
                      <a:noFill/>
                    </a:lnB>
                    <a:noFill/>
                  </a:tcPr>
                </a:tc>
                <a:extLst>
                  <a:ext uri="{0D108BD9-81ED-4DB2-BD59-A6C34878D82A}">
                    <a16:rowId xmlns:a16="http://schemas.microsoft.com/office/drawing/2014/main" val="1295602134"/>
                  </a:ext>
                </a:extLst>
              </a:tr>
              <a:tr h="723460">
                <a:tc>
                  <a:txBody>
                    <a:bodyPr/>
                    <a:lstStyle/>
                    <a:p>
                      <a:pPr>
                        <a:buNone/>
                      </a:pPr>
                      <a:r>
                        <a:rPr lang="ar-SA" sz="2400"/>
                        <a:t>اختبار الصلاحيات</a:t>
                      </a:r>
                    </a:p>
                  </a:txBody>
                  <a:tcPr anchor="ctr">
                    <a:lnL>
                      <a:noFill/>
                    </a:lnL>
                    <a:lnR>
                      <a:noFill/>
                    </a:lnR>
                    <a:lnT>
                      <a:noFill/>
                    </a:lnT>
                    <a:lnB>
                      <a:noFill/>
                    </a:lnB>
                    <a:noFill/>
                  </a:tcPr>
                </a:tc>
                <a:tc>
                  <a:txBody>
                    <a:bodyPr/>
                    <a:lstStyle/>
                    <a:p>
                      <a:pPr>
                        <a:buNone/>
                      </a:pPr>
                      <a:r>
                        <a:rPr lang="ar-SA" sz="2400"/>
                        <a:t>منع الوصول إلى الوظائف غير المسموح بها.</a:t>
                      </a:r>
                    </a:p>
                  </a:txBody>
                  <a:tcPr anchor="ctr">
                    <a:lnL>
                      <a:noFill/>
                    </a:lnL>
                    <a:lnR>
                      <a:noFill/>
                    </a:lnR>
                    <a:lnT>
                      <a:noFill/>
                    </a:lnT>
                    <a:lnB>
                      <a:noFill/>
                    </a:lnB>
                    <a:noFill/>
                  </a:tcPr>
                </a:tc>
                <a:extLst>
                  <a:ext uri="{0D108BD9-81ED-4DB2-BD59-A6C34878D82A}">
                    <a16:rowId xmlns:a16="http://schemas.microsoft.com/office/drawing/2014/main" val="1793799749"/>
                  </a:ext>
                </a:extLst>
              </a:tr>
              <a:tr h="723460">
                <a:tc>
                  <a:txBody>
                    <a:bodyPr/>
                    <a:lstStyle/>
                    <a:p>
                      <a:pPr>
                        <a:buNone/>
                      </a:pPr>
                      <a:r>
                        <a:rPr lang="ar-SA" sz="2400"/>
                        <a:t>اختبار التكامل</a:t>
                      </a:r>
                    </a:p>
                  </a:txBody>
                  <a:tcPr anchor="ctr">
                    <a:lnL>
                      <a:noFill/>
                    </a:lnL>
                    <a:lnR>
                      <a:noFill/>
                    </a:lnR>
                    <a:lnT>
                      <a:noFill/>
                    </a:lnT>
                    <a:lnB>
                      <a:noFill/>
                    </a:lnB>
                    <a:noFill/>
                  </a:tcPr>
                </a:tc>
                <a:tc>
                  <a:txBody>
                    <a:bodyPr/>
                    <a:lstStyle/>
                    <a:p>
                      <a:pPr>
                        <a:buNone/>
                      </a:pPr>
                      <a:r>
                        <a:rPr lang="ar-SA" sz="2400"/>
                        <a:t>التأكد من ترابط الواجهات ومنطق الأعمال وقاعدة البيانات.</a:t>
                      </a:r>
                    </a:p>
                  </a:txBody>
                  <a:tcPr anchor="ctr">
                    <a:lnL>
                      <a:noFill/>
                    </a:lnL>
                    <a:lnR>
                      <a:noFill/>
                    </a:lnR>
                    <a:lnT>
                      <a:noFill/>
                    </a:lnT>
                    <a:lnB>
                      <a:noFill/>
                    </a:lnB>
                    <a:noFill/>
                  </a:tcPr>
                </a:tc>
                <a:extLst>
                  <a:ext uri="{0D108BD9-81ED-4DB2-BD59-A6C34878D82A}">
                    <a16:rowId xmlns:a16="http://schemas.microsoft.com/office/drawing/2014/main" val="3258691610"/>
                  </a:ext>
                </a:extLst>
              </a:tr>
              <a:tr h="723460">
                <a:tc>
                  <a:txBody>
                    <a:bodyPr/>
                    <a:lstStyle/>
                    <a:p>
                      <a:pPr>
                        <a:buNone/>
                      </a:pPr>
                      <a:r>
                        <a:rPr lang="ar-SA" sz="2400"/>
                        <a:t>اختبار الحدود</a:t>
                      </a:r>
                    </a:p>
                  </a:txBody>
                  <a:tcPr anchor="ctr">
                    <a:lnL>
                      <a:noFill/>
                    </a:lnL>
                    <a:lnR>
                      <a:noFill/>
                    </a:lnR>
                    <a:lnT>
                      <a:noFill/>
                    </a:lnT>
                    <a:lnB>
                      <a:noFill/>
                    </a:lnB>
                    <a:noFill/>
                  </a:tcPr>
                </a:tc>
                <a:tc>
                  <a:txBody>
                    <a:bodyPr/>
                    <a:lstStyle/>
                    <a:p>
                      <a:pPr>
                        <a:buNone/>
                      </a:pPr>
                      <a:r>
                        <a:rPr lang="ar-SA" sz="2400"/>
                        <a:t>التحقق من الحالات مثل امتلاء الفرصة أو انتهاء التسجيل.</a:t>
                      </a:r>
                    </a:p>
                  </a:txBody>
                  <a:tcPr anchor="ctr">
                    <a:lnL>
                      <a:noFill/>
                    </a:lnL>
                    <a:lnR>
                      <a:noFill/>
                    </a:lnR>
                    <a:lnT>
                      <a:noFill/>
                    </a:lnT>
                    <a:lnB>
                      <a:noFill/>
                    </a:lnB>
                    <a:noFill/>
                  </a:tcPr>
                </a:tc>
                <a:extLst>
                  <a:ext uri="{0D108BD9-81ED-4DB2-BD59-A6C34878D82A}">
                    <a16:rowId xmlns:a16="http://schemas.microsoft.com/office/drawing/2014/main" val="412113053"/>
                  </a:ext>
                </a:extLst>
              </a:tr>
              <a:tr h="723460">
                <a:tc>
                  <a:txBody>
                    <a:bodyPr/>
                    <a:lstStyle/>
                    <a:p>
                      <a:pPr>
                        <a:buNone/>
                      </a:pPr>
                      <a:r>
                        <a:rPr lang="ar-SA" sz="2400" dirty="0"/>
                        <a:t>اختبار التوصيات</a:t>
                      </a:r>
                    </a:p>
                  </a:txBody>
                  <a:tcPr anchor="ctr">
                    <a:lnL>
                      <a:noFill/>
                    </a:lnL>
                    <a:lnR>
                      <a:noFill/>
                    </a:lnR>
                    <a:lnT>
                      <a:noFill/>
                    </a:lnT>
                    <a:lnB>
                      <a:noFill/>
                    </a:lnB>
                    <a:noFill/>
                  </a:tcPr>
                </a:tc>
                <a:tc>
                  <a:txBody>
                    <a:bodyPr/>
                    <a:lstStyle/>
                    <a:p>
                      <a:pPr>
                        <a:buNone/>
                      </a:pPr>
                      <a:r>
                        <a:rPr lang="ar-SA" sz="2400" dirty="0"/>
                        <a:t>التحقق من صحة حساب درجات الملاءمة وترتيب النتائج.</a:t>
                      </a:r>
                    </a:p>
                  </a:txBody>
                  <a:tcPr anchor="ctr">
                    <a:lnL>
                      <a:noFill/>
                    </a:lnL>
                    <a:lnR>
                      <a:noFill/>
                    </a:lnR>
                    <a:lnT>
                      <a:noFill/>
                    </a:lnT>
                    <a:lnB>
                      <a:noFill/>
                    </a:lnB>
                    <a:noFill/>
                  </a:tcPr>
                </a:tc>
                <a:extLst>
                  <a:ext uri="{0D108BD9-81ED-4DB2-BD59-A6C34878D82A}">
                    <a16:rowId xmlns:a16="http://schemas.microsoft.com/office/drawing/2014/main" val="2011102478"/>
                  </a:ext>
                </a:extLst>
              </a:tr>
            </a:tbl>
          </a:graphicData>
        </a:graphic>
      </p:graphicFrame>
      <p:sp>
        <p:nvSpPr>
          <p:cNvPr id="3" name="Slide Number Placeholder 2">
            <a:extLst>
              <a:ext uri="{FF2B5EF4-FFF2-40B4-BE49-F238E27FC236}">
                <a16:creationId xmlns:a16="http://schemas.microsoft.com/office/drawing/2014/main" id="{8C4FBA77-9792-2048-F78F-506C62AD8964}"/>
              </a:ext>
            </a:extLst>
          </p:cNvPr>
          <p:cNvSpPr>
            <a:spLocks noGrp="1"/>
          </p:cNvSpPr>
          <p:nvPr>
            <p:ph type="sldNum" sz="quarter" idx="12"/>
          </p:nvPr>
        </p:nvSpPr>
        <p:spPr/>
        <p:txBody>
          <a:bodyPr/>
          <a:lstStyle/>
          <a:p>
            <a:fld id="{3EB37142-BB67-4B06-93E6-8D10723F8802}" type="slidenum">
              <a:rPr lang="en-US" smtClean="0"/>
              <a:t>25</a:t>
            </a:fld>
            <a:endParaRPr lang="en-US" dirty="0"/>
          </a:p>
        </p:txBody>
      </p:sp>
    </p:spTree>
    <p:extLst>
      <p:ext uri="{BB962C8B-B14F-4D97-AF65-F5344CB8AC3E}">
        <p14:creationId xmlns:p14="http://schemas.microsoft.com/office/powerpoint/2010/main" val="21624337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71E00-CBF3-6312-829F-15FF6CF5FD5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0AC1432-60AF-6314-EC57-96DFC8890D68}"/>
              </a:ext>
            </a:extLst>
          </p:cNvPr>
          <p:cNvSpPr txBox="1">
            <a:spLocks/>
          </p:cNvSpPr>
          <p:nvPr/>
        </p:nvSpPr>
        <p:spPr>
          <a:xfrm>
            <a:off x="4405781" y="7041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اختبار إنشاء الحساب:</a:t>
            </a:r>
            <a:endParaRPr lang="ar-SA" sz="3600" b="1" dirty="0"/>
          </a:p>
        </p:txBody>
      </p:sp>
      <p:sp>
        <p:nvSpPr>
          <p:cNvPr id="10" name="Title 1">
            <a:extLst>
              <a:ext uri="{FF2B5EF4-FFF2-40B4-BE49-F238E27FC236}">
                <a16:creationId xmlns:a16="http://schemas.microsoft.com/office/drawing/2014/main" id="{DFC9ED17-91D9-2CED-3E23-C8B959394F4E}"/>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4" name="Table 3">
            <a:extLst>
              <a:ext uri="{FF2B5EF4-FFF2-40B4-BE49-F238E27FC236}">
                <a16:creationId xmlns:a16="http://schemas.microsoft.com/office/drawing/2014/main" id="{336DD906-C422-2271-A38A-6900BC315C5D}"/>
              </a:ext>
            </a:extLst>
          </p:cNvPr>
          <p:cNvGraphicFramePr>
            <a:graphicFrameLocks noGrp="1"/>
          </p:cNvGraphicFramePr>
          <p:nvPr>
            <p:extLst>
              <p:ext uri="{D42A27DB-BD31-4B8C-83A1-F6EECF244321}">
                <p14:modId xmlns:p14="http://schemas.microsoft.com/office/powerpoint/2010/main" val="3748729917"/>
              </p:ext>
            </p:extLst>
          </p:nvPr>
        </p:nvGraphicFramePr>
        <p:xfrm>
          <a:off x="838199" y="1666947"/>
          <a:ext cx="10598744" cy="4252588"/>
        </p:xfrm>
        <a:graphic>
          <a:graphicData uri="http://schemas.openxmlformats.org/drawingml/2006/table">
            <a:tbl>
              <a:tblPr/>
              <a:tblGrid>
                <a:gridCol w="2112311">
                  <a:extLst>
                    <a:ext uri="{9D8B030D-6E8A-4147-A177-3AD203B41FA5}">
                      <a16:colId xmlns:a16="http://schemas.microsoft.com/office/drawing/2014/main" val="2737054934"/>
                    </a:ext>
                  </a:extLst>
                </a:gridCol>
                <a:gridCol w="3619608">
                  <a:extLst>
                    <a:ext uri="{9D8B030D-6E8A-4147-A177-3AD203B41FA5}">
                      <a16:colId xmlns:a16="http://schemas.microsoft.com/office/drawing/2014/main" val="2186646479"/>
                    </a:ext>
                  </a:extLst>
                </a:gridCol>
                <a:gridCol w="4411255">
                  <a:extLst>
                    <a:ext uri="{9D8B030D-6E8A-4147-A177-3AD203B41FA5}">
                      <a16:colId xmlns:a16="http://schemas.microsoft.com/office/drawing/2014/main" val="131562255"/>
                    </a:ext>
                  </a:extLst>
                </a:gridCol>
                <a:gridCol w="246380">
                  <a:extLst>
                    <a:ext uri="{9D8B030D-6E8A-4147-A177-3AD203B41FA5}">
                      <a16:colId xmlns:a16="http://schemas.microsoft.com/office/drawing/2014/main" val="3020893366"/>
                    </a:ext>
                  </a:extLst>
                </a:gridCol>
                <a:gridCol w="209190">
                  <a:extLst>
                    <a:ext uri="{9D8B030D-6E8A-4147-A177-3AD203B41FA5}">
                      <a16:colId xmlns:a16="http://schemas.microsoft.com/office/drawing/2014/main" val="899505442"/>
                    </a:ext>
                  </a:extLst>
                </a:gridCol>
              </a:tblGrid>
              <a:tr h="462238">
                <a:tc>
                  <a:txBody>
                    <a:bodyPr/>
                    <a:lstStyle/>
                    <a:p>
                      <a:pPr>
                        <a:buNone/>
                      </a:pPr>
                      <a:r>
                        <a:rPr lang="ar-SA" sz="2400"/>
                        <a:t>قم الاختبار</a:t>
                      </a:r>
                    </a:p>
                  </a:txBody>
                  <a:tcPr anchor="ctr">
                    <a:lnL>
                      <a:noFill/>
                    </a:lnL>
                    <a:lnR>
                      <a:noFill/>
                    </a:lnR>
                    <a:lnT>
                      <a:noFill/>
                    </a:lnT>
                    <a:lnB>
                      <a:noFill/>
                    </a:lnB>
                    <a:noFill/>
                  </a:tcPr>
                </a:tc>
                <a:tc>
                  <a:txBody>
                    <a:bodyPr/>
                    <a:lstStyle/>
                    <a:p>
                      <a:pPr>
                        <a:buNone/>
                      </a:pPr>
                      <a:r>
                        <a:rPr lang="ar-SA" sz="2400"/>
                        <a:t>حالة الاختبار والمدخلات</a:t>
                      </a:r>
                    </a:p>
                  </a:txBody>
                  <a:tcPr anchor="ctr">
                    <a:lnL>
                      <a:noFill/>
                    </a:lnL>
                    <a:lnR>
                      <a:noFill/>
                    </a:lnR>
                    <a:lnT>
                      <a:noFill/>
                    </a:lnT>
                    <a:lnB>
                      <a:noFill/>
                    </a:lnB>
                    <a:noFill/>
                  </a:tcPr>
                </a:tc>
                <a:tc>
                  <a:txBody>
                    <a:bodyPr/>
                    <a:lstStyle/>
                    <a:p>
                      <a:pPr>
                        <a:buNone/>
                      </a:pPr>
                      <a:r>
                        <a:rPr lang="ar-SA" sz="2400" dirty="0"/>
                        <a:t>النتيجة</a:t>
                      </a:r>
                    </a:p>
                  </a:txBody>
                  <a:tcPr anchor="ctr">
                    <a:lnL>
                      <a:noFill/>
                    </a:lnL>
                    <a:lnR>
                      <a:noFill/>
                    </a:lnR>
                    <a:lnT>
                      <a:noFill/>
                    </a:lnT>
                    <a:lnB>
                      <a:noFill/>
                    </a:lnB>
                    <a:noFill/>
                  </a:tcPr>
                </a:tc>
                <a:tc>
                  <a:txBody>
                    <a:bodyPr/>
                    <a:lstStyle/>
                    <a:p>
                      <a:pPr>
                        <a:buNone/>
                      </a:pPr>
                      <a:endParaRPr lang="ar-SA" dirty="0"/>
                    </a:p>
                  </a:txBody>
                  <a:tcPr anchor="ctr">
                    <a:lnL>
                      <a:noFill/>
                    </a:lnL>
                    <a:lnR>
                      <a:noFill/>
                    </a:lnR>
                    <a:lnT>
                      <a:noFill/>
                    </a:lnT>
                    <a:lnB>
                      <a:noFill/>
                    </a:lnB>
                    <a:noFill/>
                  </a:tcPr>
                </a:tc>
                <a:tc>
                  <a:txBody>
                    <a:bodyPr/>
                    <a:lstStyle/>
                    <a:p>
                      <a:pPr>
                        <a:buNone/>
                      </a:pPr>
                      <a:endParaRPr lang="ar-SA" dirty="0"/>
                    </a:p>
                  </a:txBody>
                  <a:tcPr anchor="ctr">
                    <a:lnL>
                      <a:noFill/>
                    </a:lnL>
                    <a:lnR>
                      <a:noFill/>
                    </a:lnR>
                    <a:lnT>
                      <a:noFill/>
                    </a:lnT>
                    <a:lnB>
                      <a:noFill/>
                    </a:lnB>
                    <a:noFill/>
                  </a:tcPr>
                </a:tc>
                <a:extLst>
                  <a:ext uri="{0D108BD9-81ED-4DB2-BD59-A6C34878D82A}">
                    <a16:rowId xmlns:a16="http://schemas.microsoft.com/office/drawing/2014/main" val="1953835057"/>
                  </a:ext>
                </a:extLst>
              </a:tr>
              <a:tr h="832028">
                <a:tc>
                  <a:txBody>
                    <a:bodyPr/>
                    <a:lstStyle/>
                    <a:p>
                      <a:pPr>
                        <a:buNone/>
                      </a:pPr>
                      <a:r>
                        <a:rPr lang="en-US" sz="2400"/>
                        <a:t>TC-01</a:t>
                      </a:r>
                    </a:p>
                  </a:txBody>
                  <a:tcPr anchor="ctr">
                    <a:lnL>
                      <a:noFill/>
                    </a:lnL>
                    <a:lnR>
                      <a:noFill/>
                    </a:lnR>
                    <a:lnT>
                      <a:noFill/>
                    </a:lnT>
                    <a:lnB>
                      <a:noFill/>
                    </a:lnB>
                    <a:noFill/>
                  </a:tcPr>
                </a:tc>
                <a:tc>
                  <a:txBody>
                    <a:bodyPr/>
                    <a:lstStyle/>
                    <a:p>
                      <a:pPr>
                        <a:buNone/>
                      </a:pPr>
                      <a:r>
                        <a:rPr lang="ar-SA" sz="2400"/>
                        <a:t>إنشاء حساب ببيانات صحيحة وبريد غير مستخدم</a:t>
                      </a:r>
                    </a:p>
                  </a:txBody>
                  <a:tcPr anchor="ctr">
                    <a:lnL>
                      <a:noFill/>
                    </a:lnL>
                    <a:lnR>
                      <a:noFill/>
                    </a:lnR>
                    <a:lnT>
                      <a:noFill/>
                    </a:lnT>
                    <a:lnB>
                      <a:noFill/>
                    </a:lnB>
                    <a:noFill/>
                  </a:tcPr>
                </a:tc>
                <a:tc>
                  <a:txBody>
                    <a:bodyPr/>
                    <a:lstStyle/>
                    <a:p>
                      <a:pPr>
                        <a:buNone/>
                      </a:pPr>
                      <a:r>
                        <a:rPr lang="ar-SA" sz="2400"/>
                        <a:t>إنشاء الحساب بنجاح وحفظ بياناته.</a:t>
                      </a:r>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2437812646"/>
                  </a:ext>
                </a:extLst>
              </a:tr>
              <a:tr h="832028">
                <a:tc>
                  <a:txBody>
                    <a:bodyPr/>
                    <a:lstStyle/>
                    <a:p>
                      <a:pPr>
                        <a:buNone/>
                      </a:pPr>
                      <a:r>
                        <a:rPr lang="en-US" sz="2400"/>
                        <a:t>TC-02</a:t>
                      </a:r>
                    </a:p>
                  </a:txBody>
                  <a:tcPr anchor="ctr">
                    <a:lnL>
                      <a:noFill/>
                    </a:lnL>
                    <a:lnR>
                      <a:noFill/>
                    </a:lnR>
                    <a:lnT>
                      <a:noFill/>
                    </a:lnT>
                    <a:lnB>
                      <a:noFill/>
                    </a:lnB>
                    <a:noFill/>
                  </a:tcPr>
                </a:tc>
                <a:tc>
                  <a:txBody>
                    <a:bodyPr/>
                    <a:lstStyle/>
                    <a:p>
                      <a:pPr>
                        <a:buNone/>
                      </a:pPr>
                      <a:r>
                        <a:rPr lang="ar-SA" sz="2400"/>
                        <a:t>إنشاء حساب ببريد مستخدم مسبقًا</a:t>
                      </a:r>
                    </a:p>
                  </a:txBody>
                  <a:tcPr anchor="ctr">
                    <a:lnL>
                      <a:noFill/>
                    </a:lnL>
                    <a:lnR>
                      <a:noFill/>
                    </a:lnR>
                    <a:lnT>
                      <a:noFill/>
                    </a:lnT>
                    <a:lnB>
                      <a:noFill/>
                    </a:lnB>
                    <a:noFill/>
                  </a:tcPr>
                </a:tc>
                <a:tc>
                  <a:txBody>
                    <a:bodyPr/>
                    <a:lstStyle/>
                    <a:p>
                      <a:pPr>
                        <a:buNone/>
                      </a:pPr>
                      <a:r>
                        <a:rPr lang="ar-SA" sz="2400"/>
                        <a:t>رفض إنشاء حساب مكرر وإظهار رسالة مناسبة.</a:t>
                      </a:r>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2990336538"/>
                  </a:ext>
                </a:extLst>
              </a:tr>
              <a:tr h="462238">
                <a:tc>
                  <a:txBody>
                    <a:bodyPr/>
                    <a:lstStyle/>
                    <a:p>
                      <a:pPr>
                        <a:buNone/>
                      </a:pPr>
                      <a:r>
                        <a:rPr lang="en-US" sz="2400"/>
                        <a:t>TC-03</a:t>
                      </a:r>
                    </a:p>
                  </a:txBody>
                  <a:tcPr anchor="ctr">
                    <a:lnL>
                      <a:noFill/>
                    </a:lnL>
                    <a:lnR>
                      <a:noFill/>
                    </a:lnR>
                    <a:lnT>
                      <a:noFill/>
                    </a:lnT>
                    <a:lnB>
                      <a:noFill/>
                    </a:lnB>
                    <a:noFill/>
                  </a:tcPr>
                </a:tc>
                <a:tc>
                  <a:txBody>
                    <a:bodyPr/>
                    <a:lstStyle/>
                    <a:p>
                      <a:pPr>
                        <a:buNone/>
                      </a:pPr>
                      <a:r>
                        <a:rPr lang="ar-SA" sz="2400"/>
                        <a:t>ترك حقل إلزامي فارغًا</a:t>
                      </a:r>
                    </a:p>
                  </a:txBody>
                  <a:tcPr anchor="ctr">
                    <a:lnL>
                      <a:noFill/>
                    </a:lnL>
                    <a:lnR>
                      <a:noFill/>
                    </a:lnR>
                    <a:lnT>
                      <a:noFill/>
                    </a:lnT>
                    <a:lnB>
                      <a:noFill/>
                    </a:lnB>
                    <a:noFill/>
                  </a:tcPr>
                </a:tc>
                <a:tc>
                  <a:txBody>
                    <a:bodyPr/>
                    <a:lstStyle/>
                    <a:p>
                      <a:pPr>
                        <a:buNone/>
                      </a:pPr>
                      <a:r>
                        <a:rPr lang="ar-SA" sz="2400"/>
                        <a:t>رفض الإرسال وتوضيح الحقول المطلوبة.</a:t>
                      </a:r>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4260946002"/>
                  </a:ext>
                </a:extLst>
              </a:tr>
              <a:tr h="832028">
                <a:tc>
                  <a:txBody>
                    <a:bodyPr/>
                    <a:lstStyle/>
                    <a:p>
                      <a:pPr>
                        <a:buNone/>
                      </a:pPr>
                      <a:r>
                        <a:rPr lang="en-US" sz="2400"/>
                        <a:t>TC-04</a:t>
                      </a:r>
                    </a:p>
                  </a:txBody>
                  <a:tcPr anchor="ctr">
                    <a:lnL>
                      <a:noFill/>
                    </a:lnL>
                    <a:lnR>
                      <a:noFill/>
                    </a:lnR>
                    <a:lnT>
                      <a:noFill/>
                    </a:lnT>
                    <a:lnB>
                      <a:noFill/>
                    </a:lnB>
                    <a:noFill/>
                  </a:tcPr>
                </a:tc>
                <a:tc>
                  <a:txBody>
                    <a:bodyPr/>
                    <a:lstStyle/>
                    <a:p>
                      <a:pPr>
                        <a:buNone/>
                      </a:pPr>
                      <a:r>
                        <a:rPr lang="ar-SA" sz="2400"/>
                        <a:t>إدخال بريد إلكتروني بصيغة غير صحيحة</a:t>
                      </a:r>
                    </a:p>
                  </a:txBody>
                  <a:tcPr anchor="ctr">
                    <a:lnL>
                      <a:noFill/>
                    </a:lnL>
                    <a:lnR>
                      <a:noFill/>
                    </a:lnR>
                    <a:lnT>
                      <a:noFill/>
                    </a:lnT>
                    <a:lnB>
                      <a:noFill/>
                    </a:lnB>
                    <a:noFill/>
                  </a:tcPr>
                </a:tc>
                <a:tc>
                  <a:txBody>
                    <a:bodyPr/>
                    <a:lstStyle/>
                    <a:p>
                      <a:pPr>
                        <a:buNone/>
                      </a:pPr>
                      <a:r>
                        <a:rPr lang="ar-SA" sz="2400"/>
                        <a:t>رفض البريد وإظهار رسالة تحقق.</a:t>
                      </a:r>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42410918"/>
                  </a:ext>
                </a:extLst>
              </a:tr>
              <a:tr h="832028">
                <a:tc>
                  <a:txBody>
                    <a:bodyPr/>
                    <a:lstStyle/>
                    <a:p>
                      <a:pPr>
                        <a:buNone/>
                      </a:pPr>
                      <a:r>
                        <a:rPr lang="en-US" sz="2400"/>
                        <a:t>TC-05</a:t>
                      </a:r>
                    </a:p>
                  </a:txBody>
                  <a:tcPr anchor="ctr">
                    <a:lnL>
                      <a:noFill/>
                    </a:lnL>
                    <a:lnR>
                      <a:noFill/>
                    </a:lnR>
                    <a:lnT>
                      <a:noFill/>
                    </a:lnT>
                    <a:lnB>
                      <a:noFill/>
                    </a:lnB>
                    <a:noFill/>
                  </a:tcPr>
                </a:tc>
                <a:tc>
                  <a:txBody>
                    <a:bodyPr/>
                    <a:lstStyle/>
                    <a:p>
                      <a:pPr>
                        <a:buNone/>
                      </a:pPr>
                      <a:r>
                        <a:rPr lang="ar-SA" sz="2400"/>
                        <a:t>إدخال كلمة مرور لا تحقق شروط النظام</a:t>
                      </a:r>
                    </a:p>
                  </a:txBody>
                  <a:tcPr anchor="ctr">
                    <a:lnL>
                      <a:noFill/>
                    </a:lnL>
                    <a:lnR>
                      <a:noFill/>
                    </a:lnR>
                    <a:lnT>
                      <a:noFill/>
                    </a:lnT>
                    <a:lnB>
                      <a:noFill/>
                    </a:lnB>
                    <a:noFill/>
                  </a:tcPr>
                </a:tc>
                <a:tc>
                  <a:txBody>
                    <a:bodyPr/>
                    <a:lstStyle/>
                    <a:p>
                      <a:pPr>
                        <a:buNone/>
                      </a:pPr>
                      <a:r>
                        <a:rPr lang="ar-SA" sz="2400" dirty="0"/>
                        <a:t>رفض كلمة المرور أو طلب تعديلها وفق السياسة المحددة.</a:t>
                      </a:r>
                    </a:p>
                  </a:txBody>
                  <a:tcPr anchor="ctr">
                    <a:lnL>
                      <a:noFill/>
                    </a:lnL>
                    <a:lnR>
                      <a:noFill/>
                    </a:lnR>
                    <a:lnT>
                      <a:noFill/>
                    </a:lnT>
                    <a:lnB>
                      <a:noFill/>
                    </a:lnB>
                    <a:noFill/>
                  </a:tcPr>
                </a:tc>
                <a:tc gridSpan="2">
                  <a:txBody>
                    <a:bodyPr/>
                    <a:lstStyle/>
                    <a:p>
                      <a:endParaRPr lang="en-US" dirty="0"/>
                    </a:p>
                  </a:txBody>
                  <a:tcPr>
                    <a:lnL>
                      <a:noFill/>
                    </a:lnL>
                    <a:lnR w="12700" cmpd="sng">
                      <a:noFill/>
                      <a:prstDash val="solid"/>
                    </a:lnR>
                    <a:lnT>
                      <a:noFill/>
                    </a:lnT>
                    <a:lnB w="12700" cmpd="sng">
                      <a:noFill/>
                      <a:prstDash val="solid"/>
                    </a:lnB>
                  </a:tcPr>
                </a:tc>
                <a:tc hMerge="1">
                  <a:txBody>
                    <a:bodyPr/>
                    <a:lstStyle/>
                    <a:p>
                      <a:endParaRPr lang="en-US" dirty="0"/>
                    </a:p>
                  </a:txBody>
                  <a:tcPr>
                    <a:lnT>
                      <a:noFill/>
                    </a:lnT>
                  </a:tcPr>
                </a:tc>
                <a:extLst>
                  <a:ext uri="{0D108BD9-81ED-4DB2-BD59-A6C34878D82A}">
                    <a16:rowId xmlns:a16="http://schemas.microsoft.com/office/drawing/2014/main" val="1654012041"/>
                  </a:ext>
                </a:extLst>
              </a:tr>
            </a:tbl>
          </a:graphicData>
        </a:graphic>
      </p:graphicFrame>
      <p:sp>
        <p:nvSpPr>
          <p:cNvPr id="2" name="Slide Number Placeholder 1">
            <a:extLst>
              <a:ext uri="{FF2B5EF4-FFF2-40B4-BE49-F238E27FC236}">
                <a16:creationId xmlns:a16="http://schemas.microsoft.com/office/drawing/2014/main" id="{BE2EB8D8-CD55-3404-DF7A-AD056CF6CD81}"/>
              </a:ext>
            </a:extLst>
          </p:cNvPr>
          <p:cNvSpPr>
            <a:spLocks noGrp="1"/>
          </p:cNvSpPr>
          <p:nvPr>
            <p:ph type="sldNum" sz="quarter" idx="12"/>
          </p:nvPr>
        </p:nvSpPr>
        <p:spPr/>
        <p:txBody>
          <a:bodyPr/>
          <a:lstStyle/>
          <a:p>
            <a:fld id="{3EB37142-BB67-4B06-93E6-8D10723F8802}" type="slidenum">
              <a:rPr lang="en-US" smtClean="0"/>
              <a:t>26</a:t>
            </a:fld>
            <a:endParaRPr lang="en-US" dirty="0"/>
          </a:p>
        </p:txBody>
      </p:sp>
    </p:spTree>
    <p:extLst>
      <p:ext uri="{BB962C8B-B14F-4D97-AF65-F5344CB8AC3E}">
        <p14:creationId xmlns:p14="http://schemas.microsoft.com/office/powerpoint/2010/main" val="2401555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BFA79-990F-3203-E910-BC6645EF1D7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4067614-C1A4-2E2E-5766-8982DC38C5EE}"/>
              </a:ext>
            </a:extLst>
          </p:cNvPr>
          <p:cNvSpPr txBox="1">
            <a:spLocks/>
          </p:cNvSpPr>
          <p:nvPr/>
        </p:nvSpPr>
        <p:spPr>
          <a:xfrm>
            <a:off x="4405781" y="7041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اختبار تسجيل الدخول:</a:t>
            </a:r>
            <a:endParaRPr lang="ar-SA" sz="3600" b="1" dirty="0"/>
          </a:p>
        </p:txBody>
      </p:sp>
      <p:sp>
        <p:nvSpPr>
          <p:cNvPr id="10" name="Title 1">
            <a:extLst>
              <a:ext uri="{FF2B5EF4-FFF2-40B4-BE49-F238E27FC236}">
                <a16:creationId xmlns:a16="http://schemas.microsoft.com/office/drawing/2014/main" id="{FCEA6EF4-16D6-16D0-E7DC-50A11C4C9A50}"/>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DBBAF95D-9B15-28B3-25CE-7B9E53DDF18A}"/>
              </a:ext>
            </a:extLst>
          </p:cNvPr>
          <p:cNvGraphicFramePr>
            <a:graphicFrameLocks noGrp="1"/>
          </p:cNvGraphicFramePr>
          <p:nvPr>
            <p:extLst>
              <p:ext uri="{D42A27DB-BD31-4B8C-83A1-F6EECF244321}">
                <p14:modId xmlns:p14="http://schemas.microsoft.com/office/powerpoint/2010/main" val="3017191930"/>
              </p:ext>
            </p:extLst>
          </p:nvPr>
        </p:nvGraphicFramePr>
        <p:xfrm>
          <a:off x="767635" y="1057344"/>
          <a:ext cx="10680543" cy="5691670"/>
        </p:xfrm>
        <a:graphic>
          <a:graphicData uri="http://schemas.openxmlformats.org/drawingml/2006/table">
            <a:tbl>
              <a:tblPr/>
              <a:tblGrid>
                <a:gridCol w="2131346">
                  <a:extLst>
                    <a:ext uri="{9D8B030D-6E8A-4147-A177-3AD203B41FA5}">
                      <a16:colId xmlns:a16="http://schemas.microsoft.com/office/drawing/2014/main" val="2859744596"/>
                    </a:ext>
                  </a:extLst>
                </a:gridCol>
                <a:gridCol w="4319966">
                  <a:extLst>
                    <a:ext uri="{9D8B030D-6E8A-4147-A177-3AD203B41FA5}">
                      <a16:colId xmlns:a16="http://schemas.microsoft.com/office/drawing/2014/main" val="2726946637"/>
                    </a:ext>
                  </a:extLst>
                </a:gridCol>
                <a:gridCol w="3799406">
                  <a:extLst>
                    <a:ext uri="{9D8B030D-6E8A-4147-A177-3AD203B41FA5}">
                      <a16:colId xmlns:a16="http://schemas.microsoft.com/office/drawing/2014/main" val="2698031115"/>
                    </a:ext>
                  </a:extLst>
                </a:gridCol>
                <a:gridCol w="226819">
                  <a:extLst>
                    <a:ext uri="{9D8B030D-6E8A-4147-A177-3AD203B41FA5}">
                      <a16:colId xmlns:a16="http://schemas.microsoft.com/office/drawing/2014/main" val="326645178"/>
                    </a:ext>
                  </a:extLst>
                </a:gridCol>
                <a:gridCol w="203006">
                  <a:extLst>
                    <a:ext uri="{9D8B030D-6E8A-4147-A177-3AD203B41FA5}">
                      <a16:colId xmlns:a16="http://schemas.microsoft.com/office/drawing/2014/main" val="3587744036"/>
                    </a:ext>
                  </a:extLst>
                </a:gridCol>
              </a:tblGrid>
              <a:tr h="795030">
                <a:tc>
                  <a:txBody>
                    <a:bodyPr/>
                    <a:lstStyle/>
                    <a:p>
                      <a:pPr>
                        <a:buNone/>
                      </a:pPr>
                      <a:r>
                        <a:rPr lang="en-US" sz="2400"/>
                        <a:t>TC-06</a:t>
                      </a:r>
                    </a:p>
                  </a:txBody>
                  <a:tcPr marL="88803" marR="88803" marT="44401" marB="44401" anchor="ctr">
                    <a:lnL>
                      <a:noFill/>
                    </a:lnL>
                    <a:lnR>
                      <a:noFill/>
                    </a:lnR>
                    <a:lnT>
                      <a:noFill/>
                    </a:lnT>
                    <a:lnB>
                      <a:noFill/>
                    </a:lnB>
                    <a:noFill/>
                  </a:tcPr>
                </a:tc>
                <a:tc>
                  <a:txBody>
                    <a:bodyPr/>
                    <a:lstStyle/>
                    <a:p>
                      <a:pPr>
                        <a:buNone/>
                      </a:pPr>
                      <a:r>
                        <a:rPr lang="ar-SA" sz="2400"/>
                        <a:t>بريد صحيح وكلمة مرور صحيحة لحساب نشط</a:t>
                      </a:r>
                    </a:p>
                  </a:txBody>
                  <a:tcPr marL="88803" marR="88803" marT="44401" marB="44401" anchor="ctr">
                    <a:lnL>
                      <a:noFill/>
                    </a:lnL>
                    <a:lnR>
                      <a:noFill/>
                    </a:lnR>
                    <a:lnT>
                      <a:noFill/>
                    </a:lnT>
                    <a:lnB>
                      <a:noFill/>
                    </a:lnB>
                    <a:noFill/>
                  </a:tcPr>
                </a:tc>
                <a:tc>
                  <a:txBody>
                    <a:bodyPr/>
                    <a:lstStyle/>
                    <a:p>
                      <a:pPr>
                        <a:buNone/>
                      </a:pPr>
                      <a:r>
                        <a:rPr lang="ar-SA" sz="2400"/>
                        <a:t>نجاح الدخول وتوجيه المستخدم حسب دوره.</a:t>
                      </a:r>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extLst>
                  <a:ext uri="{0D108BD9-81ED-4DB2-BD59-A6C34878D82A}">
                    <a16:rowId xmlns:a16="http://schemas.microsoft.com/office/drawing/2014/main" val="3314638177"/>
                  </a:ext>
                </a:extLst>
              </a:tr>
              <a:tr h="795030">
                <a:tc>
                  <a:txBody>
                    <a:bodyPr/>
                    <a:lstStyle/>
                    <a:p>
                      <a:pPr>
                        <a:buNone/>
                      </a:pPr>
                      <a:r>
                        <a:rPr lang="en-US" sz="2400"/>
                        <a:t>TC-07</a:t>
                      </a:r>
                    </a:p>
                  </a:txBody>
                  <a:tcPr marL="88803" marR="88803" marT="44401" marB="44401" anchor="ctr">
                    <a:lnL>
                      <a:noFill/>
                    </a:lnL>
                    <a:lnR>
                      <a:noFill/>
                    </a:lnR>
                    <a:lnT>
                      <a:noFill/>
                    </a:lnT>
                    <a:lnB>
                      <a:noFill/>
                    </a:lnB>
                    <a:noFill/>
                  </a:tcPr>
                </a:tc>
                <a:tc>
                  <a:txBody>
                    <a:bodyPr/>
                    <a:lstStyle/>
                    <a:p>
                      <a:pPr>
                        <a:buNone/>
                      </a:pPr>
                      <a:r>
                        <a:rPr lang="ar-SA" sz="2400"/>
                        <a:t>بريد غير مسجل وكلمة مرور</a:t>
                      </a:r>
                    </a:p>
                  </a:txBody>
                  <a:tcPr marL="88803" marR="88803" marT="44401" marB="44401" anchor="ctr">
                    <a:lnL>
                      <a:noFill/>
                    </a:lnL>
                    <a:lnR>
                      <a:noFill/>
                    </a:lnR>
                    <a:lnT>
                      <a:noFill/>
                    </a:lnT>
                    <a:lnB>
                      <a:noFill/>
                    </a:lnB>
                    <a:noFill/>
                  </a:tcPr>
                </a:tc>
                <a:tc>
                  <a:txBody>
                    <a:bodyPr/>
                    <a:lstStyle/>
                    <a:p>
                      <a:pPr>
                        <a:buNone/>
                      </a:pPr>
                      <a:r>
                        <a:rPr lang="ar-SA" sz="2400"/>
                        <a:t>رفض الدخول وإظهار رسالة عامة مناسبة.</a:t>
                      </a:r>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extLst>
                  <a:ext uri="{0D108BD9-81ED-4DB2-BD59-A6C34878D82A}">
                    <a16:rowId xmlns:a16="http://schemas.microsoft.com/office/drawing/2014/main" val="2879297786"/>
                  </a:ext>
                </a:extLst>
              </a:tr>
              <a:tr h="795030">
                <a:tc>
                  <a:txBody>
                    <a:bodyPr/>
                    <a:lstStyle/>
                    <a:p>
                      <a:pPr>
                        <a:buNone/>
                      </a:pPr>
                      <a:r>
                        <a:rPr lang="en-US" sz="2400"/>
                        <a:t>TC-08</a:t>
                      </a:r>
                    </a:p>
                  </a:txBody>
                  <a:tcPr marL="88803" marR="88803" marT="44401" marB="44401" anchor="ctr">
                    <a:lnL>
                      <a:noFill/>
                    </a:lnL>
                    <a:lnR>
                      <a:noFill/>
                    </a:lnR>
                    <a:lnT>
                      <a:noFill/>
                    </a:lnT>
                    <a:lnB>
                      <a:noFill/>
                    </a:lnB>
                    <a:noFill/>
                  </a:tcPr>
                </a:tc>
                <a:tc>
                  <a:txBody>
                    <a:bodyPr/>
                    <a:lstStyle/>
                    <a:p>
                      <a:pPr>
                        <a:buNone/>
                      </a:pPr>
                      <a:r>
                        <a:rPr lang="ar-SA" sz="2400"/>
                        <a:t>بريد صحيح وكلمة مرور خاطئة</a:t>
                      </a:r>
                    </a:p>
                  </a:txBody>
                  <a:tcPr marL="88803" marR="88803" marT="44401" marB="44401" anchor="ctr">
                    <a:lnL>
                      <a:noFill/>
                    </a:lnL>
                    <a:lnR>
                      <a:noFill/>
                    </a:lnR>
                    <a:lnT>
                      <a:noFill/>
                    </a:lnT>
                    <a:lnB>
                      <a:noFill/>
                    </a:lnB>
                    <a:noFill/>
                  </a:tcPr>
                </a:tc>
                <a:tc>
                  <a:txBody>
                    <a:bodyPr/>
                    <a:lstStyle/>
                    <a:p>
                      <a:pPr>
                        <a:buNone/>
                      </a:pPr>
                      <a:r>
                        <a:rPr lang="ar-SA" sz="2400"/>
                        <a:t>رفض الدخول وعدم إنشاء جلسة مستخدم.</a:t>
                      </a:r>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extLst>
                  <a:ext uri="{0D108BD9-81ED-4DB2-BD59-A6C34878D82A}">
                    <a16:rowId xmlns:a16="http://schemas.microsoft.com/office/drawing/2014/main" val="2459940129"/>
                  </a:ext>
                </a:extLst>
              </a:tr>
              <a:tr h="795030">
                <a:tc>
                  <a:txBody>
                    <a:bodyPr/>
                    <a:lstStyle/>
                    <a:p>
                      <a:pPr>
                        <a:buNone/>
                      </a:pPr>
                      <a:r>
                        <a:rPr lang="en-US" sz="2400"/>
                        <a:t>TC-09</a:t>
                      </a:r>
                    </a:p>
                  </a:txBody>
                  <a:tcPr marL="88803" marR="88803" marT="44401" marB="44401" anchor="ctr">
                    <a:lnL>
                      <a:noFill/>
                    </a:lnL>
                    <a:lnR>
                      <a:noFill/>
                    </a:lnR>
                    <a:lnT>
                      <a:noFill/>
                    </a:lnT>
                    <a:lnB>
                      <a:noFill/>
                    </a:lnB>
                    <a:noFill/>
                  </a:tcPr>
                </a:tc>
                <a:tc>
                  <a:txBody>
                    <a:bodyPr/>
                    <a:lstStyle/>
                    <a:p>
                      <a:pPr>
                        <a:buNone/>
                      </a:pPr>
                      <a:r>
                        <a:rPr lang="ar-SA" sz="2400"/>
                        <a:t>ترك البريد فارغًا</a:t>
                      </a:r>
                    </a:p>
                  </a:txBody>
                  <a:tcPr marL="88803" marR="88803" marT="44401" marB="44401" anchor="ctr">
                    <a:lnL>
                      <a:noFill/>
                    </a:lnL>
                    <a:lnR>
                      <a:noFill/>
                    </a:lnR>
                    <a:lnT>
                      <a:noFill/>
                    </a:lnT>
                    <a:lnB>
                      <a:noFill/>
                    </a:lnB>
                    <a:noFill/>
                  </a:tcPr>
                </a:tc>
                <a:tc>
                  <a:txBody>
                    <a:bodyPr/>
                    <a:lstStyle/>
                    <a:p>
                      <a:pPr>
                        <a:buNone/>
                      </a:pPr>
                      <a:r>
                        <a:rPr lang="ar-SA" sz="2400"/>
                        <a:t>رفض الإرسال وطلب إدخال البريد.</a:t>
                      </a:r>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extLst>
                  <a:ext uri="{0D108BD9-81ED-4DB2-BD59-A6C34878D82A}">
                    <a16:rowId xmlns:a16="http://schemas.microsoft.com/office/drawing/2014/main" val="2833184014"/>
                  </a:ext>
                </a:extLst>
              </a:tr>
              <a:tr h="795030">
                <a:tc>
                  <a:txBody>
                    <a:bodyPr/>
                    <a:lstStyle/>
                    <a:p>
                      <a:pPr>
                        <a:buNone/>
                      </a:pPr>
                      <a:r>
                        <a:rPr lang="en-US" sz="2400"/>
                        <a:t>TC-10</a:t>
                      </a:r>
                    </a:p>
                  </a:txBody>
                  <a:tcPr marL="88803" marR="88803" marT="44401" marB="44401" anchor="ctr">
                    <a:lnL>
                      <a:noFill/>
                    </a:lnL>
                    <a:lnR>
                      <a:noFill/>
                    </a:lnR>
                    <a:lnT>
                      <a:noFill/>
                    </a:lnT>
                    <a:lnB>
                      <a:noFill/>
                    </a:lnB>
                    <a:noFill/>
                  </a:tcPr>
                </a:tc>
                <a:tc>
                  <a:txBody>
                    <a:bodyPr/>
                    <a:lstStyle/>
                    <a:p>
                      <a:pPr>
                        <a:buNone/>
                      </a:pPr>
                      <a:r>
                        <a:rPr lang="ar-SA" sz="2400"/>
                        <a:t>ترك كلمة المرور فارغة</a:t>
                      </a:r>
                    </a:p>
                  </a:txBody>
                  <a:tcPr marL="88803" marR="88803" marT="44401" marB="44401" anchor="ctr">
                    <a:lnL>
                      <a:noFill/>
                    </a:lnL>
                    <a:lnR>
                      <a:noFill/>
                    </a:lnR>
                    <a:lnT>
                      <a:noFill/>
                    </a:lnT>
                    <a:lnB>
                      <a:noFill/>
                    </a:lnB>
                    <a:noFill/>
                  </a:tcPr>
                </a:tc>
                <a:tc>
                  <a:txBody>
                    <a:bodyPr/>
                    <a:lstStyle/>
                    <a:p>
                      <a:pPr>
                        <a:buNone/>
                      </a:pPr>
                      <a:r>
                        <a:rPr lang="ar-SA" sz="2400"/>
                        <a:t>رفض الإرسال وطلب إدخال كلمة المرور.</a:t>
                      </a:r>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tc>
                  <a:txBody>
                    <a:bodyPr/>
                    <a:lstStyle/>
                    <a:p>
                      <a:pPr>
                        <a:buNone/>
                      </a:pPr>
                      <a:endParaRPr lang="en-US" sz="1700"/>
                    </a:p>
                  </a:txBody>
                  <a:tcPr marL="88803" marR="88803" marT="44401" marB="44401" anchor="ctr">
                    <a:lnL>
                      <a:noFill/>
                    </a:lnL>
                    <a:lnR>
                      <a:noFill/>
                    </a:lnR>
                    <a:lnT>
                      <a:noFill/>
                    </a:lnT>
                    <a:lnB>
                      <a:noFill/>
                    </a:lnB>
                    <a:noFill/>
                  </a:tcPr>
                </a:tc>
                <a:extLst>
                  <a:ext uri="{0D108BD9-81ED-4DB2-BD59-A6C34878D82A}">
                    <a16:rowId xmlns:a16="http://schemas.microsoft.com/office/drawing/2014/main" val="2031814523"/>
                  </a:ext>
                </a:extLst>
              </a:tr>
              <a:tr h="795030">
                <a:tc>
                  <a:txBody>
                    <a:bodyPr/>
                    <a:lstStyle/>
                    <a:p>
                      <a:pPr>
                        <a:buNone/>
                      </a:pPr>
                      <a:r>
                        <a:rPr lang="en-US" sz="2400"/>
                        <a:t>TC-11</a:t>
                      </a:r>
                    </a:p>
                  </a:txBody>
                  <a:tcPr marL="88803" marR="88803" marT="44401" marB="44401" anchor="ctr">
                    <a:lnL>
                      <a:noFill/>
                    </a:lnL>
                    <a:lnR>
                      <a:noFill/>
                    </a:lnR>
                    <a:lnT>
                      <a:noFill/>
                    </a:lnT>
                    <a:lnB>
                      <a:noFill/>
                    </a:lnB>
                    <a:noFill/>
                  </a:tcPr>
                </a:tc>
                <a:tc>
                  <a:txBody>
                    <a:bodyPr/>
                    <a:lstStyle/>
                    <a:p>
                      <a:pPr>
                        <a:buNone/>
                      </a:pPr>
                      <a:r>
                        <a:rPr lang="ar-SA" sz="2400"/>
                        <a:t>إدخال بريد وكلمة مرور فارغين</a:t>
                      </a:r>
                    </a:p>
                  </a:txBody>
                  <a:tcPr marL="88803" marR="88803" marT="44401" marB="44401" anchor="ctr">
                    <a:lnL>
                      <a:noFill/>
                    </a:lnL>
                    <a:lnR>
                      <a:noFill/>
                    </a:lnR>
                    <a:lnT>
                      <a:noFill/>
                    </a:lnT>
                    <a:lnB>
                      <a:noFill/>
                    </a:lnB>
                    <a:noFill/>
                  </a:tcPr>
                </a:tc>
                <a:tc>
                  <a:txBody>
                    <a:bodyPr/>
                    <a:lstStyle/>
                    <a:p>
                      <a:pPr>
                        <a:buNone/>
                      </a:pPr>
                      <a:r>
                        <a:rPr lang="ar-SA" sz="2400"/>
                        <a:t>رفض الإرسال والتحقق من الحقول المطلوبة.</a:t>
                      </a:r>
                    </a:p>
                  </a:txBody>
                  <a:tcPr marL="88803" marR="88803" marT="44401" marB="44401" anchor="ctr">
                    <a:lnL>
                      <a:noFill/>
                    </a:lnL>
                    <a:lnR>
                      <a:noFill/>
                    </a:lnR>
                    <a:lnT>
                      <a:noFill/>
                    </a:lnT>
                    <a:lnB>
                      <a:noFill/>
                    </a:lnB>
                    <a:noFill/>
                  </a:tcPr>
                </a:tc>
                <a:tc gridSpan="2">
                  <a:txBody>
                    <a:bodyPr/>
                    <a:lstStyle/>
                    <a:p>
                      <a:pPr>
                        <a:buNone/>
                      </a:pPr>
                      <a:endParaRPr lang="en-US" sz="1700"/>
                    </a:p>
                  </a:txBody>
                  <a:tcPr marL="88803" marR="88803" marT="44401" marB="44401" anchor="ctr">
                    <a:lnL>
                      <a:noFill/>
                    </a:lnL>
                    <a:lnR>
                      <a:noFill/>
                    </a:lnR>
                    <a:lnT>
                      <a:noFill/>
                    </a:lnT>
                    <a:lnB>
                      <a:noFill/>
                    </a:lnB>
                    <a:noFill/>
                  </a:tcPr>
                </a:tc>
                <a:tc hMerge="1">
                  <a:txBody>
                    <a:bodyPr/>
                    <a:lstStyle/>
                    <a:p>
                      <a:pPr>
                        <a:buNone/>
                      </a:pPr>
                      <a:endParaRPr lang="en-US" sz="1700"/>
                    </a:p>
                  </a:txBody>
                  <a:tcPr marL="88803" marR="88803" marT="44401" marB="44401" anchor="ctr">
                    <a:lnL>
                      <a:noFill/>
                    </a:lnL>
                    <a:lnR>
                      <a:noFill/>
                    </a:lnR>
                    <a:lnT>
                      <a:noFill/>
                    </a:lnT>
                    <a:lnB>
                      <a:noFill/>
                    </a:lnB>
                    <a:noFill/>
                  </a:tcPr>
                </a:tc>
                <a:extLst>
                  <a:ext uri="{0D108BD9-81ED-4DB2-BD59-A6C34878D82A}">
                    <a16:rowId xmlns:a16="http://schemas.microsoft.com/office/drawing/2014/main" val="1508661137"/>
                  </a:ext>
                </a:extLst>
              </a:tr>
              <a:tr h="795030">
                <a:tc>
                  <a:txBody>
                    <a:bodyPr/>
                    <a:lstStyle/>
                    <a:p>
                      <a:pPr>
                        <a:buNone/>
                      </a:pPr>
                      <a:r>
                        <a:rPr lang="en-US" sz="2400"/>
                        <a:t>TC-12</a:t>
                      </a:r>
                    </a:p>
                  </a:txBody>
                  <a:tcPr marL="88803" marR="88803" marT="44401" marB="44401" anchor="ctr">
                    <a:lnL>
                      <a:noFill/>
                    </a:lnL>
                    <a:lnR>
                      <a:noFill/>
                    </a:lnR>
                    <a:lnT>
                      <a:noFill/>
                    </a:lnT>
                    <a:lnB>
                      <a:noFill/>
                    </a:lnB>
                    <a:noFill/>
                  </a:tcPr>
                </a:tc>
                <a:tc>
                  <a:txBody>
                    <a:bodyPr/>
                    <a:lstStyle/>
                    <a:p>
                      <a:pPr>
                        <a:buNone/>
                      </a:pPr>
                      <a:r>
                        <a:rPr lang="ar-SA" sz="2400"/>
                        <a:t>محاولة دخول حساب معطل أو محظور</a:t>
                      </a:r>
                    </a:p>
                  </a:txBody>
                  <a:tcPr marL="88803" marR="88803" marT="44401" marB="44401" anchor="ctr">
                    <a:lnL>
                      <a:noFill/>
                    </a:lnL>
                    <a:lnR>
                      <a:noFill/>
                    </a:lnR>
                    <a:lnT>
                      <a:noFill/>
                    </a:lnT>
                    <a:lnB>
                      <a:noFill/>
                    </a:lnB>
                    <a:noFill/>
                  </a:tcPr>
                </a:tc>
                <a:tc>
                  <a:txBody>
                    <a:bodyPr/>
                    <a:lstStyle/>
                    <a:p>
                      <a:pPr>
                        <a:buNone/>
                      </a:pPr>
                      <a:r>
                        <a:rPr lang="ar-SA" sz="2400" dirty="0"/>
                        <a:t>منع الدخول وفق حالة الحساب.</a:t>
                      </a:r>
                    </a:p>
                  </a:txBody>
                  <a:tcPr marL="88803" marR="88803" marT="44401" marB="44401" anchor="ctr">
                    <a:lnL>
                      <a:noFill/>
                    </a:lnL>
                    <a:lnR>
                      <a:noFill/>
                    </a:lnR>
                    <a:lnT>
                      <a:noFill/>
                    </a:lnT>
                    <a:lnB>
                      <a:noFill/>
                    </a:lnB>
                    <a:noFill/>
                  </a:tcPr>
                </a:tc>
                <a:tc gridSpan="2">
                  <a:txBody>
                    <a:bodyPr/>
                    <a:lstStyle/>
                    <a:p>
                      <a:endParaRPr lang="en-US" sz="1700" dirty="0"/>
                    </a:p>
                  </a:txBody>
                  <a:tcPr marL="88803" marR="88803" marT="44401" marB="44401">
                    <a:lnL>
                      <a:noFill/>
                    </a:lnL>
                    <a:lnR w="12700" cmpd="sng">
                      <a:noFill/>
                      <a:prstDash val="solid"/>
                    </a:lnR>
                    <a:lnT>
                      <a:noFill/>
                    </a:lnT>
                    <a:lnB w="12700" cmpd="sng">
                      <a:noFill/>
                      <a:prstDash val="solid"/>
                    </a:lnB>
                  </a:tcPr>
                </a:tc>
                <a:tc hMerge="1">
                  <a:txBody>
                    <a:bodyPr/>
                    <a:lstStyle/>
                    <a:p>
                      <a:endParaRPr lang="en-US" sz="1700" dirty="0"/>
                    </a:p>
                  </a:txBody>
                  <a:tcPr marL="88803" marR="88803" marT="44401" marB="44401">
                    <a:lnT>
                      <a:noFill/>
                    </a:lnT>
                  </a:tcPr>
                </a:tc>
                <a:extLst>
                  <a:ext uri="{0D108BD9-81ED-4DB2-BD59-A6C34878D82A}">
                    <a16:rowId xmlns:a16="http://schemas.microsoft.com/office/drawing/2014/main" val="2662933190"/>
                  </a:ext>
                </a:extLst>
              </a:tr>
            </a:tbl>
          </a:graphicData>
        </a:graphic>
      </p:graphicFrame>
      <p:sp>
        <p:nvSpPr>
          <p:cNvPr id="3" name="Slide Number Placeholder 2">
            <a:extLst>
              <a:ext uri="{FF2B5EF4-FFF2-40B4-BE49-F238E27FC236}">
                <a16:creationId xmlns:a16="http://schemas.microsoft.com/office/drawing/2014/main" id="{BBA0FB98-3DD0-5BCE-02CE-E08CDF6C07D7}"/>
              </a:ext>
            </a:extLst>
          </p:cNvPr>
          <p:cNvSpPr>
            <a:spLocks noGrp="1"/>
          </p:cNvSpPr>
          <p:nvPr>
            <p:ph type="sldNum" sz="quarter" idx="12"/>
          </p:nvPr>
        </p:nvSpPr>
        <p:spPr/>
        <p:txBody>
          <a:bodyPr/>
          <a:lstStyle/>
          <a:p>
            <a:fld id="{3EB37142-BB67-4B06-93E6-8D10723F8802}" type="slidenum">
              <a:rPr lang="en-US" smtClean="0"/>
              <a:t>27</a:t>
            </a:fld>
            <a:endParaRPr lang="en-US" dirty="0"/>
          </a:p>
        </p:txBody>
      </p:sp>
    </p:spTree>
    <p:extLst>
      <p:ext uri="{BB962C8B-B14F-4D97-AF65-F5344CB8AC3E}">
        <p14:creationId xmlns:p14="http://schemas.microsoft.com/office/powerpoint/2010/main" val="3413401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0EE14-DE4E-0B7E-7267-CC8BE0B537B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231788A-ED58-0BF7-D602-426E9F81BA7F}"/>
              </a:ext>
            </a:extLst>
          </p:cNvPr>
          <p:cNvSpPr txBox="1">
            <a:spLocks/>
          </p:cNvSpPr>
          <p:nvPr/>
        </p:nvSpPr>
        <p:spPr>
          <a:xfrm>
            <a:off x="4405781" y="7041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اختبار إدارة الفرص التطوعية:</a:t>
            </a:r>
            <a:endParaRPr lang="ar-SA" sz="3600" b="1" dirty="0"/>
          </a:p>
        </p:txBody>
      </p:sp>
      <p:sp>
        <p:nvSpPr>
          <p:cNvPr id="10" name="Title 1">
            <a:extLst>
              <a:ext uri="{FF2B5EF4-FFF2-40B4-BE49-F238E27FC236}">
                <a16:creationId xmlns:a16="http://schemas.microsoft.com/office/drawing/2014/main" id="{969FEBE7-704D-FE80-6A37-9AFDAB5688A0}"/>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001930D3-E442-CD6A-5D7B-EEA1DC695B4F}"/>
              </a:ext>
            </a:extLst>
          </p:cNvPr>
          <p:cNvGraphicFramePr>
            <a:graphicFrameLocks noGrp="1"/>
          </p:cNvGraphicFramePr>
          <p:nvPr>
            <p:extLst>
              <p:ext uri="{D42A27DB-BD31-4B8C-83A1-F6EECF244321}">
                <p14:modId xmlns:p14="http://schemas.microsoft.com/office/powerpoint/2010/main" val="1997070430"/>
              </p:ext>
            </p:extLst>
          </p:nvPr>
        </p:nvGraphicFramePr>
        <p:xfrm>
          <a:off x="296171" y="1094472"/>
          <a:ext cx="11599658" cy="5778070"/>
        </p:xfrm>
        <a:graphic>
          <a:graphicData uri="http://schemas.openxmlformats.org/drawingml/2006/table">
            <a:tbl>
              <a:tblPr/>
              <a:tblGrid>
                <a:gridCol w="2319932">
                  <a:extLst>
                    <a:ext uri="{9D8B030D-6E8A-4147-A177-3AD203B41FA5}">
                      <a16:colId xmlns:a16="http://schemas.microsoft.com/office/drawing/2014/main" val="183738605"/>
                    </a:ext>
                  </a:extLst>
                </a:gridCol>
                <a:gridCol w="4517401">
                  <a:extLst>
                    <a:ext uri="{9D8B030D-6E8A-4147-A177-3AD203B41FA5}">
                      <a16:colId xmlns:a16="http://schemas.microsoft.com/office/drawing/2014/main" val="1148616030"/>
                    </a:ext>
                  </a:extLst>
                </a:gridCol>
                <a:gridCol w="4285849">
                  <a:extLst>
                    <a:ext uri="{9D8B030D-6E8A-4147-A177-3AD203B41FA5}">
                      <a16:colId xmlns:a16="http://schemas.microsoft.com/office/drawing/2014/main" val="1607533689"/>
                    </a:ext>
                  </a:extLst>
                </a:gridCol>
                <a:gridCol w="238238">
                  <a:extLst>
                    <a:ext uri="{9D8B030D-6E8A-4147-A177-3AD203B41FA5}">
                      <a16:colId xmlns:a16="http://schemas.microsoft.com/office/drawing/2014/main" val="3172352608"/>
                    </a:ext>
                  </a:extLst>
                </a:gridCol>
                <a:gridCol w="238238">
                  <a:extLst>
                    <a:ext uri="{9D8B030D-6E8A-4147-A177-3AD203B41FA5}">
                      <a16:colId xmlns:a16="http://schemas.microsoft.com/office/drawing/2014/main" val="2009907837"/>
                    </a:ext>
                  </a:extLst>
                </a:gridCol>
              </a:tblGrid>
              <a:tr h="904794">
                <a:tc>
                  <a:txBody>
                    <a:bodyPr/>
                    <a:lstStyle/>
                    <a:p>
                      <a:pPr>
                        <a:buNone/>
                      </a:pPr>
                      <a:r>
                        <a:rPr lang="en-US" sz="2400"/>
                        <a:t>TC-20</a:t>
                      </a:r>
                    </a:p>
                  </a:txBody>
                  <a:tcPr marL="70183" marR="70183" marT="35091" marB="35091" anchor="ctr">
                    <a:lnL>
                      <a:noFill/>
                    </a:lnL>
                    <a:lnR>
                      <a:noFill/>
                    </a:lnR>
                    <a:lnT>
                      <a:noFill/>
                    </a:lnT>
                    <a:lnB>
                      <a:noFill/>
                    </a:lnB>
                    <a:noFill/>
                  </a:tcPr>
                </a:tc>
                <a:tc>
                  <a:txBody>
                    <a:bodyPr/>
                    <a:lstStyle/>
                    <a:p>
                      <a:pPr>
                        <a:buNone/>
                      </a:pPr>
                      <a:r>
                        <a:rPr lang="ar-SA" sz="2400"/>
                        <a:t>إنشاء فرصة ببيانات صحيحة من مؤسسة معتمدة</a:t>
                      </a:r>
                    </a:p>
                  </a:txBody>
                  <a:tcPr marL="70183" marR="70183" marT="35091" marB="35091" anchor="ctr">
                    <a:lnL>
                      <a:noFill/>
                    </a:lnL>
                    <a:lnR>
                      <a:noFill/>
                    </a:lnR>
                    <a:lnT>
                      <a:noFill/>
                    </a:lnT>
                    <a:lnB>
                      <a:noFill/>
                    </a:lnB>
                    <a:noFill/>
                  </a:tcPr>
                </a:tc>
                <a:tc>
                  <a:txBody>
                    <a:bodyPr/>
                    <a:lstStyle/>
                    <a:p>
                      <a:pPr>
                        <a:buNone/>
                      </a:pPr>
                      <a:r>
                        <a:rPr lang="ar-SA" sz="2400"/>
                        <a:t>حفظ الفرصة بنجاح وفق آلية النشر المعتمدة.</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3736615255"/>
                  </a:ext>
                </a:extLst>
              </a:tr>
              <a:tr h="633356">
                <a:tc>
                  <a:txBody>
                    <a:bodyPr/>
                    <a:lstStyle/>
                    <a:p>
                      <a:pPr>
                        <a:buNone/>
                      </a:pPr>
                      <a:r>
                        <a:rPr lang="en-US" sz="2400"/>
                        <a:t>TC-21</a:t>
                      </a:r>
                    </a:p>
                  </a:txBody>
                  <a:tcPr marL="70183" marR="70183" marT="35091" marB="35091" anchor="ctr">
                    <a:lnL>
                      <a:noFill/>
                    </a:lnL>
                    <a:lnR>
                      <a:noFill/>
                    </a:lnR>
                    <a:lnT>
                      <a:noFill/>
                    </a:lnT>
                    <a:lnB>
                      <a:noFill/>
                    </a:lnB>
                    <a:noFill/>
                  </a:tcPr>
                </a:tc>
                <a:tc>
                  <a:txBody>
                    <a:bodyPr/>
                    <a:lstStyle/>
                    <a:p>
                      <a:pPr>
                        <a:buNone/>
                      </a:pPr>
                      <a:r>
                        <a:rPr lang="ar-SA" sz="2400"/>
                        <a:t>إنشاء فرصة دون إدخال العنوان</a:t>
                      </a:r>
                    </a:p>
                  </a:txBody>
                  <a:tcPr marL="70183" marR="70183" marT="35091" marB="35091" anchor="ctr">
                    <a:lnL>
                      <a:noFill/>
                    </a:lnL>
                    <a:lnR>
                      <a:noFill/>
                    </a:lnR>
                    <a:lnT>
                      <a:noFill/>
                    </a:lnT>
                    <a:lnB>
                      <a:noFill/>
                    </a:lnB>
                    <a:noFill/>
                  </a:tcPr>
                </a:tc>
                <a:tc>
                  <a:txBody>
                    <a:bodyPr/>
                    <a:lstStyle/>
                    <a:p>
                      <a:pPr>
                        <a:buNone/>
                      </a:pPr>
                      <a:r>
                        <a:rPr lang="ar-SA" sz="2400"/>
                        <a:t>رفض الحفظ وطلب إدخال العنوان.</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1272103114"/>
                  </a:ext>
                </a:extLst>
              </a:tr>
              <a:tr h="633356">
                <a:tc>
                  <a:txBody>
                    <a:bodyPr/>
                    <a:lstStyle/>
                    <a:p>
                      <a:pPr>
                        <a:buNone/>
                      </a:pPr>
                      <a:r>
                        <a:rPr lang="en-US" sz="2400"/>
                        <a:t>TC-22</a:t>
                      </a:r>
                    </a:p>
                  </a:txBody>
                  <a:tcPr marL="70183" marR="70183" marT="35091" marB="35091" anchor="ctr">
                    <a:lnL>
                      <a:noFill/>
                    </a:lnL>
                    <a:lnR>
                      <a:noFill/>
                    </a:lnR>
                    <a:lnT>
                      <a:noFill/>
                    </a:lnT>
                    <a:lnB>
                      <a:noFill/>
                    </a:lnB>
                    <a:noFill/>
                  </a:tcPr>
                </a:tc>
                <a:tc>
                  <a:txBody>
                    <a:bodyPr/>
                    <a:lstStyle/>
                    <a:p>
                      <a:pPr>
                        <a:buNone/>
                      </a:pPr>
                      <a:r>
                        <a:rPr lang="ar-SA" sz="2400"/>
                        <a:t>إنشاء فرصة دون تحديد تاريخ أو وقت إلزامي</a:t>
                      </a:r>
                    </a:p>
                  </a:txBody>
                  <a:tcPr marL="70183" marR="70183" marT="35091" marB="35091" anchor="ctr">
                    <a:lnL>
                      <a:noFill/>
                    </a:lnL>
                    <a:lnR>
                      <a:noFill/>
                    </a:lnR>
                    <a:lnT>
                      <a:noFill/>
                    </a:lnT>
                    <a:lnB>
                      <a:noFill/>
                    </a:lnB>
                    <a:noFill/>
                  </a:tcPr>
                </a:tc>
                <a:tc>
                  <a:txBody>
                    <a:bodyPr/>
                    <a:lstStyle/>
                    <a:p>
                      <a:pPr>
                        <a:buNone/>
                      </a:pPr>
                      <a:r>
                        <a:rPr lang="ar-SA" sz="2400"/>
                        <a:t>رفض الحفظ إذا كانت هذه البيانات مطلوبة.</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1008282154"/>
                  </a:ext>
                </a:extLst>
              </a:tr>
              <a:tr h="633356">
                <a:tc>
                  <a:txBody>
                    <a:bodyPr/>
                    <a:lstStyle/>
                    <a:p>
                      <a:pPr>
                        <a:buNone/>
                      </a:pPr>
                      <a:r>
                        <a:rPr lang="en-US" sz="2400"/>
                        <a:t>TC-23</a:t>
                      </a:r>
                    </a:p>
                  </a:txBody>
                  <a:tcPr marL="70183" marR="70183" marT="35091" marB="35091" anchor="ctr">
                    <a:lnL>
                      <a:noFill/>
                    </a:lnL>
                    <a:lnR>
                      <a:noFill/>
                    </a:lnR>
                    <a:lnT>
                      <a:noFill/>
                    </a:lnT>
                    <a:lnB>
                      <a:noFill/>
                    </a:lnB>
                    <a:noFill/>
                  </a:tcPr>
                </a:tc>
                <a:tc>
                  <a:txBody>
                    <a:bodyPr/>
                    <a:lstStyle/>
                    <a:p>
                      <a:pPr>
                        <a:buNone/>
                      </a:pPr>
                      <a:r>
                        <a:rPr lang="ar-SA" sz="2400"/>
                        <a:t>تحديد تاريخ انتهاء يسبق تاريخ البداية</a:t>
                      </a:r>
                    </a:p>
                  </a:txBody>
                  <a:tcPr marL="70183" marR="70183" marT="35091" marB="35091" anchor="ctr">
                    <a:lnL>
                      <a:noFill/>
                    </a:lnL>
                    <a:lnR>
                      <a:noFill/>
                    </a:lnR>
                    <a:lnT>
                      <a:noFill/>
                    </a:lnT>
                    <a:lnB>
                      <a:noFill/>
                    </a:lnB>
                    <a:noFill/>
                  </a:tcPr>
                </a:tc>
                <a:tc>
                  <a:txBody>
                    <a:bodyPr/>
                    <a:lstStyle/>
                    <a:p>
                      <a:pPr>
                        <a:buNone/>
                      </a:pPr>
                      <a:r>
                        <a:rPr lang="ar-SA" sz="2400"/>
                        <a:t>رفض البيانات وإظهار رسالة توضيحية.</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2421260362"/>
                  </a:ext>
                </a:extLst>
              </a:tr>
              <a:tr h="633356">
                <a:tc>
                  <a:txBody>
                    <a:bodyPr/>
                    <a:lstStyle/>
                    <a:p>
                      <a:pPr>
                        <a:buNone/>
                      </a:pPr>
                      <a:r>
                        <a:rPr lang="en-US" sz="2400"/>
                        <a:t>TC-24</a:t>
                      </a:r>
                    </a:p>
                  </a:txBody>
                  <a:tcPr marL="70183" marR="70183" marT="35091" marB="35091" anchor="ctr">
                    <a:lnL>
                      <a:noFill/>
                    </a:lnL>
                    <a:lnR>
                      <a:noFill/>
                    </a:lnR>
                    <a:lnT>
                      <a:noFill/>
                    </a:lnT>
                    <a:lnB>
                      <a:noFill/>
                    </a:lnB>
                    <a:noFill/>
                  </a:tcPr>
                </a:tc>
                <a:tc>
                  <a:txBody>
                    <a:bodyPr/>
                    <a:lstStyle/>
                    <a:p>
                      <a:pPr>
                        <a:buNone/>
                      </a:pPr>
                      <a:r>
                        <a:rPr lang="ar-SA" sz="2400"/>
                        <a:t>تعديل فرصة تملكها المؤسسة المسجلة</a:t>
                      </a:r>
                    </a:p>
                  </a:txBody>
                  <a:tcPr marL="70183" marR="70183" marT="35091" marB="35091" anchor="ctr">
                    <a:lnL>
                      <a:noFill/>
                    </a:lnL>
                    <a:lnR>
                      <a:noFill/>
                    </a:lnR>
                    <a:lnT>
                      <a:noFill/>
                    </a:lnT>
                    <a:lnB>
                      <a:noFill/>
                    </a:lnB>
                    <a:noFill/>
                  </a:tcPr>
                </a:tc>
                <a:tc>
                  <a:txBody>
                    <a:bodyPr/>
                    <a:lstStyle/>
                    <a:p>
                      <a:pPr>
                        <a:buNone/>
                      </a:pPr>
                      <a:r>
                        <a:rPr lang="ar-SA" sz="2400"/>
                        <a:t>حفظ التعديلات الصحيحة.</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3194122847"/>
                  </a:ext>
                </a:extLst>
              </a:tr>
              <a:tr h="633356">
                <a:tc>
                  <a:txBody>
                    <a:bodyPr/>
                    <a:lstStyle/>
                    <a:p>
                      <a:pPr>
                        <a:buNone/>
                      </a:pPr>
                      <a:r>
                        <a:rPr lang="en-US" sz="2400"/>
                        <a:t>TC-25</a:t>
                      </a:r>
                    </a:p>
                  </a:txBody>
                  <a:tcPr marL="70183" marR="70183" marT="35091" marB="35091" anchor="ctr">
                    <a:lnL>
                      <a:noFill/>
                    </a:lnL>
                    <a:lnR>
                      <a:noFill/>
                    </a:lnR>
                    <a:lnT>
                      <a:noFill/>
                    </a:lnT>
                    <a:lnB>
                      <a:noFill/>
                    </a:lnB>
                    <a:noFill/>
                  </a:tcPr>
                </a:tc>
                <a:tc>
                  <a:txBody>
                    <a:bodyPr/>
                    <a:lstStyle/>
                    <a:p>
                      <a:pPr>
                        <a:buNone/>
                      </a:pPr>
                      <a:r>
                        <a:rPr lang="ar-SA" sz="2400"/>
                        <a:t>محاولة تعديل فرصة تملكها مؤسسة أخرى</a:t>
                      </a:r>
                    </a:p>
                  </a:txBody>
                  <a:tcPr marL="70183" marR="70183" marT="35091" marB="35091" anchor="ctr">
                    <a:lnL>
                      <a:noFill/>
                    </a:lnL>
                    <a:lnR>
                      <a:noFill/>
                    </a:lnR>
                    <a:lnT>
                      <a:noFill/>
                    </a:lnT>
                    <a:lnB>
                      <a:noFill/>
                    </a:lnB>
                    <a:noFill/>
                  </a:tcPr>
                </a:tc>
                <a:tc>
                  <a:txBody>
                    <a:bodyPr/>
                    <a:lstStyle/>
                    <a:p>
                      <a:pPr>
                        <a:buNone/>
                      </a:pPr>
                      <a:r>
                        <a:rPr lang="ar-SA" sz="2400"/>
                        <a:t>رفض العملية لعدم امتلاك الصلاحية.</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3607382232"/>
                  </a:ext>
                </a:extLst>
              </a:tr>
              <a:tr h="904794">
                <a:tc>
                  <a:txBody>
                    <a:bodyPr/>
                    <a:lstStyle/>
                    <a:p>
                      <a:pPr>
                        <a:buNone/>
                      </a:pPr>
                      <a:r>
                        <a:rPr lang="en-US" sz="2400"/>
                        <a:t>TC-26</a:t>
                      </a:r>
                    </a:p>
                  </a:txBody>
                  <a:tcPr marL="70183" marR="70183" marT="35091" marB="35091" anchor="ctr">
                    <a:lnL>
                      <a:noFill/>
                    </a:lnL>
                    <a:lnR>
                      <a:noFill/>
                    </a:lnR>
                    <a:lnT>
                      <a:noFill/>
                    </a:lnT>
                    <a:lnB>
                      <a:noFill/>
                    </a:lnB>
                    <a:noFill/>
                  </a:tcPr>
                </a:tc>
                <a:tc>
                  <a:txBody>
                    <a:bodyPr/>
                    <a:lstStyle/>
                    <a:p>
                      <a:pPr>
                        <a:buNone/>
                      </a:pPr>
                      <a:r>
                        <a:rPr lang="ar-SA" sz="2400"/>
                        <a:t>إغلاق فرصة منشورة</a:t>
                      </a:r>
                    </a:p>
                  </a:txBody>
                  <a:tcPr marL="70183" marR="70183" marT="35091" marB="35091" anchor="ctr">
                    <a:lnL>
                      <a:noFill/>
                    </a:lnL>
                    <a:lnR>
                      <a:noFill/>
                    </a:lnR>
                    <a:lnT>
                      <a:noFill/>
                    </a:lnT>
                    <a:lnB>
                      <a:noFill/>
                    </a:lnB>
                    <a:noFill/>
                  </a:tcPr>
                </a:tc>
                <a:tc>
                  <a:txBody>
                    <a:bodyPr/>
                    <a:lstStyle/>
                    <a:p>
                      <a:pPr>
                        <a:buNone/>
                      </a:pPr>
                      <a:r>
                        <a:rPr lang="ar-SA" sz="2400"/>
                        <a:t>تغيير حالة الفرصة ومنع التسجيل الجديد وفق قواعد النظام.</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extLst>
                  <a:ext uri="{0D108BD9-81ED-4DB2-BD59-A6C34878D82A}">
                    <a16:rowId xmlns:a16="http://schemas.microsoft.com/office/drawing/2014/main" val="2158193145"/>
                  </a:ext>
                </a:extLst>
              </a:tr>
              <a:tr h="633356">
                <a:tc>
                  <a:txBody>
                    <a:bodyPr/>
                    <a:lstStyle/>
                    <a:p>
                      <a:pPr>
                        <a:buNone/>
                      </a:pPr>
                      <a:r>
                        <a:rPr lang="en-US" sz="2400"/>
                        <a:t>TC-27</a:t>
                      </a:r>
                    </a:p>
                  </a:txBody>
                  <a:tcPr marL="70183" marR="70183" marT="35091" marB="35091" anchor="ctr">
                    <a:lnL>
                      <a:noFill/>
                    </a:lnL>
                    <a:lnR>
                      <a:noFill/>
                    </a:lnR>
                    <a:lnT>
                      <a:noFill/>
                    </a:lnT>
                    <a:lnB>
                      <a:noFill/>
                    </a:lnB>
                    <a:noFill/>
                  </a:tcPr>
                </a:tc>
                <a:tc>
                  <a:txBody>
                    <a:bodyPr/>
                    <a:lstStyle/>
                    <a:p>
                      <a:pPr>
                        <a:buNone/>
                      </a:pPr>
                      <a:r>
                        <a:rPr lang="ar-SA" sz="2400"/>
                        <a:t>محاولة نشر فرصة من مؤسسة غير معتمدة</a:t>
                      </a:r>
                    </a:p>
                  </a:txBody>
                  <a:tcPr marL="70183" marR="70183" marT="35091" marB="35091" anchor="ctr">
                    <a:lnL>
                      <a:noFill/>
                    </a:lnL>
                    <a:lnR>
                      <a:noFill/>
                    </a:lnR>
                    <a:lnT>
                      <a:noFill/>
                    </a:lnT>
                    <a:lnB>
                      <a:noFill/>
                    </a:lnB>
                    <a:noFill/>
                  </a:tcPr>
                </a:tc>
                <a:tc>
                  <a:txBody>
                    <a:bodyPr/>
                    <a:lstStyle/>
                    <a:p>
                      <a:pPr>
                        <a:buNone/>
                      </a:pPr>
                      <a:r>
                        <a:rPr lang="ar-SA" sz="2400" dirty="0"/>
                        <a:t>منع النشر العام وفق سياسة الاعتماد.</a:t>
                      </a:r>
                    </a:p>
                  </a:txBody>
                  <a:tcPr marL="70183" marR="70183" marT="35091" marB="35091" anchor="ctr">
                    <a:lnL>
                      <a:noFill/>
                    </a:lnL>
                    <a:lnR>
                      <a:noFill/>
                    </a:lnR>
                    <a:lnT>
                      <a:noFill/>
                    </a:lnT>
                    <a:lnB>
                      <a:noFill/>
                    </a:lnB>
                    <a:noFill/>
                  </a:tcPr>
                </a:tc>
                <a:tc>
                  <a:txBody>
                    <a:bodyPr/>
                    <a:lstStyle/>
                    <a:p>
                      <a:pPr>
                        <a:buNone/>
                      </a:pPr>
                      <a:endParaRPr lang="en-US" sz="1400"/>
                    </a:p>
                  </a:txBody>
                  <a:tcPr marL="70183" marR="70183" marT="35091" marB="35091" anchor="ctr">
                    <a:lnL>
                      <a:noFill/>
                    </a:lnL>
                    <a:lnR>
                      <a:noFill/>
                    </a:lnR>
                    <a:lnT>
                      <a:noFill/>
                    </a:lnT>
                    <a:lnB>
                      <a:noFill/>
                    </a:lnB>
                    <a:noFill/>
                  </a:tcPr>
                </a:tc>
                <a:tc>
                  <a:txBody>
                    <a:bodyPr/>
                    <a:lstStyle/>
                    <a:p>
                      <a:pPr>
                        <a:buNone/>
                      </a:pPr>
                      <a:endParaRPr lang="en-US" sz="1400" dirty="0"/>
                    </a:p>
                  </a:txBody>
                  <a:tcPr marL="70183" marR="70183" marT="35091" marB="35091" anchor="ctr">
                    <a:lnL>
                      <a:noFill/>
                    </a:lnL>
                    <a:lnR>
                      <a:noFill/>
                    </a:lnR>
                    <a:lnT>
                      <a:noFill/>
                    </a:lnT>
                    <a:lnB>
                      <a:noFill/>
                    </a:lnB>
                    <a:noFill/>
                  </a:tcPr>
                </a:tc>
                <a:extLst>
                  <a:ext uri="{0D108BD9-81ED-4DB2-BD59-A6C34878D82A}">
                    <a16:rowId xmlns:a16="http://schemas.microsoft.com/office/drawing/2014/main" val="1845990153"/>
                  </a:ext>
                </a:extLst>
              </a:tr>
            </a:tbl>
          </a:graphicData>
        </a:graphic>
      </p:graphicFrame>
      <p:sp>
        <p:nvSpPr>
          <p:cNvPr id="3" name="Slide Number Placeholder 2">
            <a:extLst>
              <a:ext uri="{FF2B5EF4-FFF2-40B4-BE49-F238E27FC236}">
                <a16:creationId xmlns:a16="http://schemas.microsoft.com/office/drawing/2014/main" id="{4CC944DB-4CE7-1DAC-6A54-68234DADB29A}"/>
              </a:ext>
            </a:extLst>
          </p:cNvPr>
          <p:cNvSpPr>
            <a:spLocks noGrp="1"/>
          </p:cNvSpPr>
          <p:nvPr>
            <p:ph type="sldNum" sz="quarter" idx="12"/>
          </p:nvPr>
        </p:nvSpPr>
        <p:spPr/>
        <p:txBody>
          <a:bodyPr/>
          <a:lstStyle/>
          <a:p>
            <a:fld id="{3EB37142-BB67-4B06-93E6-8D10723F8802}" type="slidenum">
              <a:rPr lang="en-US" smtClean="0"/>
              <a:t>28</a:t>
            </a:fld>
            <a:endParaRPr lang="en-US" dirty="0"/>
          </a:p>
        </p:txBody>
      </p:sp>
    </p:spTree>
    <p:extLst>
      <p:ext uri="{BB962C8B-B14F-4D97-AF65-F5344CB8AC3E}">
        <p14:creationId xmlns:p14="http://schemas.microsoft.com/office/powerpoint/2010/main" val="2890106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CADC-B5A0-B611-AD7F-56795A2C5EF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10F0452-2786-2AFE-8ABD-1D4106075367}"/>
              </a:ext>
            </a:extLst>
          </p:cNvPr>
          <p:cNvSpPr txBox="1">
            <a:spLocks/>
          </p:cNvSpPr>
          <p:nvPr/>
        </p:nvSpPr>
        <p:spPr>
          <a:xfrm>
            <a:off x="4405781" y="7041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ختبار تسجيل المتطوعين وإلغاء التسجيل:</a:t>
            </a:r>
            <a:endParaRPr lang="ar-SA" sz="3600" b="1" dirty="0"/>
          </a:p>
        </p:txBody>
      </p:sp>
      <p:sp>
        <p:nvSpPr>
          <p:cNvPr id="10" name="Title 1">
            <a:extLst>
              <a:ext uri="{FF2B5EF4-FFF2-40B4-BE49-F238E27FC236}">
                <a16:creationId xmlns:a16="http://schemas.microsoft.com/office/drawing/2014/main" id="{319FEDE7-8D4D-B002-9F54-B357D50241C4}"/>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13191D85-B38B-C1D9-231C-F174D16C21F7}"/>
              </a:ext>
            </a:extLst>
          </p:cNvPr>
          <p:cNvGraphicFramePr>
            <a:graphicFrameLocks noGrp="1"/>
          </p:cNvGraphicFramePr>
          <p:nvPr>
            <p:extLst>
              <p:ext uri="{D42A27DB-BD31-4B8C-83A1-F6EECF244321}">
                <p14:modId xmlns:p14="http://schemas.microsoft.com/office/powerpoint/2010/main" val="1752633035"/>
              </p:ext>
            </p:extLst>
          </p:nvPr>
        </p:nvGraphicFramePr>
        <p:xfrm>
          <a:off x="417094" y="1014296"/>
          <a:ext cx="11478735" cy="5843704"/>
        </p:xfrm>
        <a:graphic>
          <a:graphicData uri="http://schemas.openxmlformats.org/drawingml/2006/table">
            <a:tbl>
              <a:tblPr/>
              <a:tblGrid>
                <a:gridCol w="2295747">
                  <a:extLst>
                    <a:ext uri="{9D8B030D-6E8A-4147-A177-3AD203B41FA5}">
                      <a16:colId xmlns:a16="http://schemas.microsoft.com/office/drawing/2014/main" val="3196564550"/>
                    </a:ext>
                  </a:extLst>
                </a:gridCol>
                <a:gridCol w="4643071">
                  <a:extLst>
                    <a:ext uri="{9D8B030D-6E8A-4147-A177-3AD203B41FA5}">
                      <a16:colId xmlns:a16="http://schemas.microsoft.com/office/drawing/2014/main" val="405059307"/>
                    </a:ext>
                  </a:extLst>
                </a:gridCol>
                <a:gridCol w="4221341">
                  <a:extLst>
                    <a:ext uri="{9D8B030D-6E8A-4147-A177-3AD203B41FA5}">
                      <a16:colId xmlns:a16="http://schemas.microsoft.com/office/drawing/2014/main" val="1282260043"/>
                    </a:ext>
                  </a:extLst>
                </a:gridCol>
                <a:gridCol w="159288">
                  <a:extLst>
                    <a:ext uri="{9D8B030D-6E8A-4147-A177-3AD203B41FA5}">
                      <a16:colId xmlns:a16="http://schemas.microsoft.com/office/drawing/2014/main" val="3193558436"/>
                    </a:ext>
                  </a:extLst>
                </a:gridCol>
                <a:gridCol w="159288">
                  <a:extLst>
                    <a:ext uri="{9D8B030D-6E8A-4147-A177-3AD203B41FA5}">
                      <a16:colId xmlns:a16="http://schemas.microsoft.com/office/drawing/2014/main" val="2932142898"/>
                    </a:ext>
                  </a:extLst>
                </a:gridCol>
              </a:tblGrid>
              <a:tr h="582891">
                <a:tc>
                  <a:txBody>
                    <a:bodyPr/>
                    <a:lstStyle/>
                    <a:p>
                      <a:pPr>
                        <a:buNone/>
                      </a:pPr>
                      <a:r>
                        <a:rPr lang="en-US" sz="2400"/>
                        <a:t>C-28</a:t>
                      </a:r>
                    </a:p>
                  </a:txBody>
                  <a:tcPr marL="66944" marR="66944" marT="33472" marB="33472" anchor="ctr">
                    <a:lnL>
                      <a:noFill/>
                    </a:lnL>
                    <a:lnR>
                      <a:noFill/>
                    </a:lnR>
                    <a:lnT>
                      <a:noFill/>
                    </a:lnT>
                    <a:lnB>
                      <a:noFill/>
                    </a:lnB>
                    <a:noFill/>
                  </a:tcPr>
                </a:tc>
                <a:tc>
                  <a:txBody>
                    <a:bodyPr/>
                    <a:lstStyle/>
                    <a:p>
                      <a:pPr>
                        <a:buNone/>
                      </a:pPr>
                      <a:r>
                        <a:rPr lang="ar-SA" sz="2400"/>
                        <a:t>تسجيل متطوع في فرصة مفتوحة ومتاحة</a:t>
                      </a:r>
                    </a:p>
                  </a:txBody>
                  <a:tcPr marL="66944" marR="66944" marT="33472" marB="33472" anchor="ctr">
                    <a:lnL>
                      <a:noFill/>
                    </a:lnL>
                    <a:lnR>
                      <a:noFill/>
                    </a:lnR>
                    <a:lnT>
                      <a:noFill/>
                    </a:lnT>
                    <a:lnB>
                      <a:noFill/>
                    </a:lnB>
                    <a:noFill/>
                  </a:tcPr>
                </a:tc>
                <a:tc>
                  <a:txBody>
                    <a:bodyPr/>
                    <a:lstStyle/>
                    <a:p>
                      <a:pPr>
                        <a:buNone/>
                      </a:pPr>
                      <a:r>
                        <a:rPr lang="ar-SA" sz="2400"/>
                        <a:t>إنشاء طلب تسجيل وحفظ حالته الأولية.</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extLst>
                  <a:ext uri="{0D108BD9-81ED-4DB2-BD59-A6C34878D82A}">
                    <a16:rowId xmlns:a16="http://schemas.microsoft.com/office/drawing/2014/main" val="2779404576"/>
                  </a:ext>
                </a:extLst>
              </a:tr>
              <a:tr h="582891">
                <a:tc>
                  <a:txBody>
                    <a:bodyPr/>
                    <a:lstStyle/>
                    <a:p>
                      <a:pPr>
                        <a:buNone/>
                      </a:pPr>
                      <a:r>
                        <a:rPr lang="en-US" sz="2400"/>
                        <a:t>TC-29</a:t>
                      </a:r>
                    </a:p>
                  </a:txBody>
                  <a:tcPr marL="66944" marR="66944" marT="33472" marB="33472" anchor="ctr">
                    <a:lnL>
                      <a:noFill/>
                    </a:lnL>
                    <a:lnR>
                      <a:noFill/>
                    </a:lnR>
                    <a:lnT>
                      <a:noFill/>
                    </a:lnT>
                    <a:lnB>
                      <a:noFill/>
                    </a:lnB>
                    <a:noFill/>
                  </a:tcPr>
                </a:tc>
                <a:tc>
                  <a:txBody>
                    <a:bodyPr/>
                    <a:lstStyle/>
                    <a:p>
                      <a:pPr>
                        <a:buNone/>
                      </a:pPr>
                      <a:r>
                        <a:rPr lang="ar-SA" sz="2400"/>
                        <a:t>محاولة التسجيل في الفرصة نفسها مرتين</a:t>
                      </a:r>
                    </a:p>
                  </a:txBody>
                  <a:tcPr marL="66944" marR="66944" marT="33472" marB="33472" anchor="ctr">
                    <a:lnL>
                      <a:noFill/>
                    </a:lnL>
                    <a:lnR>
                      <a:noFill/>
                    </a:lnR>
                    <a:lnT>
                      <a:noFill/>
                    </a:lnT>
                    <a:lnB>
                      <a:noFill/>
                    </a:lnB>
                    <a:noFill/>
                  </a:tcPr>
                </a:tc>
                <a:tc>
                  <a:txBody>
                    <a:bodyPr/>
                    <a:lstStyle/>
                    <a:p>
                      <a:pPr>
                        <a:buNone/>
                      </a:pPr>
                      <a:r>
                        <a:rPr lang="ar-SA" sz="2400"/>
                        <a:t>منع إنشاء تسجيل مكرر.</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extLst>
                  <a:ext uri="{0D108BD9-81ED-4DB2-BD59-A6C34878D82A}">
                    <a16:rowId xmlns:a16="http://schemas.microsoft.com/office/drawing/2014/main" val="2291496401"/>
                  </a:ext>
                </a:extLst>
              </a:tr>
              <a:tr h="582891">
                <a:tc>
                  <a:txBody>
                    <a:bodyPr/>
                    <a:lstStyle/>
                    <a:p>
                      <a:pPr>
                        <a:buNone/>
                      </a:pPr>
                      <a:r>
                        <a:rPr lang="en-US" sz="2400"/>
                        <a:t>TC-30</a:t>
                      </a:r>
                    </a:p>
                  </a:txBody>
                  <a:tcPr marL="66944" marR="66944" marT="33472" marB="33472" anchor="ctr">
                    <a:lnL>
                      <a:noFill/>
                    </a:lnL>
                    <a:lnR>
                      <a:noFill/>
                    </a:lnR>
                    <a:lnT>
                      <a:noFill/>
                    </a:lnT>
                    <a:lnB>
                      <a:noFill/>
                    </a:lnB>
                    <a:noFill/>
                  </a:tcPr>
                </a:tc>
                <a:tc>
                  <a:txBody>
                    <a:bodyPr/>
                    <a:lstStyle/>
                    <a:p>
                      <a:pPr>
                        <a:buNone/>
                      </a:pPr>
                      <a:r>
                        <a:rPr lang="ar-SA" sz="2400"/>
                        <a:t>التسجيل في فرصة مغلقة</a:t>
                      </a:r>
                    </a:p>
                  </a:txBody>
                  <a:tcPr marL="66944" marR="66944" marT="33472" marB="33472" anchor="ctr">
                    <a:lnL>
                      <a:noFill/>
                    </a:lnL>
                    <a:lnR>
                      <a:noFill/>
                    </a:lnR>
                    <a:lnT>
                      <a:noFill/>
                    </a:lnT>
                    <a:lnB>
                      <a:noFill/>
                    </a:lnB>
                    <a:noFill/>
                  </a:tcPr>
                </a:tc>
                <a:tc>
                  <a:txBody>
                    <a:bodyPr/>
                    <a:lstStyle/>
                    <a:p>
                      <a:pPr>
                        <a:buNone/>
                      </a:pPr>
                      <a:r>
                        <a:rPr lang="ar-SA" sz="2400"/>
                        <a:t>رفض التسجيل وإظهار سبب مناسب.</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extLst>
                  <a:ext uri="{0D108BD9-81ED-4DB2-BD59-A6C34878D82A}">
                    <a16:rowId xmlns:a16="http://schemas.microsoft.com/office/drawing/2014/main" val="2608932922"/>
                  </a:ext>
                </a:extLst>
              </a:tr>
              <a:tr h="832701">
                <a:tc>
                  <a:txBody>
                    <a:bodyPr/>
                    <a:lstStyle/>
                    <a:p>
                      <a:pPr>
                        <a:buNone/>
                      </a:pPr>
                      <a:r>
                        <a:rPr lang="en-US" sz="2400"/>
                        <a:t>TC-31</a:t>
                      </a:r>
                    </a:p>
                  </a:txBody>
                  <a:tcPr marL="66944" marR="66944" marT="33472" marB="33472" anchor="ctr">
                    <a:lnL>
                      <a:noFill/>
                    </a:lnL>
                    <a:lnR>
                      <a:noFill/>
                    </a:lnR>
                    <a:lnT>
                      <a:noFill/>
                    </a:lnT>
                    <a:lnB>
                      <a:noFill/>
                    </a:lnB>
                    <a:noFill/>
                  </a:tcPr>
                </a:tc>
                <a:tc>
                  <a:txBody>
                    <a:bodyPr/>
                    <a:lstStyle/>
                    <a:p>
                      <a:pPr>
                        <a:buNone/>
                      </a:pPr>
                      <a:r>
                        <a:rPr lang="ar-SA" sz="2400"/>
                        <a:t>التسجيل بعد انتهاء الموعد النهائي</a:t>
                      </a:r>
                    </a:p>
                  </a:txBody>
                  <a:tcPr marL="66944" marR="66944" marT="33472" marB="33472" anchor="ctr">
                    <a:lnL>
                      <a:noFill/>
                    </a:lnL>
                    <a:lnR>
                      <a:noFill/>
                    </a:lnR>
                    <a:lnT>
                      <a:noFill/>
                    </a:lnT>
                    <a:lnB>
                      <a:noFill/>
                    </a:lnB>
                    <a:noFill/>
                  </a:tcPr>
                </a:tc>
                <a:tc>
                  <a:txBody>
                    <a:bodyPr/>
                    <a:lstStyle/>
                    <a:p>
                      <a:pPr>
                        <a:buNone/>
                      </a:pPr>
                      <a:r>
                        <a:rPr lang="ar-SA" sz="2400"/>
                        <a:t>رفض التسجيل إذا كانت سياسة النظام تمنع التسجيل المتأخر.</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extLst>
                  <a:ext uri="{0D108BD9-81ED-4DB2-BD59-A6C34878D82A}">
                    <a16:rowId xmlns:a16="http://schemas.microsoft.com/office/drawing/2014/main" val="351139712"/>
                  </a:ext>
                </a:extLst>
              </a:tr>
              <a:tr h="582891">
                <a:tc>
                  <a:txBody>
                    <a:bodyPr/>
                    <a:lstStyle/>
                    <a:p>
                      <a:pPr>
                        <a:buNone/>
                      </a:pPr>
                      <a:r>
                        <a:rPr lang="en-US" sz="2400"/>
                        <a:t>TC-32</a:t>
                      </a:r>
                    </a:p>
                  </a:txBody>
                  <a:tcPr marL="66944" marR="66944" marT="33472" marB="33472" anchor="ctr">
                    <a:lnL>
                      <a:noFill/>
                    </a:lnL>
                    <a:lnR>
                      <a:noFill/>
                    </a:lnR>
                    <a:lnT>
                      <a:noFill/>
                    </a:lnT>
                    <a:lnB>
                      <a:noFill/>
                    </a:lnB>
                    <a:noFill/>
                  </a:tcPr>
                </a:tc>
                <a:tc>
                  <a:txBody>
                    <a:bodyPr/>
                    <a:lstStyle/>
                    <a:p>
                      <a:pPr>
                        <a:buNone/>
                      </a:pPr>
                      <a:r>
                        <a:rPr lang="ar-SA" sz="2400"/>
                        <a:t>إلغاء تسجيل قائم ضمن الفترة المسموح بها</a:t>
                      </a:r>
                    </a:p>
                  </a:txBody>
                  <a:tcPr marL="66944" marR="66944" marT="33472" marB="33472" anchor="ctr">
                    <a:lnL>
                      <a:noFill/>
                    </a:lnL>
                    <a:lnR>
                      <a:noFill/>
                    </a:lnR>
                    <a:lnT>
                      <a:noFill/>
                    </a:lnT>
                    <a:lnB>
                      <a:noFill/>
                    </a:lnB>
                    <a:noFill/>
                  </a:tcPr>
                </a:tc>
                <a:tc>
                  <a:txBody>
                    <a:bodyPr/>
                    <a:lstStyle/>
                    <a:p>
                      <a:pPr>
                        <a:buNone/>
                      </a:pPr>
                      <a:r>
                        <a:rPr lang="ar-SA" sz="2400"/>
                        <a:t>تحديث حالة التسجيل وفق السياسة المعتمدة.</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extLst>
                  <a:ext uri="{0D108BD9-81ED-4DB2-BD59-A6C34878D82A}">
                    <a16:rowId xmlns:a16="http://schemas.microsoft.com/office/drawing/2014/main" val="106412796"/>
                  </a:ext>
                </a:extLst>
              </a:tr>
              <a:tr h="832701">
                <a:tc>
                  <a:txBody>
                    <a:bodyPr/>
                    <a:lstStyle/>
                    <a:p>
                      <a:pPr>
                        <a:buNone/>
                      </a:pPr>
                      <a:r>
                        <a:rPr lang="en-US" sz="2400"/>
                        <a:t>TC-33</a:t>
                      </a:r>
                    </a:p>
                  </a:txBody>
                  <a:tcPr marL="66944" marR="66944" marT="33472" marB="33472" anchor="ctr">
                    <a:lnL>
                      <a:noFill/>
                    </a:lnL>
                    <a:lnR>
                      <a:noFill/>
                    </a:lnR>
                    <a:lnT>
                      <a:noFill/>
                    </a:lnT>
                    <a:lnB>
                      <a:noFill/>
                    </a:lnB>
                    <a:noFill/>
                  </a:tcPr>
                </a:tc>
                <a:tc>
                  <a:txBody>
                    <a:bodyPr/>
                    <a:lstStyle/>
                    <a:p>
                      <a:pPr>
                        <a:buNone/>
                      </a:pPr>
                      <a:r>
                        <a:rPr lang="ar-SA" sz="2400"/>
                        <a:t>محاولة إلغاء تسجيل غير موجود</a:t>
                      </a:r>
                    </a:p>
                  </a:txBody>
                  <a:tcPr marL="66944" marR="66944" marT="33472" marB="33472" anchor="ctr">
                    <a:lnL>
                      <a:noFill/>
                    </a:lnL>
                    <a:lnR>
                      <a:noFill/>
                    </a:lnR>
                    <a:lnT>
                      <a:noFill/>
                    </a:lnT>
                    <a:lnB>
                      <a:noFill/>
                    </a:lnB>
                    <a:noFill/>
                  </a:tcPr>
                </a:tc>
                <a:tc>
                  <a:txBody>
                    <a:bodyPr/>
                    <a:lstStyle/>
                    <a:p>
                      <a:pPr>
                        <a:buNone/>
                      </a:pPr>
                      <a:r>
                        <a:rPr lang="ar-SA" sz="2400"/>
                        <a:t>عدم إجراء تعديل غير صحيح وإظهار رسالة مناسبة.</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extLst>
                  <a:ext uri="{0D108BD9-81ED-4DB2-BD59-A6C34878D82A}">
                    <a16:rowId xmlns:a16="http://schemas.microsoft.com/office/drawing/2014/main" val="4042935343"/>
                  </a:ext>
                </a:extLst>
              </a:tr>
              <a:tr h="582891">
                <a:tc>
                  <a:txBody>
                    <a:bodyPr/>
                    <a:lstStyle/>
                    <a:p>
                      <a:pPr>
                        <a:buNone/>
                      </a:pPr>
                      <a:r>
                        <a:rPr lang="en-US" sz="2400"/>
                        <a:t>TC-34</a:t>
                      </a:r>
                    </a:p>
                  </a:txBody>
                  <a:tcPr marL="66944" marR="66944" marT="33472" marB="33472" anchor="ctr">
                    <a:lnL>
                      <a:noFill/>
                    </a:lnL>
                    <a:lnR>
                      <a:noFill/>
                    </a:lnR>
                    <a:lnT>
                      <a:noFill/>
                    </a:lnT>
                    <a:lnB>
                      <a:noFill/>
                    </a:lnB>
                    <a:noFill/>
                  </a:tcPr>
                </a:tc>
                <a:tc>
                  <a:txBody>
                    <a:bodyPr/>
                    <a:lstStyle/>
                    <a:p>
                      <a:pPr>
                        <a:buNone/>
                      </a:pPr>
                      <a:r>
                        <a:rPr lang="ar-SA" sz="2400"/>
                        <a:t>محاولة تعديل تسجيل يخص متطوعًا آخر</a:t>
                      </a:r>
                    </a:p>
                  </a:txBody>
                  <a:tcPr marL="66944" marR="66944" marT="33472" marB="33472" anchor="ctr">
                    <a:lnL>
                      <a:noFill/>
                    </a:lnL>
                    <a:lnR>
                      <a:noFill/>
                    </a:lnR>
                    <a:lnT>
                      <a:noFill/>
                    </a:lnT>
                    <a:lnB>
                      <a:noFill/>
                    </a:lnB>
                    <a:noFill/>
                  </a:tcPr>
                </a:tc>
                <a:tc>
                  <a:txBody>
                    <a:bodyPr/>
                    <a:lstStyle/>
                    <a:p>
                      <a:pPr>
                        <a:buNone/>
                      </a:pPr>
                      <a:r>
                        <a:rPr lang="ar-SA" sz="2400"/>
                        <a:t>رفض العملية بسبب عدم امتلاك الصلاحية.</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extLst>
                  <a:ext uri="{0D108BD9-81ED-4DB2-BD59-A6C34878D82A}">
                    <a16:rowId xmlns:a16="http://schemas.microsoft.com/office/drawing/2014/main" val="503905426"/>
                  </a:ext>
                </a:extLst>
              </a:tr>
              <a:tr h="832701">
                <a:tc>
                  <a:txBody>
                    <a:bodyPr/>
                    <a:lstStyle/>
                    <a:p>
                      <a:pPr>
                        <a:buNone/>
                      </a:pPr>
                      <a:r>
                        <a:rPr lang="en-US" sz="2400"/>
                        <a:t>TC-35</a:t>
                      </a:r>
                    </a:p>
                  </a:txBody>
                  <a:tcPr marL="66944" marR="66944" marT="33472" marB="33472" anchor="ctr">
                    <a:lnL>
                      <a:noFill/>
                    </a:lnL>
                    <a:lnR>
                      <a:noFill/>
                    </a:lnR>
                    <a:lnT>
                      <a:noFill/>
                    </a:lnT>
                    <a:lnB>
                      <a:noFill/>
                    </a:lnB>
                    <a:noFill/>
                  </a:tcPr>
                </a:tc>
                <a:tc>
                  <a:txBody>
                    <a:bodyPr/>
                    <a:lstStyle/>
                    <a:p>
                      <a:pPr>
                        <a:buNone/>
                      </a:pPr>
                      <a:r>
                        <a:rPr lang="ar-SA" sz="2400"/>
                        <a:t>عرض قائمة تسجيلات المتطوع</a:t>
                      </a:r>
                    </a:p>
                  </a:txBody>
                  <a:tcPr marL="66944" marR="66944" marT="33472" marB="33472" anchor="ctr">
                    <a:lnL>
                      <a:noFill/>
                    </a:lnL>
                    <a:lnR>
                      <a:noFill/>
                    </a:lnR>
                    <a:lnT>
                      <a:noFill/>
                    </a:lnT>
                    <a:lnB>
                      <a:noFill/>
                    </a:lnB>
                    <a:noFill/>
                  </a:tcPr>
                </a:tc>
                <a:tc>
                  <a:txBody>
                    <a:bodyPr/>
                    <a:lstStyle/>
                    <a:p>
                      <a:pPr>
                        <a:buNone/>
                      </a:pPr>
                      <a:r>
                        <a:rPr lang="ar-SA" sz="2400" dirty="0"/>
                        <a:t>عرض تسجيلاته وحالاتها دون كشف تسجيلات الآخرين.</a:t>
                      </a:r>
                    </a:p>
                  </a:txBody>
                  <a:tcPr marL="66944" marR="66944" marT="33472" marB="33472" anchor="ctr">
                    <a:lnL>
                      <a:noFill/>
                    </a:lnL>
                    <a:lnR>
                      <a:noFill/>
                    </a:lnR>
                    <a:lnT>
                      <a:noFill/>
                    </a:lnT>
                    <a:lnB>
                      <a:noFill/>
                    </a:lnB>
                    <a:noFill/>
                  </a:tcPr>
                </a:tc>
                <a:tc>
                  <a:txBody>
                    <a:bodyPr/>
                    <a:lstStyle/>
                    <a:p>
                      <a:pPr>
                        <a:buNone/>
                      </a:pPr>
                      <a:endParaRPr lang="en-US" sz="1300"/>
                    </a:p>
                  </a:txBody>
                  <a:tcPr marL="66944" marR="66944" marT="33472" marB="33472" anchor="ctr">
                    <a:lnL>
                      <a:noFill/>
                    </a:lnL>
                    <a:lnR>
                      <a:noFill/>
                    </a:lnR>
                    <a:lnT>
                      <a:noFill/>
                    </a:lnT>
                    <a:lnB>
                      <a:noFill/>
                    </a:lnB>
                    <a:noFill/>
                  </a:tcPr>
                </a:tc>
                <a:tc>
                  <a:txBody>
                    <a:bodyPr/>
                    <a:lstStyle/>
                    <a:p>
                      <a:pPr>
                        <a:buNone/>
                      </a:pPr>
                      <a:endParaRPr lang="en-US" sz="1300" dirty="0"/>
                    </a:p>
                  </a:txBody>
                  <a:tcPr marL="66944" marR="66944" marT="33472" marB="33472" anchor="ctr">
                    <a:lnL>
                      <a:noFill/>
                    </a:lnL>
                    <a:lnR>
                      <a:noFill/>
                    </a:lnR>
                    <a:lnT>
                      <a:noFill/>
                    </a:lnT>
                    <a:lnB>
                      <a:noFill/>
                    </a:lnB>
                    <a:noFill/>
                  </a:tcPr>
                </a:tc>
                <a:extLst>
                  <a:ext uri="{0D108BD9-81ED-4DB2-BD59-A6C34878D82A}">
                    <a16:rowId xmlns:a16="http://schemas.microsoft.com/office/drawing/2014/main" val="512254417"/>
                  </a:ext>
                </a:extLst>
              </a:tr>
            </a:tbl>
          </a:graphicData>
        </a:graphic>
      </p:graphicFrame>
      <p:sp>
        <p:nvSpPr>
          <p:cNvPr id="3" name="Slide Number Placeholder 2">
            <a:extLst>
              <a:ext uri="{FF2B5EF4-FFF2-40B4-BE49-F238E27FC236}">
                <a16:creationId xmlns:a16="http://schemas.microsoft.com/office/drawing/2014/main" id="{25D3029D-829A-1D7D-BCCA-7DDCDD9A652C}"/>
              </a:ext>
            </a:extLst>
          </p:cNvPr>
          <p:cNvSpPr>
            <a:spLocks noGrp="1"/>
          </p:cNvSpPr>
          <p:nvPr>
            <p:ph type="sldNum" sz="quarter" idx="12"/>
          </p:nvPr>
        </p:nvSpPr>
        <p:spPr/>
        <p:txBody>
          <a:bodyPr/>
          <a:lstStyle/>
          <a:p>
            <a:fld id="{3EB37142-BB67-4B06-93E6-8D10723F8802}" type="slidenum">
              <a:rPr lang="en-US" smtClean="0"/>
              <a:t>29</a:t>
            </a:fld>
            <a:endParaRPr lang="en-US" dirty="0"/>
          </a:p>
        </p:txBody>
      </p:sp>
    </p:spTree>
    <p:extLst>
      <p:ext uri="{BB962C8B-B14F-4D97-AF65-F5344CB8AC3E}">
        <p14:creationId xmlns:p14="http://schemas.microsoft.com/office/powerpoint/2010/main" val="2685969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2940A-C0EF-77D9-D7C5-EB646C8FEF5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FAB3F6F-F298-7FCD-E584-284745B1F157}"/>
              </a:ext>
            </a:extLst>
          </p:cNvPr>
          <p:cNvSpPr txBox="1">
            <a:spLocks/>
          </p:cNvSpPr>
          <p:nvPr/>
        </p:nvSpPr>
        <p:spPr>
          <a:xfrm>
            <a:off x="4405781" y="7041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اختبار السعة القصوى للفرص</a:t>
            </a:r>
            <a:r>
              <a:rPr lang="en-US" sz="3600" dirty="0"/>
              <a:t> </a:t>
            </a:r>
            <a:r>
              <a:rPr lang="ar-SA" sz="3600" dirty="0"/>
              <a:t>:</a:t>
            </a:r>
            <a:endParaRPr lang="ar-SA" sz="3600" b="1" dirty="0"/>
          </a:p>
        </p:txBody>
      </p:sp>
      <p:sp>
        <p:nvSpPr>
          <p:cNvPr id="10" name="Title 1">
            <a:extLst>
              <a:ext uri="{FF2B5EF4-FFF2-40B4-BE49-F238E27FC236}">
                <a16:creationId xmlns:a16="http://schemas.microsoft.com/office/drawing/2014/main" id="{6CBC9887-CD5B-E671-D38B-95278FF3C850}"/>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9CE6157A-03CF-120D-E005-FB054081D6FD}"/>
              </a:ext>
            </a:extLst>
          </p:cNvPr>
          <p:cNvGraphicFramePr>
            <a:graphicFrameLocks noGrp="1"/>
          </p:cNvGraphicFramePr>
          <p:nvPr>
            <p:extLst>
              <p:ext uri="{D42A27DB-BD31-4B8C-83A1-F6EECF244321}">
                <p14:modId xmlns:p14="http://schemas.microsoft.com/office/powerpoint/2010/main" val="2768131516"/>
              </p:ext>
            </p:extLst>
          </p:nvPr>
        </p:nvGraphicFramePr>
        <p:xfrm>
          <a:off x="354541" y="923952"/>
          <a:ext cx="11599660" cy="5741485"/>
        </p:xfrm>
        <a:graphic>
          <a:graphicData uri="http://schemas.openxmlformats.org/drawingml/2006/table">
            <a:tbl>
              <a:tblPr/>
              <a:tblGrid>
                <a:gridCol w="2319932">
                  <a:extLst>
                    <a:ext uri="{9D8B030D-6E8A-4147-A177-3AD203B41FA5}">
                      <a16:colId xmlns:a16="http://schemas.microsoft.com/office/drawing/2014/main" val="803760509"/>
                    </a:ext>
                  </a:extLst>
                </a:gridCol>
                <a:gridCol w="3447813">
                  <a:extLst>
                    <a:ext uri="{9D8B030D-6E8A-4147-A177-3AD203B41FA5}">
                      <a16:colId xmlns:a16="http://schemas.microsoft.com/office/drawing/2014/main" val="3318761501"/>
                    </a:ext>
                  </a:extLst>
                </a:gridCol>
                <a:gridCol w="5418697">
                  <a:extLst>
                    <a:ext uri="{9D8B030D-6E8A-4147-A177-3AD203B41FA5}">
                      <a16:colId xmlns:a16="http://schemas.microsoft.com/office/drawing/2014/main" val="2548987140"/>
                    </a:ext>
                  </a:extLst>
                </a:gridCol>
                <a:gridCol w="196040">
                  <a:extLst>
                    <a:ext uri="{9D8B030D-6E8A-4147-A177-3AD203B41FA5}">
                      <a16:colId xmlns:a16="http://schemas.microsoft.com/office/drawing/2014/main" val="1841248391"/>
                    </a:ext>
                  </a:extLst>
                </a:gridCol>
                <a:gridCol w="217178">
                  <a:extLst>
                    <a:ext uri="{9D8B030D-6E8A-4147-A177-3AD203B41FA5}">
                      <a16:colId xmlns:a16="http://schemas.microsoft.com/office/drawing/2014/main" val="3076802305"/>
                    </a:ext>
                  </a:extLst>
                </a:gridCol>
              </a:tblGrid>
              <a:tr h="776827">
                <a:tc>
                  <a:txBody>
                    <a:bodyPr/>
                    <a:lstStyle/>
                    <a:p>
                      <a:pPr>
                        <a:buNone/>
                      </a:pPr>
                      <a:r>
                        <a:rPr lang="en-US" sz="2400"/>
                        <a:t>TC-36</a:t>
                      </a:r>
                    </a:p>
                  </a:txBody>
                  <a:tcPr marL="85320" marR="85320" marT="42660" marB="42660" anchor="ctr">
                    <a:lnL>
                      <a:noFill/>
                    </a:lnL>
                    <a:lnR>
                      <a:noFill/>
                    </a:lnR>
                    <a:lnT>
                      <a:noFill/>
                    </a:lnT>
                    <a:lnB>
                      <a:noFill/>
                    </a:lnB>
                    <a:noFill/>
                  </a:tcPr>
                </a:tc>
                <a:tc>
                  <a:txBody>
                    <a:bodyPr/>
                    <a:lstStyle/>
                    <a:p>
                      <a:pPr>
                        <a:buNone/>
                      </a:pPr>
                      <a:r>
                        <a:rPr lang="ar-SA" sz="2400"/>
                        <a:t>التسجيل في فرصة لم تصل إلى السعة القصوى</a:t>
                      </a:r>
                    </a:p>
                  </a:txBody>
                  <a:tcPr marL="85320" marR="85320" marT="42660" marB="42660" anchor="ctr">
                    <a:lnL>
                      <a:noFill/>
                    </a:lnL>
                    <a:lnR>
                      <a:noFill/>
                    </a:lnR>
                    <a:lnT>
                      <a:noFill/>
                    </a:lnT>
                    <a:lnB>
                      <a:noFill/>
                    </a:lnB>
                    <a:noFill/>
                  </a:tcPr>
                </a:tc>
                <a:tc>
                  <a:txBody>
                    <a:bodyPr/>
                    <a:lstStyle/>
                    <a:p>
                      <a:pPr>
                        <a:buNone/>
                      </a:pPr>
                      <a:r>
                        <a:rPr lang="ar-SA" sz="2400"/>
                        <a:t>قبول الطلب أو تسجيله للمراجعة وفق آلية النظام.</a:t>
                      </a:r>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extLst>
                  <a:ext uri="{0D108BD9-81ED-4DB2-BD59-A6C34878D82A}">
                    <a16:rowId xmlns:a16="http://schemas.microsoft.com/office/drawing/2014/main" val="1642625074"/>
                  </a:ext>
                </a:extLst>
              </a:tr>
              <a:tr h="1110326">
                <a:tc>
                  <a:txBody>
                    <a:bodyPr/>
                    <a:lstStyle/>
                    <a:p>
                      <a:pPr>
                        <a:buNone/>
                      </a:pPr>
                      <a:r>
                        <a:rPr lang="en-US" sz="2400"/>
                        <a:t>TC-37</a:t>
                      </a:r>
                    </a:p>
                  </a:txBody>
                  <a:tcPr marL="85320" marR="85320" marT="42660" marB="42660" anchor="ctr">
                    <a:lnL>
                      <a:noFill/>
                    </a:lnL>
                    <a:lnR>
                      <a:noFill/>
                    </a:lnR>
                    <a:lnT>
                      <a:noFill/>
                    </a:lnT>
                    <a:lnB>
                      <a:noFill/>
                    </a:lnB>
                    <a:noFill/>
                  </a:tcPr>
                </a:tc>
                <a:tc>
                  <a:txBody>
                    <a:bodyPr/>
                    <a:lstStyle/>
                    <a:p>
                      <a:pPr>
                        <a:buNone/>
                      </a:pPr>
                      <a:r>
                        <a:rPr lang="ar-SA" sz="2400"/>
                        <a:t>محاولة التسجيل عند بلوغ السعة القصوى</a:t>
                      </a:r>
                    </a:p>
                  </a:txBody>
                  <a:tcPr marL="85320" marR="85320" marT="42660" marB="42660" anchor="ctr">
                    <a:lnL>
                      <a:noFill/>
                    </a:lnL>
                    <a:lnR>
                      <a:noFill/>
                    </a:lnR>
                    <a:lnT>
                      <a:noFill/>
                    </a:lnT>
                    <a:lnB>
                      <a:noFill/>
                    </a:lnB>
                    <a:noFill/>
                  </a:tcPr>
                </a:tc>
                <a:tc>
                  <a:txBody>
                    <a:bodyPr/>
                    <a:lstStyle/>
                    <a:p>
                      <a:pPr>
                        <a:buNone/>
                      </a:pPr>
                      <a:r>
                        <a:rPr lang="ar-SA" sz="2400"/>
                        <a:t>منع التسجيل الجديد أو وضعه في قائمة انتظار إذا كانت مدعومة.</a:t>
                      </a:r>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extLst>
                  <a:ext uri="{0D108BD9-81ED-4DB2-BD59-A6C34878D82A}">
                    <a16:rowId xmlns:a16="http://schemas.microsoft.com/office/drawing/2014/main" val="954810218"/>
                  </a:ext>
                </a:extLst>
              </a:tr>
              <a:tr h="1110326">
                <a:tc>
                  <a:txBody>
                    <a:bodyPr/>
                    <a:lstStyle/>
                    <a:p>
                      <a:pPr>
                        <a:buNone/>
                      </a:pPr>
                      <a:r>
                        <a:rPr lang="en-US" sz="2400"/>
                        <a:t>TC-38</a:t>
                      </a:r>
                    </a:p>
                  </a:txBody>
                  <a:tcPr marL="85320" marR="85320" marT="42660" marB="42660" anchor="ctr">
                    <a:lnL>
                      <a:noFill/>
                    </a:lnL>
                    <a:lnR>
                      <a:noFill/>
                    </a:lnR>
                    <a:lnT>
                      <a:noFill/>
                    </a:lnT>
                    <a:lnB>
                      <a:noFill/>
                    </a:lnB>
                    <a:noFill/>
                  </a:tcPr>
                </a:tc>
                <a:tc>
                  <a:txBody>
                    <a:bodyPr/>
                    <a:lstStyle/>
                    <a:p>
                      <a:pPr>
                        <a:buNone/>
                      </a:pPr>
                      <a:r>
                        <a:rPr lang="ar-SA" sz="2400"/>
                        <a:t>محاولة المؤسسة قبول متطوع إضافي بعد اكتمال السعة</a:t>
                      </a:r>
                    </a:p>
                  </a:txBody>
                  <a:tcPr marL="85320" marR="85320" marT="42660" marB="42660" anchor="ctr">
                    <a:lnL>
                      <a:noFill/>
                    </a:lnL>
                    <a:lnR>
                      <a:noFill/>
                    </a:lnR>
                    <a:lnT>
                      <a:noFill/>
                    </a:lnT>
                    <a:lnB>
                      <a:noFill/>
                    </a:lnB>
                    <a:noFill/>
                  </a:tcPr>
                </a:tc>
                <a:tc>
                  <a:txBody>
                    <a:bodyPr/>
                    <a:lstStyle/>
                    <a:p>
                      <a:pPr>
                        <a:buNone/>
                      </a:pPr>
                      <a:r>
                        <a:rPr lang="ar-SA" sz="2400"/>
                        <a:t>منع تجاوز العدد الأقصى للمقبولين.</a:t>
                      </a:r>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extLst>
                  <a:ext uri="{0D108BD9-81ED-4DB2-BD59-A6C34878D82A}">
                    <a16:rowId xmlns:a16="http://schemas.microsoft.com/office/drawing/2014/main" val="417179990"/>
                  </a:ext>
                </a:extLst>
              </a:tr>
              <a:tr h="776827">
                <a:tc>
                  <a:txBody>
                    <a:bodyPr/>
                    <a:lstStyle/>
                    <a:p>
                      <a:pPr>
                        <a:buNone/>
                      </a:pPr>
                      <a:r>
                        <a:rPr lang="en-US" sz="2400"/>
                        <a:t>TC-39</a:t>
                      </a:r>
                    </a:p>
                  </a:txBody>
                  <a:tcPr marL="85320" marR="85320" marT="42660" marB="42660" anchor="ctr">
                    <a:lnL>
                      <a:noFill/>
                    </a:lnL>
                    <a:lnR>
                      <a:noFill/>
                    </a:lnR>
                    <a:lnT>
                      <a:noFill/>
                    </a:lnT>
                    <a:lnB>
                      <a:noFill/>
                    </a:lnB>
                    <a:noFill/>
                  </a:tcPr>
                </a:tc>
                <a:tc>
                  <a:txBody>
                    <a:bodyPr/>
                    <a:lstStyle/>
                    <a:p>
                      <a:pPr>
                        <a:buNone/>
                      </a:pPr>
                      <a:r>
                        <a:rPr lang="ar-SA" sz="2400"/>
                        <a:t>إلغاء تسجيل متطوع مقبول</a:t>
                      </a:r>
                    </a:p>
                  </a:txBody>
                  <a:tcPr marL="85320" marR="85320" marT="42660" marB="42660" anchor="ctr">
                    <a:lnL>
                      <a:noFill/>
                    </a:lnL>
                    <a:lnR>
                      <a:noFill/>
                    </a:lnR>
                    <a:lnT>
                      <a:noFill/>
                    </a:lnT>
                    <a:lnB>
                      <a:noFill/>
                    </a:lnB>
                    <a:noFill/>
                  </a:tcPr>
                </a:tc>
                <a:tc>
                  <a:txBody>
                    <a:bodyPr/>
                    <a:lstStyle/>
                    <a:p>
                      <a:pPr>
                        <a:buNone/>
                      </a:pPr>
                      <a:r>
                        <a:rPr lang="ar-SA" sz="2400"/>
                        <a:t>تحديث العدد المتاح وفق سياسة النظام.</a:t>
                      </a:r>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extLst>
                  <a:ext uri="{0D108BD9-81ED-4DB2-BD59-A6C34878D82A}">
                    <a16:rowId xmlns:a16="http://schemas.microsoft.com/office/drawing/2014/main" val="2761227361"/>
                  </a:ext>
                </a:extLst>
              </a:tr>
              <a:tr h="776827">
                <a:tc>
                  <a:txBody>
                    <a:bodyPr/>
                    <a:lstStyle/>
                    <a:p>
                      <a:pPr>
                        <a:buNone/>
                      </a:pPr>
                      <a:r>
                        <a:rPr lang="en-US" sz="2400"/>
                        <a:t>TC-40</a:t>
                      </a:r>
                    </a:p>
                  </a:txBody>
                  <a:tcPr marL="85320" marR="85320" marT="42660" marB="42660" anchor="ctr">
                    <a:lnL>
                      <a:noFill/>
                    </a:lnL>
                    <a:lnR>
                      <a:noFill/>
                    </a:lnR>
                    <a:lnT>
                      <a:noFill/>
                    </a:lnT>
                    <a:lnB>
                      <a:noFill/>
                    </a:lnB>
                    <a:noFill/>
                  </a:tcPr>
                </a:tc>
                <a:tc>
                  <a:txBody>
                    <a:bodyPr/>
                    <a:lstStyle/>
                    <a:p>
                      <a:pPr>
                        <a:buNone/>
                      </a:pPr>
                      <a:r>
                        <a:rPr lang="ar-SA" sz="2400"/>
                        <a:t>إرسال طلبَي تسجيل متزامنين للمقعد الأخير</a:t>
                      </a:r>
                    </a:p>
                  </a:txBody>
                  <a:tcPr marL="85320" marR="85320" marT="42660" marB="42660" anchor="ctr">
                    <a:lnL>
                      <a:noFill/>
                    </a:lnL>
                    <a:lnR>
                      <a:noFill/>
                    </a:lnR>
                    <a:lnT>
                      <a:noFill/>
                    </a:lnT>
                    <a:lnB>
                      <a:noFill/>
                    </a:lnB>
                    <a:noFill/>
                  </a:tcPr>
                </a:tc>
                <a:tc>
                  <a:txBody>
                    <a:bodyPr/>
                    <a:lstStyle/>
                    <a:p>
                      <a:pPr>
                        <a:buNone/>
                      </a:pPr>
                      <a:r>
                        <a:rPr lang="ar-SA" sz="2400"/>
                        <a:t>عدم تجاوز السعة نتيجة التزامن.</a:t>
                      </a:r>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extLst>
                  <a:ext uri="{0D108BD9-81ED-4DB2-BD59-A6C34878D82A}">
                    <a16:rowId xmlns:a16="http://schemas.microsoft.com/office/drawing/2014/main" val="3303754968"/>
                  </a:ext>
                </a:extLst>
              </a:tr>
              <a:tr h="1110326">
                <a:tc>
                  <a:txBody>
                    <a:bodyPr/>
                    <a:lstStyle/>
                    <a:p>
                      <a:pPr>
                        <a:buNone/>
                      </a:pPr>
                      <a:r>
                        <a:rPr lang="en-US" sz="2400"/>
                        <a:t>TC-41</a:t>
                      </a:r>
                    </a:p>
                  </a:txBody>
                  <a:tcPr marL="85320" marR="85320" marT="42660" marB="42660" anchor="ctr">
                    <a:lnL>
                      <a:noFill/>
                    </a:lnL>
                    <a:lnR>
                      <a:noFill/>
                    </a:lnR>
                    <a:lnT>
                      <a:noFill/>
                    </a:lnT>
                    <a:lnB>
                      <a:noFill/>
                    </a:lnB>
                    <a:noFill/>
                  </a:tcPr>
                </a:tc>
                <a:tc>
                  <a:txBody>
                    <a:bodyPr/>
                    <a:lstStyle/>
                    <a:p>
                      <a:pPr>
                        <a:buNone/>
                      </a:pPr>
                      <a:r>
                        <a:rPr lang="ar-SA" sz="2400"/>
                        <a:t>إدخال سعة صفرية أو قيمة سالبة</a:t>
                      </a:r>
                    </a:p>
                  </a:txBody>
                  <a:tcPr marL="85320" marR="85320" marT="42660" marB="42660" anchor="ctr">
                    <a:lnL>
                      <a:noFill/>
                    </a:lnL>
                    <a:lnR>
                      <a:noFill/>
                    </a:lnR>
                    <a:lnT>
                      <a:noFill/>
                    </a:lnT>
                    <a:lnB>
                      <a:noFill/>
                    </a:lnB>
                    <a:noFill/>
                  </a:tcPr>
                </a:tc>
                <a:tc>
                  <a:txBody>
                    <a:bodyPr/>
                    <a:lstStyle/>
                    <a:p>
                      <a:pPr>
                        <a:buNone/>
                      </a:pPr>
                      <a:r>
                        <a:rPr lang="ar-SA" sz="2400" dirty="0"/>
                        <a:t>رفض القيمة إذا كانت السعة يجب أن تكون عددًا موجبًا.</a:t>
                      </a:r>
                    </a:p>
                  </a:txBody>
                  <a:tcPr marL="85320" marR="85320" marT="42660" marB="42660" anchor="ctr">
                    <a:lnL>
                      <a:noFill/>
                    </a:lnL>
                    <a:lnR>
                      <a:noFill/>
                    </a:lnR>
                    <a:lnT>
                      <a:noFill/>
                    </a:lnT>
                    <a:lnB>
                      <a:noFill/>
                    </a:lnB>
                    <a:noFill/>
                  </a:tcPr>
                </a:tc>
                <a:tc>
                  <a:txBody>
                    <a:bodyPr/>
                    <a:lstStyle/>
                    <a:p>
                      <a:pPr>
                        <a:buNone/>
                      </a:pPr>
                      <a:endParaRPr lang="en-US" sz="1700"/>
                    </a:p>
                  </a:txBody>
                  <a:tcPr marL="85320" marR="85320" marT="42660" marB="42660" anchor="ctr">
                    <a:lnL>
                      <a:noFill/>
                    </a:lnL>
                    <a:lnR>
                      <a:noFill/>
                    </a:lnR>
                    <a:lnT>
                      <a:noFill/>
                    </a:lnT>
                    <a:lnB>
                      <a:noFill/>
                    </a:lnB>
                    <a:noFill/>
                  </a:tcPr>
                </a:tc>
                <a:tc>
                  <a:txBody>
                    <a:bodyPr/>
                    <a:lstStyle/>
                    <a:p>
                      <a:pPr>
                        <a:buNone/>
                      </a:pPr>
                      <a:endParaRPr lang="en-US" sz="1700" dirty="0"/>
                    </a:p>
                  </a:txBody>
                  <a:tcPr marL="85320" marR="85320" marT="42660" marB="42660" anchor="ctr">
                    <a:lnL>
                      <a:noFill/>
                    </a:lnL>
                    <a:lnR>
                      <a:noFill/>
                    </a:lnR>
                    <a:lnT>
                      <a:noFill/>
                    </a:lnT>
                    <a:lnB>
                      <a:noFill/>
                    </a:lnB>
                    <a:noFill/>
                  </a:tcPr>
                </a:tc>
                <a:extLst>
                  <a:ext uri="{0D108BD9-81ED-4DB2-BD59-A6C34878D82A}">
                    <a16:rowId xmlns:a16="http://schemas.microsoft.com/office/drawing/2014/main" val="998358281"/>
                  </a:ext>
                </a:extLst>
              </a:tr>
            </a:tbl>
          </a:graphicData>
        </a:graphic>
      </p:graphicFrame>
      <p:sp>
        <p:nvSpPr>
          <p:cNvPr id="3" name="Slide Number Placeholder 2">
            <a:extLst>
              <a:ext uri="{FF2B5EF4-FFF2-40B4-BE49-F238E27FC236}">
                <a16:creationId xmlns:a16="http://schemas.microsoft.com/office/drawing/2014/main" id="{89F74CF4-92FC-CFC1-0B79-1506054D9B59}"/>
              </a:ext>
            </a:extLst>
          </p:cNvPr>
          <p:cNvSpPr>
            <a:spLocks noGrp="1"/>
          </p:cNvSpPr>
          <p:nvPr>
            <p:ph type="sldNum" sz="quarter" idx="12"/>
          </p:nvPr>
        </p:nvSpPr>
        <p:spPr/>
        <p:txBody>
          <a:bodyPr/>
          <a:lstStyle/>
          <a:p>
            <a:fld id="{3EB37142-BB67-4B06-93E6-8D10723F8802}" type="slidenum">
              <a:rPr lang="en-US" smtClean="0"/>
              <a:t>30</a:t>
            </a:fld>
            <a:endParaRPr lang="en-US" dirty="0"/>
          </a:p>
        </p:txBody>
      </p:sp>
    </p:spTree>
    <p:extLst>
      <p:ext uri="{BB962C8B-B14F-4D97-AF65-F5344CB8AC3E}">
        <p14:creationId xmlns:p14="http://schemas.microsoft.com/office/powerpoint/2010/main" val="675139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B4DBE-7B4C-1980-013D-3BEC9CD79A1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FD93D63-6BDD-15BA-7184-7A36E3D8791F}"/>
              </a:ext>
            </a:extLst>
          </p:cNvPr>
          <p:cNvSpPr txBox="1">
            <a:spLocks/>
          </p:cNvSpPr>
          <p:nvPr/>
        </p:nvSpPr>
        <p:spPr>
          <a:xfrm>
            <a:off x="4518076" y="-6986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اختبار الصلاحيات حسب دور المستخدم</a:t>
            </a:r>
            <a:r>
              <a:rPr lang="en-US" sz="3600" dirty="0"/>
              <a:t> </a:t>
            </a:r>
            <a:r>
              <a:rPr lang="ar-SA" sz="3600" dirty="0"/>
              <a:t>:</a:t>
            </a:r>
            <a:endParaRPr lang="ar-SA" sz="3600" b="1" dirty="0"/>
          </a:p>
        </p:txBody>
      </p:sp>
      <p:sp>
        <p:nvSpPr>
          <p:cNvPr id="10" name="Title 1">
            <a:extLst>
              <a:ext uri="{FF2B5EF4-FFF2-40B4-BE49-F238E27FC236}">
                <a16:creationId xmlns:a16="http://schemas.microsoft.com/office/drawing/2014/main" id="{B426CFC7-6940-8DB2-9B59-3EEA62E8A099}"/>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752AC541-04B5-B30F-9D6B-DA6D8629CE6F}"/>
              </a:ext>
            </a:extLst>
          </p:cNvPr>
          <p:cNvGraphicFramePr>
            <a:graphicFrameLocks noGrp="1"/>
          </p:cNvGraphicFramePr>
          <p:nvPr>
            <p:extLst>
              <p:ext uri="{D42A27DB-BD31-4B8C-83A1-F6EECF244321}">
                <p14:modId xmlns:p14="http://schemas.microsoft.com/office/powerpoint/2010/main" val="3765737732"/>
              </p:ext>
            </p:extLst>
          </p:nvPr>
        </p:nvGraphicFramePr>
        <p:xfrm>
          <a:off x="408466" y="783678"/>
          <a:ext cx="11667555" cy="6074322"/>
        </p:xfrm>
        <a:graphic>
          <a:graphicData uri="http://schemas.openxmlformats.org/drawingml/2006/table">
            <a:tbl>
              <a:tblPr/>
              <a:tblGrid>
                <a:gridCol w="2331606">
                  <a:extLst>
                    <a:ext uri="{9D8B030D-6E8A-4147-A177-3AD203B41FA5}">
                      <a16:colId xmlns:a16="http://schemas.microsoft.com/office/drawing/2014/main" val="3019130511"/>
                    </a:ext>
                  </a:extLst>
                </a:gridCol>
                <a:gridCol w="5264939">
                  <a:extLst>
                    <a:ext uri="{9D8B030D-6E8A-4147-A177-3AD203B41FA5}">
                      <a16:colId xmlns:a16="http://schemas.microsoft.com/office/drawing/2014/main" val="1728765839"/>
                    </a:ext>
                  </a:extLst>
                </a:gridCol>
                <a:gridCol w="3765541">
                  <a:extLst>
                    <a:ext uri="{9D8B030D-6E8A-4147-A177-3AD203B41FA5}">
                      <a16:colId xmlns:a16="http://schemas.microsoft.com/office/drawing/2014/main" val="1241382027"/>
                    </a:ext>
                  </a:extLst>
                </a:gridCol>
                <a:gridCol w="157497">
                  <a:extLst>
                    <a:ext uri="{9D8B030D-6E8A-4147-A177-3AD203B41FA5}">
                      <a16:colId xmlns:a16="http://schemas.microsoft.com/office/drawing/2014/main" val="2144221888"/>
                    </a:ext>
                  </a:extLst>
                </a:gridCol>
                <a:gridCol w="147972">
                  <a:extLst>
                    <a:ext uri="{9D8B030D-6E8A-4147-A177-3AD203B41FA5}">
                      <a16:colId xmlns:a16="http://schemas.microsoft.com/office/drawing/2014/main" val="4012601264"/>
                    </a:ext>
                  </a:extLst>
                </a:gridCol>
              </a:tblGrid>
              <a:tr h="542494">
                <a:tc>
                  <a:txBody>
                    <a:bodyPr/>
                    <a:lstStyle/>
                    <a:p>
                      <a:pPr>
                        <a:buNone/>
                      </a:pPr>
                      <a:r>
                        <a:rPr lang="en-US" sz="2400"/>
                        <a:t>TC-42</a:t>
                      </a:r>
                    </a:p>
                  </a:txBody>
                  <a:tcPr marL="61286" marR="61286" marT="30643" marB="30643" anchor="ctr">
                    <a:lnL>
                      <a:noFill/>
                    </a:lnL>
                    <a:lnR>
                      <a:noFill/>
                    </a:lnR>
                    <a:lnT>
                      <a:noFill/>
                    </a:lnT>
                    <a:lnB>
                      <a:noFill/>
                    </a:lnB>
                    <a:noFill/>
                  </a:tcPr>
                </a:tc>
                <a:tc>
                  <a:txBody>
                    <a:bodyPr/>
                    <a:lstStyle/>
                    <a:p>
                      <a:pPr>
                        <a:buNone/>
                      </a:pPr>
                      <a:r>
                        <a:rPr lang="ar-SA" sz="2400"/>
                        <a:t>متطوع يفتح صفحة الفرص المتاحة</a:t>
                      </a:r>
                    </a:p>
                  </a:txBody>
                  <a:tcPr marL="61286" marR="61286" marT="30643" marB="30643" anchor="ctr">
                    <a:lnL>
                      <a:noFill/>
                    </a:lnL>
                    <a:lnR>
                      <a:noFill/>
                    </a:lnR>
                    <a:lnT>
                      <a:noFill/>
                    </a:lnT>
                    <a:lnB>
                      <a:noFill/>
                    </a:lnB>
                    <a:noFill/>
                  </a:tcPr>
                </a:tc>
                <a:tc>
                  <a:txBody>
                    <a:bodyPr/>
                    <a:lstStyle/>
                    <a:p>
                      <a:pPr>
                        <a:buNone/>
                      </a:pPr>
                      <a:r>
                        <a:rPr lang="ar-SA" sz="2400"/>
                        <a:t>السماح بعرض الفرص العامة.</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4223559875"/>
                  </a:ext>
                </a:extLst>
              </a:tr>
              <a:tr h="774992">
                <a:tc>
                  <a:txBody>
                    <a:bodyPr/>
                    <a:lstStyle/>
                    <a:p>
                      <a:pPr>
                        <a:buNone/>
                      </a:pPr>
                      <a:r>
                        <a:rPr lang="en-US" sz="2400"/>
                        <a:t>TC-43</a:t>
                      </a:r>
                    </a:p>
                  </a:txBody>
                  <a:tcPr marL="61286" marR="61286" marT="30643" marB="30643" anchor="ctr">
                    <a:lnL>
                      <a:noFill/>
                    </a:lnL>
                    <a:lnR>
                      <a:noFill/>
                    </a:lnR>
                    <a:lnT>
                      <a:noFill/>
                    </a:lnT>
                    <a:lnB>
                      <a:noFill/>
                    </a:lnB>
                    <a:noFill/>
                  </a:tcPr>
                </a:tc>
                <a:tc>
                  <a:txBody>
                    <a:bodyPr/>
                    <a:lstStyle/>
                    <a:p>
                      <a:pPr>
                        <a:buNone/>
                      </a:pPr>
                      <a:r>
                        <a:rPr lang="ar-SA" sz="2400"/>
                        <a:t>متطوع يحاول فتح صفحة إدارة الفرص الخاصة بالمؤسسة</a:t>
                      </a:r>
                    </a:p>
                  </a:txBody>
                  <a:tcPr marL="61286" marR="61286" marT="30643" marB="30643" anchor="ctr">
                    <a:lnL>
                      <a:noFill/>
                    </a:lnL>
                    <a:lnR>
                      <a:noFill/>
                    </a:lnR>
                    <a:lnT>
                      <a:noFill/>
                    </a:lnT>
                    <a:lnB>
                      <a:noFill/>
                    </a:lnB>
                    <a:noFill/>
                  </a:tcPr>
                </a:tc>
                <a:tc>
                  <a:txBody>
                    <a:bodyPr/>
                    <a:lstStyle/>
                    <a:p>
                      <a:pPr>
                        <a:buNone/>
                      </a:pPr>
                      <a:r>
                        <a:rPr lang="ar-SA" sz="2400"/>
                        <a:t>رفض الوصول إلى وظائف المؤسسة.</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2634607036"/>
                  </a:ext>
                </a:extLst>
              </a:tr>
              <a:tr h="542494">
                <a:tc>
                  <a:txBody>
                    <a:bodyPr/>
                    <a:lstStyle/>
                    <a:p>
                      <a:pPr>
                        <a:buNone/>
                      </a:pPr>
                      <a:r>
                        <a:rPr lang="en-US" sz="2400"/>
                        <a:t>TC-44</a:t>
                      </a:r>
                    </a:p>
                  </a:txBody>
                  <a:tcPr marL="61286" marR="61286" marT="30643" marB="30643" anchor="ctr">
                    <a:lnL>
                      <a:noFill/>
                    </a:lnL>
                    <a:lnR>
                      <a:noFill/>
                    </a:lnR>
                    <a:lnT>
                      <a:noFill/>
                    </a:lnT>
                    <a:lnB>
                      <a:noFill/>
                    </a:lnB>
                    <a:noFill/>
                  </a:tcPr>
                </a:tc>
                <a:tc>
                  <a:txBody>
                    <a:bodyPr/>
                    <a:lstStyle/>
                    <a:p>
                      <a:pPr>
                        <a:buNone/>
                      </a:pPr>
                      <a:r>
                        <a:rPr lang="ar-SA" sz="2400"/>
                        <a:t>مؤسسة تحاول إنشاء فرصة جديدة</a:t>
                      </a:r>
                    </a:p>
                  </a:txBody>
                  <a:tcPr marL="61286" marR="61286" marT="30643" marB="30643" anchor="ctr">
                    <a:lnL>
                      <a:noFill/>
                    </a:lnL>
                    <a:lnR>
                      <a:noFill/>
                    </a:lnR>
                    <a:lnT>
                      <a:noFill/>
                    </a:lnT>
                    <a:lnB>
                      <a:noFill/>
                    </a:lnB>
                    <a:noFill/>
                  </a:tcPr>
                </a:tc>
                <a:tc>
                  <a:txBody>
                    <a:bodyPr/>
                    <a:lstStyle/>
                    <a:p>
                      <a:pPr>
                        <a:buNone/>
                      </a:pPr>
                      <a:r>
                        <a:rPr lang="ar-SA" sz="2400"/>
                        <a:t>السماح إذا كانت معتمدة وتحققت بقية الشروط.</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659864509"/>
                  </a:ext>
                </a:extLst>
              </a:tr>
              <a:tr h="774992">
                <a:tc>
                  <a:txBody>
                    <a:bodyPr/>
                    <a:lstStyle/>
                    <a:p>
                      <a:pPr>
                        <a:buNone/>
                      </a:pPr>
                      <a:r>
                        <a:rPr lang="en-US" sz="2400"/>
                        <a:t>TC-45</a:t>
                      </a:r>
                    </a:p>
                  </a:txBody>
                  <a:tcPr marL="61286" marR="61286" marT="30643" marB="30643" anchor="ctr">
                    <a:lnL>
                      <a:noFill/>
                    </a:lnL>
                    <a:lnR>
                      <a:noFill/>
                    </a:lnR>
                    <a:lnT>
                      <a:noFill/>
                    </a:lnT>
                    <a:lnB>
                      <a:noFill/>
                    </a:lnB>
                    <a:noFill/>
                  </a:tcPr>
                </a:tc>
                <a:tc>
                  <a:txBody>
                    <a:bodyPr/>
                    <a:lstStyle/>
                    <a:p>
                      <a:pPr>
                        <a:buNone/>
                      </a:pPr>
                      <a:r>
                        <a:rPr lang="ar-SA" sz="2400"/>
                        <a:t>مؤسسة تحاول تعديل فرصة تابعة لمؤسسة أخرى</a:t>
                      </a:r>
                    </a:p>
                  </a:txBody>
                  <a:tcPr marL="61286" marR="61286" marT="30643" marB="30643" anchor="ctr">
                    <a:lnL>
                      <a:noFill/>
                    </a:lnL>
                    <a:lnR>
                      <a:noFill/>
                    </a:lnR>
                    <a:lnT>
                      <a:noFill/>
                    </a:lnT>
                    <a:lnB>
                      <a:noFill/>
                    </a:lnB>
                    <a:noFill/>
                  </a:tcPr>
                </a:tc>
                <a:tc>
                  <a:txBody>
                    <a:bodyPr/>
                    <a:lstStyle/>
                    <a:p>
                      <a:pPr>
                        <a:buNone/>
                      </a:pPr>
                      <a:r>
                        <a:rPr lang="ar-SA" sz="2400"/>
                        <a:t>رفض العملية.</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2473369517"/>
                  </a:ext>
                </a:extLst>
              </a:tr>
              <a:tr h="542494">
                <a:tc>
                  <a:txBody>
                    <a:bodyPr/>
                    <a:lstStyle/>
                    <a:p>
                      <a:pPr>
                        <a:buNone/>
                      </a:pPr>
                      <a:r>
                        <a:rPr lang="en-US" sz="2400"/>
                        <a:t>TC-46</a:t>
                      </a:r>
                    </a:p>
                  </a:txBody>
                  <a:tcPr marL="61286" marR="61286" marT="30643" marB="30643" anchor="ctr">
                    <a:lnL>
                      <a:noFill/>
                    </a:lnL>
                    <a:lnR>
                      <a:noFill/>
                    </a:lnR>
                    <a:lnT>
                      <a:noFill/>
                    </a:lnT>
                    <a:lnB>
                      <a:noFill/>
                    </a:lnB>
                    <a:noFill/>
                  </a:tcPr>
                </a:tc>
                <a:tc>
                  <a:txBody>
                    <a:bodyPr/>
                    <a:lstStyle/>
                    <a:p>
                      <a:pPr>
                        <a:buNone/>
                      </a:pPr>
                      <a:r>
                        <a:rPr lang="ar-SA" sz="2400"/>
                        <a:t>مدير النظام يفتح لوحة الإدارة</a:t>
                      </a:r>
                    </a:p>
                  </a:txBody>
                  <a:tcPr marL="61286" marR="61286" marT="30643" marB="30643" anchor="ctr">
                    <a:lnL>
                      <a:noFill/>
                    </a:lnL>
                    <a:lnR>
                      <a:noFill/>
                    </a:lnR>
                    <a:lnT>
                      <a:noFill/>
                    </a:lnT>
                    <a:lnB>
                      <a:noFill/>
                    </a:lnB>
                    <a:noFill/>
                  </a:tcPr>
                </a:tc>
                <a:tc>
                  <a:txBody>
                    <a:bodyPr/>
                    <a:lstStyle/>
                    <a:p>
                      <a:pPr>
                        <a:buNone/>
                      </a:pPr>
                      <a:r>
                        <a:rPr lang="ar-SA" sz="2400"/>
                        <a:t>السماح وفق صلاحيات المدير المعتمدة.</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2351102613"/>
                  </a:ext>
                </a:extLst>
              </a:tr>
              <a:tr h="774992">
                <a:tc>
                  <a:txBody>
                    <a:bodyPr/>
                    <a:lstStyle/>
                    <a:p>
                      <a:pPr>
                        <a:buNone/>
                      </a:pPr>
                      <a:r>
                        <a:rPr lang="en-US" sz="2400"/>
                        <a:t>TC-47</a:t>
                      </a:r>
                    </a:p>
                  </a:txBody>
                  <a:tcPr marL="61286" marR="61286" marT="30643" marB="30643" anchor="ctr">
                    <a:lnL>
                      <a:noFill/>
                    </a:lnL>
                    <a:lnR>
                      <a:noFill/>
                    </a:lnR>
                    <a:lnT>
                      <a:noFill/>
                    </a:lnT>
                    <a:lnB>
                      <a:noFill/>
                    </a:lnB>
                    <a:noFill/>
                  </a:tcPr>
                </a:tc>
                <a:tc>
                  <a:txBody>
                    <a:bodyPr/>
                    <a:lstStyle/>
                    <a:p>
                      <a:pPr>
                        <a:buNone/>
                      </a:pPr>
                      <a:r>
                        <a:rPr lang="ar-SA" sz="2400"/>
                        <a:t>متطوع يحاول فتح صفحة إدارية مباشرة باستخدام الرابط</a:t>
                      </a:r>
                    </a:p>
                  </a:txBody>
                  <a:tcPr marL="61286" marR="61286" marT="30643" marB="30643" anchor="ctr">
                    <a:lnL>
                      <a:noFill/>
                    </a:lnL>
                    <a:lnR>
                      <a:noFill/>
                    </a:lnR>
                    <a:lnT>
                      <a:noFill/>
                    </a:lnT>
                    <a:lnB>
                      <a:noFill/>
                    </a:lnB>
                    <a:noFill/>
                  </a:tcPr>
                </a:tc>
                <a:tc>
                  <a:txBody>
                    <a:bodyPr/>
                    <a:lstStyle/>
                    <a:p>
                      <a:pPr>
                        <a:buNone/>
                      </a:pPr>
                      <a:r>
                        <a:rPr lang="ar-SA" sz="2400"/>
                        <a:t>رفض الوصول من جهة الخادم.</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4100999327"/>
                  </a:ext>
                </a:extLst>
              </a:tr>
              <a:tr h="774992">
                <a:tc>
                  <a:txBody>
                    <a:bodyPr/>
                    <a:lstStyle/>
                    <a:p>
                      <a:pPr>
                        <a:buNone/>
                      </a:pPr>
                      <a:r>
                        <a:rPr lang="en-US" sz="2400"/>
                        <a:t>TC-48</a:t>
                      </a:r>
                    </a:p>
                  </a:txBody>
                  <a:tcPr marL="61286" marR="61286" marT="30643" marB="30643" anchor="ctr">
                    <a:lnL>
                      <a:noFill/>
                    </a:lnL>
                    <a:lnR>
                      <a:noFill/>
                    </a:lnR>
                    <a:lnT>
                      <a:noFill/>
                    </a:lnT>
                    <a:lnB>
                      <a:noFill/>
                    </a:lnB>
                    <a:noFill/>
                  </a:tcPr>
                </a:tc>
                <a:tc>
                  <a:txBody>
                    <a:bodyPr/>
                    <a:lstStyle/>
                    <a:p>
                      <a:pPr>
                        <a:buNone/>
                      </a:pPr>
                      <a:r>
                        <a:rPr lang="ar-SA" sz="2400"/>
                        <a:t>مستخدم غير مسجل يحاول تنفيذ عملية تتطلب تسجيل الدخول</a:t>
                      </a:r>
                    </a:p>
                  </a:txBody>
                  <a:tcPr marL="61286" marR="61286" marT="30643" marB="30643" anchor="ctr">
                    <a:lnL>
                      <a:noFill/>
                    </a:lnL>
                    <a:lnR>
                      <a:noFill/>
                    </a:lnR>
                    <a:lnT>
                      <a:noFill/>
                    </a:lnT>
                    <a:lnB>
                      <a:noFill/>
                    </a:lnB>
                    <a:noFill/>
                  </a:tcPr>
                </a:tc>
                <a:tc>
                  <a:txBody>
                    <a:bodyPr/>
                    <a:lstStyle/>
                    <a:p>
                      <a:pPr>
                        <a:buNone/>
                      </a:pPr>
                      <a:r>
                        <a:rPr lang="ar-SA" sz="2400"/>
                        <a:t>توجيهه إلى تسجيل الدخول أو رفض الطلب.</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2264064316"/>
                  </a:ext>
                </a:extLst>
              </a:tr>
              <a:tr h="774992">
                <a:tc>
                  <a:txBody>
                    <a:bodyPr/>
                    <a:lstStyle/>
                    <a:p>
                      <a:pPr>
                        <a:buNone/>
                      </a:pPr>
                      <a:r>
                        <a:rPr lang="en-US" sz="2400"/>
                        <a:t>TC-49</a:t>
                      </a:r>
                    </a:p>
                  </a:txBody>
                  <a:tcPr marL="61286" marR="61286" marT="30643" marB="30643" anchor="ctr">
                    <a:lnL>
                      <a:noFill/>
                    </a:lnL>
                    <a:lnR>
                      <a:noFill/>
                    </a:lnR>
                    <a:lnT>
                      <a:noFill/>
                    </a:lnT>
                    <a:lnB>
                      <a:noFill/>
                    </a:lnB>
                    <a:noFill/>
                  </a:tcPr>
                </a:tc>
                <a:tc>
                  <a:txBody>
                    <a:bodyPr/>
                    <a:lstStyle/>
                    <a:p>
                      <a:pPr>
                        <a:buNone/>
                      </a:pPr>
                      <a:r>
                        <a:rPr lang="ar-SA" sz="2400" dirty="0"/>
                        <a:t>مستخدم يغير معرّف سجل في الطلب للوصول إلى بيانات مستخدم آخر</a:t>
                      </a:r>
                    </a:p>
                  </a:txBody>
                  <a:tcPr marL="61286" marR="61286" marT="30643" marB="30643" anchor="ctr">
                    <a:lnL>
                      <a:noFill/>
                    </a:lnL>
                    <a:lnR>
                      <a:noFill/>
                    </a:lnR>
                    <a:lnT>
                      <a:noFill/>
                    </a:lnT>
                    <a:lnB>
                      <a:noFill/>
                    </a:lnB>
                    <a:noFill/>
                  </a:tcPr>
                </a:tc>
                <a:tc>
                  <a:txBody>
                    <a:bodyPr/>
                    <a:lstStyle/>
                    <a:p>
                      <a:pPr>
                        <a:buNone/>
                      </a:pPr>
                      <a:r>
                        <a:rPr lang="ar-SA" sz="2400" dirty="0"/>
                        <a:t>رفض الوصول إلى السجل غير المصرح به.</a:t>
                      </a:r>
                    </a:p>
                  </a:txBody>
                  <a:tcPr marL="61286" marR="61286" marT="30643" marB="30643" anchor="ctr">
                    <a:lnL>
                      <a:noFill/>
                    </a:lnL>
                    <a:lnR>
                      <a:noFill/>
                    </a:lnR>
                    <a:lnT>
                      <a:noFill/>
                    </a:lnT>
                    <a:lnB>
                      <a:noFill/>
                    </a:lnB>
                    <a:noFill/>
                  </a:tcPr>
                </a:tc>
                <a:tc gridSpan="2">
                  <a:txBody>
                    <a:bodyPr/>
                    <a:lstStyle/>
                    <a:p>
                      <a:endParaRPr lang="en-US" sz="1200" dirty="0"/>
                    </a:p>
                  </a:txBody>
                  <a:tcPr marL="61286" marR="61286" marT="30643" marB="30643">
                    <a:lnL>
                      <a:noFill/>
                    </a:lnL>
                    <a:lnR w="12700" cmpd="sng">
                      <a:noFill/>
                      <a:prstDash val="solid"/>
                    </a:lnR>
                    <a:lnT>
                      <a:noFill/>
                    </a:lnT>
                    <a:lnB w="12700" cmpd="sng">
                      <a:noFill/>
                      <a:prstDash val="solid"/>
                    </a:lnB>
                  </a:tcPr>
                </a:tc>
                <a:tc hMerge="1">
                  <a:txBody>
                    <a:bodyPr/>
                    <a:lstStyle/>
                    <a:p>
                      <a:endParaRPr lang="en-US" sz="1200" dirty="0"/>
                    </a:p>
                  </a:txBody>
                  <a:tcPr marL="61286" marR="61286" marT="30643" marB="30643">
                    <a:lnT>
                      <a:noFill/>
                    </a:lnT>
                  </a:tcPr>
                </a:tc>
                <a:extLst>
                  <a:ext uri="{0D108BD9-81ED-4DB2-BD59-A6C34878D82A}">
                    <a16:rowId xmlns:a16="http://schemas.microsoft.com/office/drawing/2014/main" val="3107481792"/>
                  </a:ext>
                </a:extLst>
              </a:tr>
            </a:tbl>
          </a:graphicData>
        </a:graphic>
      </p:graphicFrame>
      <p:sp>
        <p:nvSpPr>
          <p:cNvPr id="3" name="Slide Number Placeholder 2">
            <a:extLst>
              <a:ext uri="{FF2B5EF4-FFF2-40B4-BE49-F238E27FC236}">
                <a16:creationId xmlns:a16="http://schemas.microsoft.com/office/drawing/2014/main" id="{1784AF01-F391-CBBE-F0A5-D247EA22C453}"/>
              </a:ext>
            </a:extLst>
          </p:cNvPr>
          <p:cNvSpPr>
            <a:spLocks noGrp="1"/>
          </p:cNvSpPr>
          <p:nvPr>
            <p:ph type="sldNum" sz="quarter" idx="12"/>
          </p:nvPr>
        </p:nvSpPr>
        <p:spPr>
          <a:xfrm>
            <a:off x="9533670" y="6492875"/>
            <a:ext cx="2743200" cy="365125"/>
          </a:xfrm>
        </p:spPr>
        <p:txBody>
          <a:bodyPr/>
          <a:lstStyle/>
          <a:p>
            <a:fld id="{3EB37142-BB67-4B06-93E6-8D10723F8802}" type="slidenum">
              <a:rPr lang="en-US" smtClean="0"/>
              <a:t>31</a:t>
            </a:fld>
            <a:endParaRPr lang="en-US" dirty="0"/>
          </a:p>
        </p:txBody>
      </p:sp>
    </p:spTree>
    <p:extLst>
      <p:ext uri="{BB962C8B-B14F-4D97-AF65-F5344CB8AC3E}">
        <p14:creationId xmlns:p14="http://schemas.microsoft.com/office/powerpoint/2010/main" val="1237445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E3460-5CD9-B3E1-9B5B-318265FE387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05143FA-BE1A-EC2E-566B-B92E2629BCA8}"/>
              </a:ext>
            </a:extLst>
          </p:cNvPr>
          <p:cNvSpPr txBox="1">
            <a:spLocks/>
          </p:cNvSpPr>
          <p:nvPr/>
        </p:nvSpPr>
        <p:spPr>
          <a:xfrm>
            <a:off x="4643580" y="-234387"/>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اختبار اعتماد المؤسسات وإدارة الحسابات</a:t>
            </a:r>
            <a:r>
              <a:rPr lang="en-US" sz="3600" dirty="0"/>
              <a:t> </a:t>
            </a:r>
            <a:r>
              <a:rPr lang="ar-SA" sz="3600" dirty="0"/>
              <a:t>:</a:t>
            </a:r>
            <a:endParaRPr lang="ar-SA" sz="3600" b="1" dirty="0"/>
          </a:p>
        </p:txBody>
      </p:sp>
      <p:sp>
        <p:nvSpPr>
          <p:cNvPr id="10" name="Title 1">
            <a:extLst>
              <a:ext uri="{FF2B5EF4-FFF2-40B4-BE49-F238E27FC236}">
                <a16:creationId xmlns:a16="http://schemas.microsoft.com/office/drawing/2014/main" id="{9C23FBDA-976C-7C2F-7B66-28F8206B867F}"/>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B7EA5A9D-463F-36EB-855A-48F2864456BA}"/>
              </a:ext>
            </a:extLst>
          </p:cNvPr>
          <p:cNvGraphicFramePr>
            <a:graphicFrameLocks noGrp="1"/>
          </p:cNvGraphicFramePr>
          <p:nvPr>
            <p:extLst>
              <p:ext uri="{D42A27DB-BD31-4B8C-83A1-F6EECF244321}">
                <p14:modId xmlns:p14="http://schemas.microsoft.com/office/powerpoint/2010/main" val="2142171398"/>
              </p:ext>
            </p:extLst>
          </p:nvPr>
        </p:nvGraphicFramePr>
        <p:xfrm>
          <a:off x="266985" y="487144"/>
          <a:ext cx="11655866" cy="6348325"/>
        </p:xfrm>
        <a:graphic>
          <a:graphicData uri="http://schemas.openxmlformats.org/drawingml/2006/table">
            <a:tbl>
              <a:tblPr/>
              <a:tblGrid>
                <a:gridCol w="2331606">
                  <a:extLst>
                    <a:ext uri="{9D8B030D-6E8A-4147-A177-3AD203B41FA5}">
                      <a16:colId xmlns:a16="http://schemas.microsoft.com/office/drawing/2014/main" val="1749282422"/>
                    </a:ext>
                  </a:extLst>
                </a:gridCol>
                <a:gridCol w="3740939">
                  <a:extLst>
                    <a:ext uri="{9D8B030D-6E8A-4147-A177-3AD203B41FA5}">
                      <a16:colId xmlns:a16="http://schemas.microsoft.com/office/drawing/2014/main" val="2834181821"/>
                    </a:ext>
                  </a:extLst>
                </a:gridCol>
                <a:gridCol w="5277852">
                  <a:extLst>
                    <a:ext uri="{9D8B030D-6E8A-4147-A177-3AD203B41FA5}">
                      <a16:colId xmlns:a16="http://schemas.microsoft.com/office/drawing/2014/main" val="2047228009"/>
                    </a:ext>
                  </a:extLst>
                </a:gridCol>
                <a:gridCol w="157497">
                  <a:extLst>
                    <a:ext uri="{9D8B030D-6E8A-4147-A177-3AD203B41FA5}">
                      <a16:colId xmlns:a16="http://schemas.microsoft.com/office/drawing/2014/main" val="464110642"/>
                    </a:ext>
                  </a:extLst>
                </a:gridCol>
                <a:gridCol w="147972">
                  <a:extLst>
                    <a:ext uri="{9D8B030D-6E8A-4147-A177-3AD203B41FA5}">
                      <a16:colId xmlns:a16="http://schemas.microsoft.com/office/drawing/2014/main" val="2994221424"/>
                    </a:ext>
                  </a:extLst>
                </a:gridCol>
              </a:tblGrid>
              <a:tr h="555787">
                <a:tc>
                  <a:txBody>
                    <a:bodyPr/>
                    <a:lstStyle/>
                    <a:p>
                      <a:pPr>
                        <a:buNone/>
                      </a:pPr>
                      <a:r>
                        <a:rPr lang="en-US" sz="2400"/>
                        <a:t>TC-50</a:t>
                      </a:r>
                    </a:p>
                  </a:txBody>
                  <a:tcPr marL="61286" marR="61286" marT="30643" marB="30643" anchor="ctr">
                    <a:lnL>
                      <a:noFill/>
                    </a:lnL>
                    <a:lnR>
                      <a:noFill/>
                    </a:lnR>
                    <a:lnT>
                      <a:noFill/>
                    </a:lnT>
                    <a:lnB>
                      <a:noFill/>
                    </a:lnB>
                    <a:noFill/>
                  </a:tcPr>
                </a:tc>
                <a:tc>
                  <a:txBody>
                    <a:bodyPr/>
                    <a:lstStyle/>
                    <a:p>
                      <a:pPr>
                        <a:buNone/>
                      </a:pPr>
                      <a:r>
                        <a:rPr lang="ar-SA" sz="2400"/>
                        <a:t>إرسال مؤسسة طلب اعتماد ببيانات مكتملة</a:t>
                      </a:r>
                    </a:p>
                  </a:txBody>
                  <a:tcPr marL="61286" marR="61286" marT="30643" marB="30643" anchor="ctr">
                    <a:lnL>
                      <a:noFill/>
                    </a:lnL>
                    <a:lnR>
                      <a:noFill/>
                    </a:lnR>
                    <a:lnT>
                      <a:noFill/>
                    </a:lnT>
                    <a:lnB>
                      <a:noFill/>
                    </a:lnB>
                    <a:noFill/>
                  </a:tcPr>
                </a:tc>
                <a:tc>
                  <a:txBody>
                    <a:bodyPr/>
                    <a:lstStyle/>
                    <a:p>
                      <a:pPr>
                        <a:buNone/>
                      </a:pPr>
                      <a:r>
                        <a:rPr lang="ar-SA" sz="2400"/>
                        <a:t>حفظ الطلب بالحالة الأولية المحددة.</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3632624118"/>
                  </a:ext>
                </a:extLst>
              </a:tr>
              <a:tr h="555787">
                <a:tc>
                  <a:txBody>
                    <a:bodyPr/>
                    <a:lstStyle/>
                    <a:p>
                      <a:pPr>
                        <a:buNone/>
                      </a:pPr>
                      <a:r>
                        <a:rPr lang="en-US" sz="2400"/>
                        <a:t>TC-51</a:t>
                      </a:r>
                    </a:p>
                  </a:txBody>
                  <a:tcPr marL="61286" marR="61286" marT="30643" marB="30643" anchor="ctr">
                    <a:lnL>
                      <a:noFill/>
                    </a:lnL>
                    <a:lnR>
                      <a:noFill/>
                    </a:lnR>
                    <a:lnT>
                      <a:noFill/>
                    </a:lnT>
                    <a:lnB>
                      <a:noFill/>
                    </a:lnB>
                    <a:noFill/>
                  </a:tcPr>
                </a:tc>
                <a:tc>
                  <a:txBody>
                    <a:bodyPr/>
                    <a:lstStyle/>
                    <a:p>
                      <a:pPr>
                        <a:buNone/>
                      </a:pPr>
                      <a:r>
                        <a:rPr lang="ar-SA" sz="2400"/>
                        <a:t>مدير النظام يعتمد مؤسسة مستوفية للشروط</a:t>
                      </a:r>
                    </a:p>
                  </a:txBody>
                  <a:tcPr marL="61286" marR="61286" marT="30643" marB="30643" anchor="ctr">
                    <a:lnL>
                      <a:noFill/>
                    </a:lnL>
                    <a:lnR>
                      <a:noFill/>
                    </a:lnR>
                    <a:lnT>
                      <a:noFill/>
                    </a:lnT>
                    <a:lnB>
                      <a:noFill/>
                    </a:lnB>
                    <a:noFill/>
                  </a:tcPr>
                </a:tc>
                <a:tc>
                  <a:txBody>
                    <a:bodyPr/>
                    <a:lstStyle/>
                    <a:p>
                      <a:pPr>
                        <a:buNone/>
                      </a:pPr>
                      <a:r>
                        <a:rPr lang="ar-SA" sz="2400"/>
                        <a:t>تحديث حالة المؤسسة إلى معتمدة.</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3737392077"/>
                  </a:ext>
                </a:extLst>
              </a:tr>
              <a:tr h="1032177">
                <a:tc>
                  <a:txBody>
                    <a:bodyPr/>
                    <a:lstStyle/>
                    <a:p>
                      <a:pPr>
                        <a:buNone/>
                      </a:pPr>
                      <a:r>
                        <a:rPr lang="en-US" sz="2400"/>
                        <a:t>TC-52</a:t>
                      </a:r>
                    </a:p>
                  </a:txBody>
                  <a:tcPr marL="61286" marR="61286" marT="30643" marB="30643" anchor="ctr">
                    <a:lnL>
                      <a:noFill/>
                    </a:lnL>
                    <a:lnR>
                      <a:noFill/>
                    </a:lnR>
                    <a:lnT>
                      <a:noFill/>
                    </a:lnT>
                    <a:lnB>
                      <a:noFill/>
                    </a:lnB>
                    <a:noFill/>
                  </a:tcPr>
                </a:tc>
                <a:tc>
                  <a:txBody>
                    <a:bodyPr/>
                    <a:lstStyle/>
                    <a:p>
                      <a:pPr>
                        <a:buNone/>
                      </a:pPr>
                      <a:r>
                        <a:rPr lang="ar-SA" sz="2400" dirty="0"/>
                        <a:t>مدير النظام يرفض طلب اعتماد مؤسسة</a:t>
                      </a:r>
                    </a:p>
                  </a:txBody>
                  <a:tcPr marL="61286" marR="61286" marT="30643" marB="30643" anchor="ctr">
                    <a:lnL>
                      <a:noFill/>
                    </a:lnL>
                    <a:lnR>
                      <a:noFill/>
                    </a:lnR>
                    <a:lnT>
                      <a:noFill/>
                    </a:lnT>
                    <a:lnB>
                      <a:noFill/>
                    </a:lnB>
                    <a:noFill/>
                  </a:tcPr>
                </a:tc>
                <a:tc>
                  <a:txBody>
                    <a:bodyPr/>
                    <a:lstStyle/>
                    <a:p>
                      <a:pPr>
                        <a:buNone/>
                      </a:pPr>
                      <a:r>
                        <a:rPr lang="ar-SA" sz="2400"/>
                        <a:t>تحديث الحالة إلى مرفوضة، مع تسجيل السبب إذا كان النظام يدعمه.</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2015265209"/>
                  </a:ext>
                </a:extLst>
              </a:tr>
              <a:tr h="555787">
                <a:tc>
                  <a:txBody>
                    <a:bodyPr/>
                    <a:lstStyle/>
                    <a:p>
                      <a:pPr>
                        <a:buNone/>
                      </a:pPr>
                      <a:r>
                        <a:rPr lang="en-US" sz="2400"/>
                        <a:t>TC-53</a:t>
                      </a:r>
                    </a:p>
                  </a:txBody>
                  <a:tcPr marL="61286" marR="61286" marT="30643" marB="30643" anchor="ctr">
                    <a:lnL>
                      <a:noFill/>
                    </a:lnL>
                    <a:lnR>
                      <a:noFill/>
                    </a:lnR>
                    <a:lnT>
                      <a:noFill/>
                    </a:lnT>
                    <a:lnB>
                      <a:noFill/>
                    </a:lnB>
                    <a:noFill/>
                  </a:tcPr>
                </a:tc>
                <a:tc>
                  <a:txBody>
                    <a:bodyPr/>
                    <a:lstStyle/>
                    <a:p>
                      <a:pPr>
                        <a:buNone/>
                      </a:pPr>
                      <a:r>
                        <a:rPr lang="ar-SA" sz="2400"/>
                        <a:t>مؤسسة غير معتمدة تحاول نشر فرصة</a:t>
                      </a:r>
                    </a:p>
                  </a:txBody>
                  <a:tcPr marL="61286" marR="61286" marT="30643" marB="30643" anchor="ctr">
                    <a:lnL>
                      <a:noFill/>
                    </a:lnL>
                    <a:lnR>
                      <a:noFill/>
                    </a:lnR>
                    <a:lnT>
                      <a:noFill/>
                    </a:lnT>
                    <a:lnB>
                      <a:noFill/>
                    </a:lnB>
                    <a:noFill/>
                  </a:tcPr>
                </a:tc>
                <a:tc>
                  <a:txBody>
                    <a:bodyPr/>
                    <a:lstStyle/>
                    <a:p>
                      <a:pPr>
                        <a:buNone/>
                      </a:pPr>
                      <a:r>
                        <a:rPr lang="ar-SA" sz="2400"/>
                        <a:t>منع النشر وفق سياسة النظام.</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3724362081"/>
                  </a:ext>
                </a:extLst>
              </a:tr>
              <a:tr h="555787">
                <a:tc>
                  <a:txBody>
                    <a:bodyPr/>
                    <a:lstStyle/>
                    <a:p>
                      <a:pPr>
                        <a:buNone/>
                      </a:pPr>
                      <a:r>
                        <a:rPr lang="en-US" sz="2400"/>
                        <a:t>TC-54</a:t>
                      </a:r>
                    </a:p>
                  </a:txBody>
                  <a:tcPr marL="61286" marR="61286" marT="30643" marB="30643" anchor="ctr">
                    <a:lnL>
                      <a:noFill/>
                    </a:lnL>
                    <a:lnR>
                      <a:noFill/>
                    </a:lnR>
                    <a:lnT>
                      <a:noFill/>
                    </a:lnT>
                    <a:lnB>
                      <a:noFill/>
                    </a:lnB>
                    <a:noFill/>
                  </a:tcPr>
                </a:tc>
                <a:tc>
                  <a:txBody>
                    <a:bodyPr/>
                    <a:lstStyle/>
                    <a:p>
                      <a:pPr>
                        <a:buNone/>
                      </a:pPr>
                      <a:r>
                        <a:rPr lang="ar-SA" sz="2400"/>
                        <a:t>مدير النظام يعطل حساب مستخدم</a:t>
                      </a:r>
                    </a:p>
                  </a:txBody>
                  <a:tcPr marL="61286" marR="61286" marT="30643" marB="30643" anchor="ctr">
                    <a:lnL>
                      <a:noFill/>
                    </a:lnL>
                    <a:lnR>
                      <a:noFill/>
                    </a:lnR>
                    <a:lnT>
                      <a:noFill/>
                    </a:lnT>
                    <a:lnB>
                      <a:noFill/>
                    </a:lnB>
                    <a:noFill/>
                  </a:tcPr>
                </a:tc>
                <a:tc>
                  <a:txBody>
                    <a:bodyPr/>
                    <a:lstStyle/>
                    <a:p>
                      <a:pPr>
                        <a:buNone/>
                      </a:pPr>
                      <a:r>
                        <a:rPr lang="ar-SA" sz="2400"/>
                        <a:t>تغيير حالة الحساب ومنع العمليات المحظورة عليه.</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dirty="0"/>
                    </a:p>
                  </a:txBody>
                  <a:tcPr marL="61286" marR="61286" marT="30643" marB="30643" anchor="ctr">
                    <a:lnL>
                      <a:noFill/>
                    </a:lnL>
                    <a:lnR>
                      <a:noFill/>
                    </a:lnR>
                    <a:lnT>
                      <a:noFill/>
                    </a:lnT>
                    <a:lnB>
                      <a:noFill/>
                    </a:lnB>
                    <a:noFill/>
                  </a:tcPr>
                </a:tc>
                <a:extLst>
                  <a:ext uri="{0D108BD9-81ED-4DB2-BD59-A6C34878D82A}">
                    <a16:rowId xmlns:a16="http://schemas.microsoft.com/office/drawing/2014/main" val="3060990204"/>
                  </a:ext>
                </a:extLst>
              </a:tr>
              <a:tr h="793981">
                <a:tc>
                  <a:txBody>
                    <a:bodyPr/>
                    <a:lstStyle/>
                    <a:p>
                      <a:pPr>
                        <a:buNone/>
                      </a:pPr>
                      <a:r>
                        <a:rPr lang="en-US" sz="2400"/>
                        <a:t>TC-55</a:t>
                      </a:r>
                    </a:p>
                  </a:txBody>
                  <a:tcPr marL="61286" marR="61286" marT="30643" marB="30643" anchor="ctr">
                    <a:lnL>
                      <a:noFill/>
                    </a:lnL>
                    <a:lnR>
                      <a:noFill/>
                    </a:lnR>
                    <a:lnT>
                      <a:noFill/>
                    </a:lnT>
                    <a:lnB>
                      <a:noFill/>
                    </a:lnB>
                    <a:noFill/>
                  </a:tcPr>
                </a:tc>
                <a:tc>
                  <a:txBody>
                    <a:bodyPr/>
                    <a:lstStyle/>
                    <a:p>
                      <a:pPr>
                        <a:buNone/>
                      </a:pPr>
                      <a:r>
                        <a:rPr lang="ar-SA" sz="2400"/>
                        <a:t>متطوع يحاول اعتماد مؤسسة أو تعطيل حساب آخر</a:t>
                      </a:r>
                    </a:p>
                  </a:txBody>
                  <a:tcPr marL="61286" marR="61286" marT="30643" marB="30643" anchor="ctr">
                    <a:lnL>
                      <a:noFill/>
                    </a:lnL>
                    <a:lnR>
                      <a:noFill/>
                    </a:lnR>
                    <a:lnT>
                      <a:noFill/>
                    </a:lnT>
                    <a:lnB>
                      <a:noFill/>
                    </a:lnB>
                    <a:noFill/>
                  </a:tcPr>
                </a:tc>
                <a:tc>
                  <a:txBody>
                    <a:bodyPr/>
                    <a:lstStyle/>
                    <a:p>
                      <a:pPr>
                        <a:buNone/>
                      </a:pPr>
                      <a:r>
                        <a:rPr lang="ar-SA" sz="2400"/>
                        <a:t>رفض العملية لعدم امتلاك الصلاحية.</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3673783076"/>
                  </a:ext>
                </a:extLst>
              </a:tr>
              <a:tr h="793981">
                <a:tc>
                  <a:txBody>
                    <a:bodyPr/>
                    <a:lstStyle/>
                    <a:p>
                      <a:pPr>
                        <a:buNone/>
                      </a:pPr>
                      <a:r>
                        <a:rPr lang="en-US" sz="2400"/>
                        <a:t>TC-56</a:t>
                      </a:r>
                    </a:p>
                  </a:txBody>
                  <a:tcPr marL="61286" marR="61286" marT="30643" marB="30643" anchor="ctr">
                    <a:lnL>
                      <a:noFill/>
                    </a:lnL>
                    <a:lnR>
                      <a:noFill/>
                    </a:lnR>
                    <a:lnT>
                      <a:noFill/>
                    </a:lnT>
                    <a:lnB>
                      <a:noFill/>
                    </a:lnB>
                    <a:noFill/>
                  </a:tcPr>
                </a:tc>
                <a:tc>
                  <a:txBody>
                    <a:bodyPr/>
                    <a:lstStyle/>
                    <a:p>
                      <a:pPr>
                        <a:buNone/>
                      </a:pPr>
                      <a:r>
                        <a:rPr lang="ar-SA" sz="2400"/>
                        <a:t>مدير النظام يعرض قائمة المؤسسات</a:t>
                      </a:r>
                    </a:p>
                  </a:txBody>
                  <a:tcPr marL="61286" marR="61286" marT="30643" marB="30643" anchor="ctr">
                    <a:lnL>
                      <a:noFill/>
                    </a:lnL>
                    <a:lnR>
                      <a:noFill/>
                    </a:lnR>
                    <a:lnT>
                      <a:noFill/>
                    </a:lnT>
                    <a:lnB>
                      <a:noFill/>
                    </a:lnB>
                    <a:noFill/>
                  </a:tcPr>
                </a:tc>
                <a:tc>
                  <a:txBody>
                    <a:bodyPr/>
                    <a:lstStyle/>
                    <a:p>
                      <a:pPr>
                        <a:buNone/>
                      </a:pPr>
                      <a:r>
                        <a:rPr lang="ar-SA" sz="2400"/>
                        <a:t>عرض بيانات المؤسسات وحالات اعتمادها وفق صلاحياته.</a:t>
                      </a:r>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tc>
                  <a:txBody>
                    <a:bodyPr/>
                    <a:lstStyle/>
                    <a:p>
                      <a:pPr>
                        <a:buNone/>
                      </a:pPr>
                      <a:endParaRPr lang="en-US" sz="1200"/>
                    </a:p>
                  </a:txBody>
                  <a:tcPr marL="61286" marR="61286" marT="30643" marB="30643" anchor="ctr">
                    <a:lnL>
                      <a:noFill/>
                    </a:lnL>
                    <a:lnR>
                      <a:noFill/>
                    </a:lnR>
                    <a:lnT>
                      <a:noFill/>
                    </a:lnT>
                    <a:lnB>
                      <a:noFill/>
                    </a:lnB>
                    <a:noFill/>
                  </a:tcPr>
                </a:tc>
                <a:extLst>
                  <a:ext uri="{0D108BD9-81ED-4DB2-BD59-A6C34878D82A}">
                    <a16:rowId xmlns:a16="http://schemas.microsoft.com/office/drawing/2014/main" val="1790558062"/>
                  </a:ext>
                </a:extLst>
              </a:tr>
              <a:tr h="793981">
                <a:tc>
                  <a:txBody>
                    <a:bodyPr/>
                    <a:lstStyle/>
                    <a:p>
                      <a:pPr>
                        <a:buNone/>
                      </a:pPr>
                      <a:r>
                        <a:rPr lang="en-US" sz="2400"/>
                        <a:t>TC-57</a:t>
                      </a:r>
                    </a:p>
                  </a:txBody>
                  <a:tcPr marL="61286" marR="61286" marT="30643" marB="30643" anchor="ctr">
                    <a:lnL>
                      <a:noFill/>
                    </a:lnL>
                    <a:lnR>
                      <a:noFill/>
                    </a:lnR>
                    <a:lnT>
                      <a:noFill/>
                    </a:lnT>
                    <a:lnB>
                      <a:noFill/>
                    </a:lnB>
                    <a:noFill/>
                  </a:tcPr>
                </a:tc>
                <a:tc>
                  <a:txBody>
                    <a:bodyPr/>
                    <a:lstStyle/>
                    <a:p>
                      <a:pPr>
                        <a:buNone/>
                      </a:pPr>
                      <a:r>
                        <a:rPr lang="ar-SA" sz="2400" dirty="0"/>
                        <a:t>مستخدم غير مخول يحاول الوصول إلى واجهة الإدارة</a:t>
                      </a:r>
                    </a:p>
                  </a:txBody>
                  <a:tcPr marL="61286" marR="61286" marT="30643" marB="30643" anchor="ctr">
                    <a:lnL>
                      <a:noFill/>
                    </a:lnL>
                    <a:lnR>
                      <a:noFill/>
                    </a:lnR>
                    <a:lnT>
                      <a:noFill/>
                    </a:lnT>
                    <a:lnB>
                      <a:noFill/>
                    </a:lnB>
                    <a:noFill/>
                  </a:tcPr>
                </a:tc>
                <a:tc>
                  <a:txBody>
                    <a:bodyPr/>
                    <a:lstStyle/>
                    <a:p>
                      <a:pPr>
                        <a:buNone/>
                      </a:pPr>
                      <a:r>
                        <a:rPr lang="ar-SA" sz="2400" dirty="0"/>
                        <a:t>رفض الوصول من جهة الخادم.</a:t>
                      </a:r>
                    </a:p>
                  </a:txBody>
                  <a:tcPr marL="61286" marR="61286" marT="30643" marB="30643" anchor="ctr">
                    <a:lnL>
                      <a:noFill/>
                    </a:lnL>
                    <a:lnR>
                      <a:noFill/>
                    </a:lnR>
                    <a:lnT>
                      <a:noFill/>
                    </a:lnT>
                    <a:lnB>
                      <a:noFill/>
                    </a:lnB>
                    <a:noFill/>
                  </a:tcPr>
                </a:tc>
                <a:tc gridSpan="2">
                  <a:txBody>
                    <a:bodyPr/>
                    <a:lstStyle/>
                    <a:p>
                      <a:endParaRPr lang="en-US" sz="1200" dirty="0"/>
                    </a:p>
                  </a:txBody>
                  <a:tcPr marL="61286" marR="61286" marT="30643" marB="30643">
                    <a:lnL>
                      <a:noFill/>
                    </a:lnL>
                    <a:lnR w="12700" cmpd="sng">
                      <a:noFill/>
                      <a:prstDash val="solid"/>
                    </a:lnR>
                    <a:lnT>
                      <a:noFill/>
                    </a:lnT>
                    <a:lnB w="12700" cmpd="sng">
                      <a:noFill/>
                      <a:prstDash val="solid"/>
                    </a:lnB>
                  </a:tcPr>
                </a:tc>
                <a:tc hMerge="1">
                  <a:txBody>
                    <a:bodyPr/>
                    <a:lstStyle/>
                    <a:p>
                      <a:endParaRPr lang="en-US" sz="1200" dirty="0"/>
                    </a:p>
                  </a:txBody>
                  <a:tcPr marL="61286" marR="61286" marT="30643" marB="30643">
                    <a:lnT>
                      <a:noFill/>
                    </a:lnT>
                  </a:tcPr>
                </a:tc>
                <a:extLst>
                  <a:ext uri="{0D108BD9-81ED-4DB2-BD59-A6C34878D82A}">
                    <a16:rowId xmlns:a16="http://schemas.microsoft.com/office/drawing/2014/main" val="3194526929"/>
                  </a:ext>
                </a:extLst>
              </a:tr>
            </a:tbl>
          </a:graphicData>
        </a:graphic>
      </p:graphicFrame>
      <p:sp>
        <p:nvSpPr>
          <p:cNvPr id="3" name="Slide Number Placeholder 2">
            <a:extLst>
              <a:ext uri="{FF2B5EF4-FFF2-40B4-BE49-F238E27FC236}">
                <a16:creationId xmlns:a16="http://schemas.microsoft.com/office/drawing/2014/main" id="{DD52C137-D499-D3B5-789B-432F18354A7E}"/>
              </a:ext>
            </a:extLst>
          </p:cNvPr>
          <p:cNvSpPr>
            <a:spLocks noGrp="1"/>
          </p:cNvSpPr>
          <p:nvPr>
            <p:ph type="sldNum" sz="quarter" idx="12"/>
          </p:nvPr>
        </p:nvSpPr>
        <p:spPr>
          <a:xfrm>
            <a:off x="9516525" y="6508115"/>
            <a:ext cx="2743200" cy="365125"/>
          </a:xfrm>
        </p:spPr>
        <p:txBody>
          <a:bodyPr/>
          <a:lstStyle/>
          <a:p>
            <a:fld id="{3EB37142-BB67-4B06-93E6-8D10723F8802}" type="slidenum">
              <a:rPr lang="en-US" smtClean="0"/>
              <a:t>32</a:t>
            </a:fld>
            <a:endParaRPr lang="en-US" dirty="0"/>
          </a:p>
        </p:txBody>
      </p:sp>
    </p:spTree>
    <p:extLst>
      <p:ext uri="{BB962C8B-B14F-4D97-AF65-F5344CB8AC3E}">
        <p14:creationId xmlns:p14="http://schemas.microsoft.com/office/powerpoint/2010/main" val="814343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A9662-435A-8723-B7BE-5DB71D51088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81BE6BF-2032-4304-72D0-3E9F467241F8}"/>
              </a:ext>
            </a:extLst>
          </p:cNvPr>
          <p:cNvSpPr txBox="1">
            <a:spLocks/>
          </p:cNvSpPr>
          <p:nvPr/>
        </p:nvSpPr>
        <p:spPr>
          <a:xfrm>
            <a:off x="4437866" y="-218346"/>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dirty="0"/>
              <a:t>جدول اختبار التوصيات الذكية</a:t>
            </a:r>
            <a:r>
              <a:rPr lang="en-US" sz="3600" dirty="0"/>
              <a:t> </a:t>
            </a:r>
            <a:r>
              <a:rPr lang="ar-SA" sz="3600" dirty="0"/>
              <a:t>:</a:t>
            </a:r>
            <a:endParaRPr lang="ar-SA" sz="3600" b="1" dirty="0"/>
          </a:p>
        </p:txBody>
      </p:sp>
      <p:graphicFrame>
        <p:nvGraphicFramePr>
          <p:cNvPr id="2" name="Table 1">
            <a:extLst>
              <a:ext uri="{FF2B5EF4-FFF2-40B4-BE49-F238E27FC236}">
                <a16:creationId xmlns:a16="http://schemas.microsoft.com/office/drawing/2014/main" id="{4DAED9E3-FC80-C3D6-A42A-A080194BF2D0}"/>
              </a:ext>
            </a:extLst>
          </p:cNvPr>
          <p:cNvGraphicFramePr>
            <a:graphicFrameLocks noGrp="1"/>
          </p:cNvGraphicFramePr>
          <p:nvPr>
            <p:extLst>
              <p:ext uri="{D42A27DB-BD31-4B8C-83A1-F6EECF244321}">
                <p14:modId xmlns:p14="http://schemas.microsoft.com/office/powerpoint/2010/main" val="1562915575"/>
              </p:ext>
            </p:extLst>
          </p:nvPr>
        </p:nvGraphicFramePr>
        <p:xfrm>
          <a:off x="192506" y="504950"/>
          <a:ext cx="11637301" cy="6346560"/>
        </p:xfrm>
        <a:graphic>
          <a:graphicData uri="http://schemas.openxmlformats.org/drawingml/2006/table">
            <a:tbl>
              <a:tblPr/>
              <a:tblGrid>
                <a:gridCol w="2358756">
                  <a:extLst>
                    <a:ext uri="{9D8B030D-6E8A-4147-A177-3AD203B41FA5}">
                      <a16:colId xmlns:a16="http://schemas.microsoft.com/office/drawing/2014/main" val="3743214192"/>
                    </a:ext>
                  </a:extLst>
                </a:gridCol>
                <a:gridCol w="4394970">
                  <a:extLst>
                    <a:ext uri="{9D8B030D-6E8A-4147-A177-3AD203B41FA5}">
                      <a16:colId xmlns:a16="http://schemas.microsoft.com/office/drawing/2014/main" val="341496214"/>
                    </a:ext>
                  </a:extLst>
                </a:gridCol>
                <a:gridCol w="4588042">
                  <a:extLst>
                    <a:ext uri="{9D8B030D-6E8A-4147-A177-3AD203B41FA5}">
                      <a16:colId xmlns:a16="http://schemas.microsoft.com/office/drawing/2014/main" val="1065205952"/>
                    </a:ext>
                  </a:extLst>
                </a:gridCol>
                <a:gridCol w="152529">
                  <a:extLst>
                    <a:ext uri="{9D8B030D-6E8A-4147-A177-3AD203B41FA5}">
                      <a16:colId xmlns:a16="http://schemas.microsoft.com/office/drawing/2014/main" val="708600943"/>
                    </a:ext>
                  </a:extLst>
                </a:gridCol>
                <a:gridCol w="143004">
                  <a:extLst>
                    <a:ext uri="{9D8B030D-6E8A-4147-A177-3AD203B41FA5}">
                      <a16:colId xmlns:a16="http://schemas.microsoft.com/office/drawing/2014/main" val="1941778661"/>
                    </a:ext>
                  </a:extLst>
                </a:gridCol>
              </a:tblGrid>
              <a:tr h="788269">
                <a:tc>
                  <a:txBody>
                    <a:bodyPr/>
                    <a:lstStyle/>
                    <a:p>
                      <a:pPr>
                        <a:buNone/>
                      </a:pPr>
                      <a:r>
                        <a:rPr lang="en-US" sz="2400"/>
                        <a:t>TC-58</a:t>
                      </a:r>
                    </a:p>
                  </a:txBody>
                  <a:tcPr marL="58802" marR="58802" marT="29401" marB="29401" anchor="ctr">
                    <a:lnL>
                      <a:noFill/>
                    </a:lnL>
                    <a:lnR>
                      <a:noFill/>
                    </a:lnR>
                    <a:lnT>
                      <a:noFill/>
                    </a:lnT>
                    <a:lnB>
                      <a:noFill/>
                    </a:lnB>
                    <a:noFill/>
                  </a:tcPr>
                </a:tc>
                <a:tc>
                  <a:txBody>
                    <a:bodyPr/>
                    <a:lstStyle/>
                    <a:p>
                      <a:pPr>
                        <a:buNone/>
                      </a:pPr>
                      <a:r>
                        <a:rPr lang="ar-SA" sz="2400"/>
                        <a:t>متطوع لديه اهتمامات تتطابق مع تصنيف فرصة</a:t>
                      </a:r>
                    </a:p>
                  </a:txBody>
                  <a:tcPr marL="58802" marR="58802" marT="29401" marB="29401" anchor="ctr">
                    <a:lnL>
                      <a:noFill/>
                    </a:lnL>
                    <a:lnR>
                      <a:noFill/>
                    </a:lnR>
                    <a:lnT>
                      <a:noFill/>
                    </a:lnT>
                    <a:lnB>
                      <a:noFill/>
                    </a:lnB>
                    <a:noFill/>
                  </a:tcPr>
                </a:tc>
                <a:tc>
                  <a:txBody>
                    <a:bodyPr/>
                    <a:lstStyle/>
                    <a:p>
                      <a:pPr>
                        <a:buNone/>
                      </a:pPr>
                      <a:r>
                        <a:rPr lang="ar-SA" sz="2400"/>
                        <a:t>تحصل الفرصة على درجة تطابق مناسبة للاهتمامات.</a:t>
                      </a:r>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extLst>
                  <a:ext uri="{0D108BD9-81ED-4DB2-BD59-A6C34878D82A}">
                    <a16:rowId xmlns:a16="http://schemas.microsoft.com/office/drawing/2014/main" val="3094842039"/>
                  </a:ext>
                </a:extLst>
              </a:tr>
              <a:tr h="788269">
                <a:tc>
                  <a:txBody>
                    <a:bodyPr/>
                    <a:lstStyle/>
                    <a:p>
                      <a:pPr>
                        <a:buNone/>
                      </a:pPr>
                      <a:r>
                        <a:rPr lang="en-US" sz="2400"/>
                        <a:t>TC-59</a:t>
                      </a:r>
                    </a:p>
                  </a:txBody>
                  <a:tcPr marL="58802" marR="58802" marT="29401" marB="29401" anchor="ctr">
                    <a:lnL>
                      <a:noFill/>
                    </a:lnL>
                    <a:lnR>
                      <a:noFill/>
                    </a:lnR>
                    <a:lnT>
                      <a:noFill/>
                    </a:lnT>
                    <a:lnB>
                      <a:noFill/>
                    </a:lnB>
                    <a:noFill/>
                  </a:tcPr>
                </a:tc>
                <a:tc>
                  <a:txBody>
                    <a:bodyPr/>
                    <a:lstStyle/>
                    <a:p>
                      <a:pPr>
                        <a:buNone/>
                      </a:pPr>
                      <a:r>
                        <a:rPr lang="ar-SA" sz="2400"/>
                        <a:t>متطوع يمتلك المهارات المطلوبة في فرصة</a:t>
                      </a:r>
                    </a:p>
                  </a:txBody>
                  <a:tcPr marL="58802" marR="58802" marT="29401" marB="29401" anchor="ctr">
                    <a:lnL>
                      <a:noFill/>
                    </a:lnL>
                    <a:lnR>
                      <a:noFill/>
                    </a:lnR>
                    <a:lnT>
                      <a:noFill/>
                    </a:lnT>
                    <a:lnB>
                      <a:noFill/>
                    </a:lnB>
                    <a:noFill/>
                  </a:tcPr>
                </a:tc>
                <a:tc>
                  <a:txBody>
                    <a:bodyPr/>
                    <a:lstStyle/>
                    <a:p>
                      <a:pPr>
                        <a:buNone/>
                      </a:pPr>
                      <a:r>
                        <a:rPr lang="ar-SA" sz="2400"/>
                        <a:t>ترتفع درجة تطابق المهارات وفق طريقة الحساب.</a:t>
                      </a:r>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extLst>
                  <a:ext uri="{0D108BD9-81ED-4DB2-BD59-A6C34878D82A}">
                    <a16:rowId xmlns:a16="http://schemas.microsoft.com/office/drawing/2014/main" val="1145889111"/>
                  </a:ext>
                </a:extLst>
              </a:tr>
              <a:tr h="788269">
                <a:tc>
                  <a:txBody>
                    <a:bodyPr/>
                    <a:lstStyle/>
                    <a:p>
                      <a:pPr>
                        <a:buNone/>
                      </a:pPr>
                      <a:r>
                        <a:rPr lang="en-US" sz="2400"/>
                        <a:t>TC-60</a:t>
                      </a:r>
                    </a:p>
                  </a:txBody>
                  <a:tcPr marL="58802" marR="58802" marT="29401" marB="29401" anchor="ctr">
                    <a:lnL>
                      <a:noFill/>
                    </a:lnL>
                    <a:lnR>
                      <a:noFill/>
                    </a:lnR>
                    <a:lnT>
                      <a:noFill/>
                    </a:lnT>
                    <a:lnB>
                      <a:noFill/>
                    </a:lnB>
                    <a:noFill/>
                  </a:tcPr>
                </a:tc>
                <a:tc>
                  <a:txBody>
                    <a:bodyPr/>
                    <a:lstStyle/>
                    <a:p>
                      <a:pPr>
                        <a:buNone/>
                      </a:pPr>
                      <a:r>
                        <a:rPr lang="ar-SA" sz="2400"/>
                        <a:t>فرصة متوافقة مع اهتمامات المتطوع ومهاراته ووقته وموقعه</a:t>
                      </a:r>
                    </a:p>
                  </a:txBody>
                  <a:tcPr marL="58802" marR="58802" marT="29401" marB="29401" anchor="ctr">
                    <a:lnL>
                      <a:noFill/>
                    </a:lnL>
                    <a:lnR>
                      <a:noFill/>
                    </a:lnR>
                    <a:lnT>
                      <a:noFill/>
                    </a:lnT>
                    <a:lnB>
                      <a:noFill/>
                    </a:lnB>
                    <a:noFill/>
                  </a:tcPr>
                </a:tc>
                <a:tc>
                  <a:txBody>
                    <a:bodyPr/>
                    <a:lstStyle/>
                    <a:p>
                      <a:pPr>
                        <a:buNone/>
                      </a:pPr>
                      <a:r>
                        <a:rPr lang="ar-SA" sz="2400"/>
                        <a:t>تُحسب الدرجة باستخدام الأوزان المحددة وتُرتب وفق النتيجة.</a:t>
                      </a:r>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extLst>
                  <a:ext uri="{0D108BD9-81ED-4DB2-BD59-A6C34878D82A}">
                    <a16:rowId xmlns:a16="http://schemas.microsoft.com/office/drawing/2014/main" val="3027928106"/>
                  </a:ext>
                </a:extLst>
              </a:tr>
              <a:tr h="788269">
                <a:tc>
                  <a:txBody>
                    <a:bodyPr/>
                    <a:lstStyle/>
                    <a:p>
                      <a:pPr>
                        <a:buNone/>
                      </a:pPr>
                      <a:r>
                        <a:rPr lang="en-US" sz="2400"/>
                        <a:t>TC-61</a:t>
                      </a:r>
                    </a:p>
                  </a:txBody>
                  <a:tcPr marL="58802" marR="58802" marT="29401" marB="29401" anchor="ctr">
                    <a:lnL>
                      <a:noFill/>
                    </a:lnL>
                    <a:lnR>
                      <a:noFill/>
                    </a:lnR>
                    <a:lnT>
                      <a:noFill/>
                    </a:lnT>
                    <a:lnB>
                      <a:noFill/>
                    </a:lnB>
                    <a:noFill/>
                  </a:tcPr>
                </a:tc>
                <a:tc>
                  <a:txBody>
                    <a:bodyPr/>
                    <a:lstStyle/>
                    <a:p>
                      <a:pPr>
                        <a:buNone/>
                      </a:pPr>
                      <a:r>
                        <a:rPr lang="ar-SA" sz="2400"/>
                        <a:t>وجود فرص بدرجات ملاءمة مختلفة</a:t>
                      </a:r>
                    </a:p>
                  </a:txBody>
                  <a:tcPr marL="58802" marR="58802" marT="29401" marB="29401" anchor="ctr">
                    <a:lnL>
                      <a:noFill/>
                    </a:lnL>
                    <a:lnR>
                      <a:noFill/>
                    </a:lnR>
                    <a:lnT>
                      <a:noFill/>
                    </a:lnT>
                    <a:lnB>
                      <a:noFill/>
                    </a:lnB>
                    <a:noFill/>
                  </a:tcPr>
                </a:tc>
                <a:tc>
                  <a:txBody>
                    <a:bodyPr/>
                    <a:lstStyle/>
                    <a:p>
                      <a:pPr>
                        <a:buNone/>
                      </a:pPr>
                      <a:r>
                        <a:rPr lang="ar-SA" sz="2400"/>
                        <a:t>تظهر الفرص بترتيب تنازلي بحسب الدرجة، بعد تطبيق قواعد الاستبعاد.</a:t>
                      </a:r>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extLst>
                  <a:ext uri="{0D108BD9-81ED-4DB2-BD59-A6C34878D82A}">
                    <a16:rowId xmlns:a16="http://schemas.microsoft.com/office/drawing/2014/main" val="4085824681"/>
                  </a:ext>
                </a:extLst>
              </a:tr>
              <a:tr h="569147">
                <a:tc>
                  <a:txBody>
                    <a:bodyPr/>
                    <a:lstStyle/>
                    <a:p>
                      <a:pPr>
                        <a:buNone/>
                      </a:pPr>
                      <a:r>
                        <a:rPr lang="en-US" sz="2400"/>
                        <a:t>TC-62</a:t>
                      </a:r>
                    </a:p>
                  </a:txBody>
                  <a:tcPr marL="58802" marR="58802" marT="29401" marB="29401" anchor="ctr">
                    <a:lnL>
                      <a:noFill/>
                    </a:lnL>
                    <a:lnR>
                      <a:noFill/>
                    </a:lnR>
                    <a:lnT>
                      <a:noFill/>
                    </a:lnT>
                    <a:lnB>
                      <a:noFill/>
                    </a:lnB>
                    <a:noFill/>
                  </a:tcPr>
                </a:tc>
                <a:tc>
                  <a:txBody>
                    <a:bodyPr/>
                    <a:lstStyle/>
                    <a:p>
                      <a:pPr>
                        <a:buNone/>
                      </a:pPr>
                      <a:r>
                        <a:rPr lang="ar-SA" sz="2400"/>
                        <a:t>فرصة مغلقة تحصل على درجة ملاءمة مرتفعة</a:t>
                      </a:r>
                    </a:p>
                  </a:txBody>
                  <a:tcPr marL="58802" marR="58802" marT="29401" marB="29401" anchor="ctr">
                    <a:lnL>
                      <a:noFill/>
                    </a:lnL>
                    <a:lnR>
                      <a:noFill/>
                    </a:lnR>
                    <a:lnT>
                      <a:noFill/>
                    </a:lnT>
                    <a:lnB>
                      <a:noFill/>
                    </a:lnB>
                    <a:noFill/>
                  </a:tcPr>
                </a:tc>
                <a:tc>
                  <a:txBody>
                    <a:bodyPr/>
                    <a:lstStyle/>
                    <a:p>
                      <a:pPr>
                        <a:buNone/>
                      </a:pPr>
                      <a:r>
                        <a:rPr lang="ar-SA" sz="2400"/>
                        <a:t>تُستبعد من قائمة الفرص المتاحة للتسجيل.</a:t>
                      </a:r>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extLst>
                  <a:ext uri="{0D108BD9-81ED-4DB2-BD59-A6C34878D82A}">
                    <a16:rowId xmlns:a16="http://schemas.microsoft.com/office/drawing/2014/main" val="1355535949"/>
                  </a:ext>
                </a:extLst>
              </a:tr>
              <a:tr h="814306">
                <a:tc>
                  <a:txBody>
                    <a:bodyPr/>
                    <a:lstStyle/>
                    <a:p>
                      <a:pPr>
                        <a:buNone/>
                      </a:pPr>
                      <a:r>
                        <a:rPr lang="en-US" sz="2400"/>
                        <a:t>TC-63</a:t>
                      </a:r>
                    </a:p>
                  </a:txBody>
                  <a:tcPr marL="58802" marR="58802" marT="29401" marB="29401" anchor="ctr">
                    <a:lnL>
                      <a:noFill/>
                    </a:lnL>
                    <a:lnR>
                      <a:noFill/>
                    </a:lnR>
                    <a:lnT>
                      <a:noFill/>
                    </a:lnT>
                    <a:lnB>
                      <a:noFill/>
                    </a:lnB>
                    <a:noFill/>
                  </a:tcPr>
                </a:tc>
                <a:tc>
                  <a:txBody>
                    <a:bodyPr/>
                    <a:lstStyle/>
                    <a:p>
                      <a:pPr>
                        <a:buNone/>
                      </a:pPr>
                      <a:r>
                        <a:rPr lang="ar-SA" sz="2400"/>
                        <a:t>متطوع جديد لم يكمل اهتماماته أو مهاراته</a:t>
                      </a:r>
                    </a:p>
                  </a:txBody>
                  <a:tcPr marL="58802" marR="58802" marT="29401" marB="29401" anchor="ctr">
                    <a:lnL>
                      <a:noFill/>
                    </a:lnL>
                    <a:lnR>
                      <a:noFill/>
                    </a:lnR>
                    <a:lnT>
                      <a:noFill/>
                    </a:lnT>
                    <a:lnB>
                      <a:noFill/>
                    </a:lnB>
                    <a:noFill/>
                  </a:tcPr>
                </a:tc>
                <a:tc>
                  <a:txBody>
                    <a:bodyPr/>
                    <a:lstStyle/>
                    <a:p>
                      <a:pPr>
                        <a:buNone/>
                      </a:pPr>
                      <a:r>
                        <a:rPr lang="ar-SA" sz="2400"/>
                        <a:t>يعرض النظام بديلًا مناسبًا وفق السياسة المحددة، مثل الفرص العامة أو الأحدث.</a:t>
                      </a:r>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tc>
                  <a:txBody>
                    <a:bodyPr/>
                    <a:lstStyle/>
                    <a:p>
                      <a:pPr>
                        <a:buNone/>
                      </a:pPr>
                      <a:endParaRPr lang="en-US" sz="1200"/>
                    </a:p>
                  </a:txBody>
                  <a:tcPr marL="58802" marR="58802" marT="29401" marB="29401" anchor="ctr">
                    <a:lnL>
                      <a:noFill/>
                    </a:lnL>
                    <a:lnR>
                      <a:noFill/>
                    </a:lnR>
                    <a:lnT>
                      <a:noFill/>
                    </a:lnT>
                    <a:lnB>
                      <a:noFill/>
                    </a:lnB>
                    <a:noFill/>
                  </a:tcPr>
                </a:tc>
                <a:extLst>
                  <a:ext uri="{0D108BD9-81ED-4DB2-BD59-A6C34878D82A}">
                    <a16:rowId xmlns:a16="http://schemas.microsoft.com/office/drawing/2014/main" val="1413163572"/>
                  </a:ext>
                </a:extLst>
              </a:tr>
              <a:tr h="788269">
                <a:tc>
                  <a:txBody>
                    <a:bodyPr/>
                    <a:lstStyle/>
                    <a:p>
                      <a:pPr>
                        <a:buNone/>
                      </a:pPr>
                      <a:r>
                        <a:rPr lang="en-US" sz="2400"/>
                        <a:t>TC-64</a:t>
                      </a:r>
                    </a:p>
                  </a:txBody>
                  <a:tcPr marL="58802" marR="58802" marT="29401" marB="29401" anchor="ctr">
                    <a:lnL>
                      <a:noFill/>
                    </a:lnL>
                    <a:lnR>
                      <a:noFill/>
                    </a:lnR>
                    <a:lnT>
                      <a:noFill/>
                    </a:lnT>
                    <a:lnB>
                      <a:noFill/>
                    </a:lnB>
                    <a:noFill/>
                  </a:tcPr>
                </a:tc>
                <a:tc>
                  <a:txBody>
                    <a:bodyPr/>
                    <a:lstStyle/>
                    <a:p>
                      <a:pPr>
                        <a:buNone/>
                      </a:pPr>
                      <a:r>
                        <a:rPr lang="ar-SA" sz="2400"/>
                        <a:t>عدم وجود فرص مطابقة للمتطوع</a:t>
                      </a:r>
                    </a:p>
                  </a:txBody>
                  <a:tcPr marL="58802" marR="58802" marT="29401" marB="29401" anchor="ctr">
                    <a:lnL>
                      <a:noFill/>
                    </a:lnL>
                    <a:lnR>
                      <a:noFill/>
                    </a:lnR>
                    <a:lnT>
                      <a:noFill/>
                    </a:lnT>
                    <a:lnB>
                      <a:noFill/>
                    </a:lnB>
                    <a:noFill/>
                  </a:tcPr>
                </a:tc>
                <a:tc>
                  <a:txBody>
                    <a:bodyPr/>
                    <a:lstStyle/>
                    <a:p>
                      <a:pPr>
                        <a:buNone/>
                      </a:pPr>
                      <a:r>
                        <a:rPr lang="ar-SA" sz="2400"/>
                        <a:t>يعرض النظام رسالة واضحة أو فرصًا بديلة وفق السياسة المعتمدة.</a:t>
                      </a:r>
                    </a:p>
                  </a:txBody>
                  <a:tcPr marL="58802" marR="58802" marT="29401" marB="29401" anchor="ctr">
                    <a:lnL>
                      <a:noFill/>
                    </a:lnL>
                    <a:lnR>
                      <a:noFill/>
                    </a:lnR>
                    <a:lnT>
                      <a:noFill/>
                    </a:lnT>
                    <a:lnB>
                      <a:noFill/>
                    </a:lnB>
                    <a:noFill/>
                  </a:tcPr>
                </a:tc>
                <a:tc gridSpan="2">
                  <a:txBody>
                    <a:bodyPr/>
                    <a:lstStyle/>
                    <a:p>
                      <a:pPr>
                        <a:buNone/>
                      </a:pPr>
                      <a:endParaRPr lang="en-US" sz="1200" dirty="0"/>
                    </a:p>
                  </a:txBody>
                  <a:tcPr marL="58802" marR="58802" marT="29401" marB="29401" anchor="ctr">
                    <a:lnL>
                      <a:noFill/>
                    </a:lnL>
                    <a:lnR>
                      <a:noFill/>
                    </a:lnR>
                    <a:lnT>
                      <a:noFill/>
                    </a:lnT>
                    <a:lnB>
                      <a:noFill/>
                    </a:lnB>
                    <a:noFill/>
                  </a:tcPr>
                </a:tc>
                <a:tc hMerge="1">
                  <a:txBody>
                    <a:bodyPr/>
                    <a:lstStyle/>
                    <a:p>
                      <a:pPr>
                        <a:buNone/>
                      </a:pPr>
                      <a:endParaRPr lang="en-US" sz="1200"/>
                    </a:p>
                  </a:txBody>
                  <a:tcPr marL="58802" marR="58802" marT="29401" marB="29401" anchor="ctr">
                    <a:lnL>
                      <a:noFill/>
                    </a:lnL>
                    <a:lnR>
                      <a:noFill/>
                    </a:lnR>
                    <a:lnT>
                      <a:noFill/>
                    </a:lnT>
                    <a:lnB>
                      <a:noFill/>
                    </a:lnB>
                    <a:noFill/>
                  </a:tcPr>
                </a:tc>
                <a:extLst>
                  <a:ext uri="{0D108BD9-81ED-4DB2-BD59-A6C34878D82A}">
                    <a16:rowId xmlns:a16="http://schemas.microsoft.com/office/drawing/2014/main" val="333932707"/>
                  </a:ext>
                </a:extLst>
              </a:tr>
              <a:tr h="569147">
                <a:tc>
                  <a:txBody>
                    <a:bodyPr/>
                    <a:lstStyle/>
                    <a:p>
                      <a:pPr>
                        <a:buNone/>
                      </a:pPr>
                      <a:r>
                        <a:rPr lang="en-US" sz="2400"/>
                        <a:t>TC-65</a:t>
                      </a:r>
                    </a:p>
                  </a:txBody>
                  <a:tcPr marL="58802" marR="58802" marT="29401" marB="29401" anchor="ctr">
                    <a:lnL>
                      <a:noFill/>
                    </a:lnL>
                    <a:lnR>
                      <a:noFill/>
                    </a:lnR>
                    <a:lnT>
                      <a:noFill/>
                    </a:lnT>
                    <a:lnB>
                      <a:noFill/>
                    </a:lnB>
                    <a:noFill/>
                  </a:tcPr>
                </a:tc>
                <a:tc>
                  <a:txBody>
                    <a:bodyPr/>
                    <a:lstStyle/>
                    <a:p>
                      <a:pPr>
                        <a:buNone/>
                      </a:pPr>
                      <a:r>
                        <a:rPr lang="ar-SA" sz="2400"/>
                        <a:t>تغيير اهتمام المتطوع ثم طلب التوصيات مجددًا</a:t>
                      </a:r>
                    </a:p>
                  </a:txBody>
                  <a:tcPr marL="58802" marR="58802" marT="29401" marB="29401" anchor="ctr">
                    <a:lnL>
                      <a:noFill/>
                    </a:lnL>
                    <a:lnR>
                      <a:noFill/>
                    </a:lnR>
                    <a:lnT>
                      <a:noFill/>
                    </a:lnT>
                    <a:lnB>
                      <a:noFill/>
                    </a:lnB>
                    <a:noFill/>
                  </a:tcPr>
                </a:tc>
                <a:tc>
                  <a:txBody>
                    <a:bodyPr/>
                    <a:lstStyle/>
                    <a:p>
                      <a:pPr>
                        <a:buNone/>
                      </a:pPr>
                      <a:r>
                        <a:rPr lang="ar-SA" sz="2400" dirty="0"/>
                        <a:t>تُحدّث النتائج لتعكس البيانات الجديدة</a:t>
                      </a:r>
                    </a:p>
                  </a:txBody>
                  <a:tcPr marL="58802" marR="58802" marT="29401" marB="29401" anchor="ctr">
                    <a:lnL>
                      <a:noFill/>
                    </a:lnL>
                    <a:lnR>
                      <a:noFill/>
                    </a:lnR>
                    <a:lnT>
                      <a:noFill/>
                    </a:lnT>
                    <a:lnB>
                      <a:noFill/>
                    </a:lnB>
                    <a:noFill/>
                  </a:tcPr>
                </a:tc>
                <a:tc gridSpan="2">
                  <a:txBody>
                    <a:bodyPr/>
                    <a:lstStyle/>
                    <a:p>
                      <a:endParaRPr lang="en-US" sz="1200" dirty="0"/>
                    </a:p>
                  </a:txBody>
                  <a:tcPr marL="58802" marR="58802" marT="29401" marB="29401">
                    <a:lnL>
                      <a:noFill/>
                    </a:lnL>
                    <a:lnR w="12700" cmpd="sng">
                      <a:noFill/>
                      <a:prstDash val="solid"/>
                    </a:lnR>
                    <a:lnT>
                      <a:noFill/>
                    </a:lnT>
                    <a:lnB w="12700" cmpd="sng">
                      <a:noFill/>
                      <a:prstDash val="solid"/>
                    </a:lnB>
                  </a:tcPr>
                </a:tc>
                <a:tc hMerge="1">
                  <a:txBody>
                    <a:bodyPr/>
                    <a:lstStyle/>
                    <a:p>
                      <a:endParaRPr lang="en-US" sz="1200" dirty="0"/>
                    </a:p>
                  </a:txBody>
                  <a:tcPr marL="58802" marR="58802" marT="29401" marB="29401">
                    <a:lnT>
                      <a:noFill/>
                    </a:lnT>
                  </a:tcPr>
                </a:tc>
                <a:extLst>
                  <a:ext uri="{0D108BD9-81ED-4DB2-BD59-A6C34878D82A}">
                    <a16:rowId xmlns:a16="http://schemas.microsoft.com/office/drawing/2014/main" val="2354469494"/>
                  </a:ext>
                </a:extLst>
              </a:tr>
            </a:tbl>
          </a:graphicData>
        </a:graphic>
      </p:graphicFrame>
      <p:sp>
        <p:nvSpPr>
          <p:cNvPr id="3" name="Slide Number Placeholder 2">
            <a:extLst>
              <a:ext uri="{FF2B5EF4-FFF2-40B4-BE49-F238E27FC236}">
                <a16:creationId xmlns:a16="http://schemas.microsoft.com/office/drawing/2014/main" id="{6E2C8C4F-581C-2052-F889-6988C1F773D8}"/>
              </a:ext>
            </a:extLst>
          </p:cNvPr>
          <p:cNvSpPr>
            <a:spLocks noGrp="1"/>
          </p:cNvSpPr>
          <p:nvPr>
            <p:ph type="sldNum" sz="quarter" idx="12"/>
          </p:nvPr>
        </p:nvSpPr>
        <p:spPr>
          <a:xfrm>
            <a:off x="9516525" y="6492875"/>
            <a:ext cx="2743200" cy="365125"/>
          </a:xfrm>
        </p:spPr>
        <p:txBody>
          <a:bodyPr/>
          <a:lstStyle/>
          <a:p>
            <a:fld id="{3EB37142-BB67-4B06-93E6-8D10723F8802}" type="slidenum">
              <a:rPr lang="en-US" smtClean="0"/>
              <a:t>33</a:t>
            </a:fld>
            <a:endParaRPr lang="en-US" dirty="0"/>
          </a:p>
        </p:txBody>
      </p:sp>
    </p:spTree>
    <p:extLst>
      <p:ext uri="{BB962C8B-B14F-4D97-AF65-F5344CB8AC3E}">
        <p14:creationId xmlns:p14="http://schemas.microsoft.com/office/powerpoint/2010/main" val="7405310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F79E3-675C-4DA9-3A0E-37CB703AF8A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DA5A91C-1868-8B99-BD3E-40349D563510}"/>
              </a:ext>
            </a:extLst>
          </p:cNvPr>
          <p:cNvSpPr txBox="1">
            <a:spLocks/>
          </p:cNvSpPr>
          <p:nvPr/>
        </p:nvSpPr>
        <p:spPr>
          <a:xfrm>
            <a:off x="4405781" y="70412"/>
            <a:ext cx="7548420" cy="85354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rtl="1"/>
            <a:r>
              <a:rPr lang="ar-SA" sz="3600" b="1" dirty="0"/>
              <a:t>ملخص تغطية الاختبارات</a:t>
            </a:r>
            <a:r>
              <a:rPr lang="en-US" sz="3600" b="1" dirty="0"/>
              <a:t> </a:t>
            </a:r>
            <a:r>
              <a:rPr lang="ar-SA" sz="3600" dirty="0"/>
              <a:t>:</a:t>
            </a:r>
            <a:endParaRPr lang="ar-SA" sz="3600" b="1" dirty="0"/>
          </a:p>
        </p:txBody>
      </p:sp>
      <p:sp>
        <p:nvSpPr>
          <p:cNvPr id="10" name="Title 1">
            <a:extLst>
              <a:ext uri="{FF2B5EF4-FFF2-40B4-BE49-F238E27FC236}">
                <a16:creationId xmlns:a16="http://schemas.microsoft.com/office/drawing/2014/main" id="{309ADB03-473E-0C27-EA21-E4DEB41BE393}"/>
              </a:ext>
            </a:extLst>
          </p:cNvPr>
          <p:cNvSpPr txBox="1">
            <a:spLocks/>
          </p:cNvSpPr>
          <p:nvPr/>
        </p:nvSpPr>
        <p:spPr>
          <a:xfrm>
            <a:off x="8179991" y="1818871"/>
            <a:ext cx="3715838" cy="48853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ar-SA" sz="4400" b="1" dirty="0"/>
            </a:br>
            <a:endParaRPr lang="en-US" sz="4400" dirty="0"/>
          </a:p>
        </p:txBody>
      </p:sp>
      <p:graphicFrame>
        <p:nvGraphicFramePr>
          <p:cNvPr id="2" name="Table 1">
            <a:extLst>
              <a:ext uri="{FF2B5EF4-FFF2-40B4-BE49-F238E27FC236}">
                <a16:creationId xmlns:a16="http://schemas.microsoft.com/office/drawing/2014/main" id="{BC35A83B-CA17-F4A1-C517-D7B3309E7654}"/>
              </a:ext>
            </a:extLst>
          </p:cNvPr>
          <p:cNvGraphicFramePr>
            <a:graphicFrameLocks noGrp="1"/>
          </p:cNvGraphicFramePr>
          <p:nvPr>
            <p:extLst>
              <p:ext uri="{D42A27DB-BD31-4B8C-83A1-F6EECF244321}">
                <p14:modId xmlns:p14="http://schemas.microsoft.com/office/powerpoint/2010/main" val="3572432195"/>
              </p:ext>
            </p:extLst>
          </p:nvPr>
        </p:nvGraphicFramePr>
        <p:xfrm>
          <a:off x="592344" y="-90009"/>
          <a:ext cx="11599656" cy="6887320"/>
        </p:xfrm>
        <a:graphic>
          <a:graphicData uri="http://schemas.openxmlformats.org/drawingml/2006/table">
            <a:tbl>
              <a:tblPr/>
              <a:tblGrid>
                <a:gridCol w="3866552">
                  <a:extLst>
                    <a:ext uri="{9D8B030D-6E8A-4147-A177-3AD203B41FA5}">
                      <a16:colId xmlns:a16="http://schemas.microsoft.com/office/drawing/2014/main" val="64986571"/>
                    </a:ext>
                  </a:extLst>
                </a:gridCol>
                <a:gridCol w="3866552">
                  <a:extLst>
                    <a:ext uri="{9D8B030D-6E8A-4147-A177-3AD203B41FA5}">
                      <a16:colId xmlns:a16="http://schemas.microsoft.com/office/drawing/2014/main" val="18866368"/>
                    </a:ext>
                  </a:extLst>
                </a:gridCol>
                <a:gridCol w="3866552">
                  <a:extLst>
                    <a:ext uri="{9D8B030D-6E8A-4147-A177-3AD203B41FA5}">
                      <a16:colId xmlns:a16="http://schemas.microsoft.com/office/drawing/2014/main" val="2567373747"/>
                    </a:ext>
                  </a:extLst>
                </a:gridCol>
              </a:tblGrid>
              <a:tr h="657878">
                <a:tc>
                  <a:txBody>
                    <a:bodyPr/>
                    <a:lstStyle/>
                    <a:p>
                      <a:pPr>
                        <a:buNone/>
                      </a:pPr>
                      <a:endParaRPr lang="ar-SA" sz="2400" dirty="0"/>
                    </a:p>
                  </a:txBody>
                  <a:tcPr anchor="ctr">
                    <a:lnL>
                      <a:noFill/>
                    </a:lnL>
                    <a:lnR>
                      <a:noFill/>
                    </a:lnR>
                    <a:lnT>
                      <a:noFill/>
                    </a:lnT>
                    <a:lnB>
                      <a:noFill/>
                    </a:lnB>
                    <a:noFill/>
                  </a:tcPr>
                </a:tc>
                <a:tc>
                  <a:txBody>
                    <a:bodyPr/>
                    <a:lstStyle/>
                    <a:p>
                      <a:pPr>
                        <a:buNone/>
                      </a:pPr>
                      <a:endParaRPr lang="ar-SA" sz="2400"/>
                    </a:p>
                  </a:txBody>
                  <a:tcPr anchor="ctr">
                    <a:lnL>
                      <a:noFill/>
                    </a:lnL>
                    <a:lnR>
                      <a:noFill/>
                    </a:lnR>
                    <a:lnT>
                      <a:noFill/>
                    </a:lnT>
                    <a:lnB>
                      <a:noFill/>
                    </a:lnB>
                    <a:noFill/>
                  </a:tcPr>
                </a:tc>
                <a:tc>
                  <a:txBody>
                    <a:bodyPr/>
                    <a:lstStyle/>
                    <a:p>
                      <a:pPr>
                        <a:buNone/>
                      </a:pPr>
                      <a:endParaRPr lang="ar-SA" sz="2400" dirty="0"/>
                    </a:p>
                  </a:txBody>
                  <a:tcPr anchor="ctr">
                    <a:lnL>
                      <a:noFill/>
                    </a:lnL>
                    <a:lnR>
                      <a:noFill/>
                    </a:lnR>
                    <a:lnT>
                      <a:noFill/>
                    </a:lnT>
                    <a:lnB>
                      <a:noFill/>
                    </a:lnB>
                    <a:noFill/>
                  </a:tcPr>
                </a:tc>
                <a:extLst>
                  <a:ext uri="{0D108BD9-81ED-4DB2-BD59-A6C34878D82A}">
                    <a16:rowId xmlns:a16="http://schemas.microsoft.com/office/drawing/2014/main" val="517970131"/>
                  </a:ext>
                </a:extLst>
              </a:tr>
              <a:tr h="1050210">
                <a:tc>
                  <a:txBody>
                    <a:bodyPr/>
                    <a:lstStyle/>
                    <a:p>
                      <a:pPr>
                        <a:buNone/>
                      </a:pPr>
                      <a:r>
                        <a:rPr lang="ar-SA" sz="2400"/>
                        <a:t>المجال</a:t>
                      </a:r>
                    </a:p>
                  </a:txBody>
                  <a:tcPr anchor="ctr">
                    <a:lnL>
                      <a:noFill/>
                    </a:lnL>
                    <a:lnR>
                      <a:noFill/>
                    </a:lnR>
                    <a:lnT>
                      <a:noFill/>
                    </a:lnT>
                    <a:lnB>
                      <a:noFill/>
                    </a:lnB>
                    <a:noFill/>
                  </a:tcPr>
                </a:tc>
                <a:tc>
                  <a:txBody>
                    <a:bodyPr/>
                    <a:lstStyle/>
                    <a:p>
                      <a:pPr>
                        <a:buNone/>
                      </a:pPr>
                      <a:r>
                        <a:rPr lang="ar-SA" sz="2400"/>
                        <a:t>أرقام حالات الاختبار</a:t>
                      </a:r>
                    </a:p>
                  </a:txBody>
                  <a:tcPr anchor="ctr">
                    <a:lnL>
                      <a:noFill/>
                    </a:lnL>
                    <a:lnR>
                      <a:noFill/>
                    </a:lnR>
                    <a:lnT>
                      <a:noFill/>
                    </a:lnT>
                    <a:lnB>
                      <a:noFill/>
                    </a:lnB>
                    <a:noFill/>
                  </a:tcPr>
                </a:tc>
                <a:tc>
                  <a:txBody>
                    <a:bodyPr/>
                    <a:lstStyle/>
                    <a:p>
                      <a:pPr>
                        <a:buNone/>
                      </a:pPr>
                      <a:r>
                        <a:rPr lang="ar-SA" sz="2400" dirty="0"/>
                        <a:t>عدد الحالات</a:t>
                      </a:r>
                    </a:p>
                  </a:txBody>
                  <a:tcPr anchor="ctr">
                    <a:lnL>
                      <a:noFill/>
                    </a:lnL>
                    <a:lnR>
                      <a:noFill/>
                    </a:lnR>
                    <a:lnT>
                      <a:noFill/>
                    </a:lnT>
                    <a:lnB>
                      <a:noFill/>
                    </a:lnB>
                    <a:noFill/>
                  </a:tcPr>
                </a:tc>
                <a:extLst>
                  <a:ext uri="{0D108BD9-81ED-4DB2-BD59-A6C34878D82A}">
                    <a16:rowId xmlns:a16="http://schemas.microsoft.com/office/drawing/2014/main" val="2341599066"/>
                  </a:ext>
                </a:extLst>
              </a:tr>
              <a:tr h="574086">
                <a:tc>
                  <a:txBody>
                    <a:bodyPr/>
                    <a:lstStyle/>
                    <a:p>
                      <a:pPr>
                        <a:buNone/>
                      </a:pPr>
                      <a:r>
                        <a:rPr lang="ar-SA" sz="2400"/>
                        <a:t>إنشاء الحساب وتسجيل الدخول</a:t>
                      </a:r>
                    </a:p>
                  </a:txBody>
                  <a:tcPr anchor="ctr">
                    <a:lnL>
                      <a:noFill/>
                    </a:lnL>
                    <a:lnR>
                      <a:noFill/>
                    </a:lnR>
                    <a:lnT>
                      <a:noFill/>
                    </a:lnT>
                    <a:lnB>
                      <a:noFill/>
                    </a:lnB>
                    <a:noFill/>
                  </a:tcPr>
                </a:tc>
                <a:tc>
                  <a:txBody>
                    <a:bodyPr/>
                    <a:lstStyle/>
                    <a:p>
                      <a:pPr>
                        <a:buNone/>
                      </a:pPr>
                      <a:r>
                        <a:rPr lang="en-US" sz="2400"/>
                        <a:t>TC-01 </a:t>
                      </a:r>
                      <a:r>
                        <a:rPr lang="ar-SA" sz="2400"/>
                        <a:t>إلى </a:t>
                      </a:r>
                      <a:r>
                        <a:rPr lang="en-US" sz="2400"/>
                        <a:t>TC-12</a:t>
                      </a:r>
                    </a:p>
                  </a:txBody>
                  <a:tcPr anchor="ctr">
                    <a:lnL>
                      <a:noFill/>
                    </a:lnL>
                    <a:lnR>
                      <a:noFill/>
                    </a:lnR>
                    <a:lnT>
                      <a:noFill/>
                    </a:lnT>
                    <a:lnB>
                      <a:noFill/>
                    </a:lnB>
                    <a:noFill/>
                  </a:tcPr>
                </a:tc>
                <a:tc>
                  <a:txBody>
                    <a:bodyPr/>
                    <a:lstStyle/>
                    <a:p>
                      <a:pPr>
                        <a:buNone/>
                      </a:pPr>
                      <a:r>
                        <a:rPr lang="en-US" sz="2400" dirty="0"/>
                        <a:t>12</a:t>
                      </a:r>
                    </a:p>
                  </a:txBody>
                  <a:tcPr anchor="ctr">
                    <a:lnL>
                      <a:noFill/>
                    </a:lnL>
                    <a:lnR>
                      <a:noFill/>
                    </a:lnR>
                    <a:lnT>
                      <a:noFill/>
                    </a:lnT>
                    <a:lnB>
                      <a:noFill/>
                    </a:lnB>
                    <a:noFill/>
                  </a:tcPr>
                </a:tc>
                <a:extLst>
                  <a:ext uri="{0D108BD9-81ED-4DB2-BD59-A6C34878D82A}">
                    <a16:rowId xmlns:a16="http://schemas.microsoft.com/office/drawing/2014/main" val="3469406517"/>
                  </a:ext>
                </a:extLst>
              </a:tr>
              <a:tr h="657878">
                <a:tc>
                  <a:txBody>
                    <a:bodyPr/>
                    <a:lstStyle/>
                    <a:p>
                      <a:pPr>
                        <a:buNone/>
                      </a:pPr>
                      <a:r>
                        <a:rPr lang="ar-SA" sz="2400"/>
                        <a:t>إدارة الفرص</a:t>
                      </a:r>
                    </a:p>
                  </a:txBody>
                  <a:tcPr anchor="ctr">
                    <a:lnL>
                      <a:noFill/>
                    </a:lnL>
                    <a:lnR>
                      <a:noFill/>
                    </a:lnR>
                    <a:lnT>
                      <a:noFill/>
                    </a:lnT>
                    <a:lnB>
                      <a:noFill/>
                    </a:lnB>
                    <a:noFill/>
                  </a:tcPr>
                </a:tc>
                <a:tc>
                  <a:txBody>
                    <a:bodyPr/>
                    <a:lstStyle/>
                    <a:p>
                      <a:pPr>
                        <a:buNone/>
                      </a:pPr>
                      <a:r>
                        <a:rPr lang="en-US" sz="2400"/>
                        <a:t>TC-20 </a:t>
                      </a:r>
                      <a:r>
                        <a:rPr lang="ar-SA" sz="2400"/>
                        <a:t>إلى </a:t>
                      </a:r>
                      <a:r>
                        <a:rPr lang="en-US" sz="2400"/>
                        <a:t>TC-27</a:t>
                      </a:r>
                    </a:p>
                  </a:txBody>
                  <a:tcPr anchor="ctr">
                    <a:lnL>
                      <a:noFill/>
                    </a:lnL>
                    <a:lnR>
                      <a:noFill/>
                    </a:lnR>
                    <a:lnT>
                      <a:noFill/>
                    </a:lnT>
                    <a:lnB>
                      <a:noFill/>
                    </a:lnB>
                    <a:noFill/>
                  </a:tcPr>
                </a:tc>
                <a:tc>
                  <a:txBody>
                    <a:bodyPr/>
                    <a:lstStyle/>
                    <a:p>
                      <a:pPr>
                        <a:buNone/>
                      </a:pPr>
                      <a:r>
                        <a:rPr lang="en-US" sz="2400" dirty="0"/>
                        <a:t>8</a:t>
                      </a:r>
                    </a:p>
                  </a:txBody>
                  <a:tcPr anchor="ctr">
                    <a:lnL>
                      <a:noFill/>
                    </a:lnL>
                    <a:lnR>
                      <a:noFill/>
                    </a:lnR>
                    <a:lnT>
                      <a:noFill/>
                    </a:lnT>
                    <a:lnB>
                      <a:noFill/>
                    </a:lnB>
                    <a:noFill/>
                  </a:tcPr>
                </a:tc>
                <a:extLst>
                  <a:ext uri="{0D108BD9-81ED-4DB2-BD59-A6C34878D82A}">
                    <a16:rowId xmlns:a16="http://schemas.microsoft.com/office/drawing/2014/main" val="3736137330"/>
                  </a:ext>
                </a:extLst>
              </a:tr>
              <a:tr h="657878">
                <a:tc>
                  <a:txBody>
                    <a:bodyPr/>
                    <a:lstStyle/>
                    <a:p>
                      <a:pPr>
                        <a:buNone/>
                      </a:pPr>
                      <a:r>
                        <a:rPr lang="ar-SA" sz="2400"/>
                        <a:t>التسجيل والإلغاء</a:t>
                      </a:r>
                    </a:p>
                  </a:txBody>
                  <a:tcPr anchor="ctr">
                    <a:lnL>
                      <a:noFill/>
                    </a:lnL>
                    <a:lnR>
                      <a:noFill/>
                    </a:lnR>
                    <a:lnT>
                      <a:noFill/>
                    </a:lnT>
                    <a:lnB>
                      <a:noFill/>
                    </a:lnB>
                    <a:noFill/>
                  </a:tcPr>
                </a:tc>
                <a:tc>
                  <a:txBody>
                    <a:bodyPr/>
                    <a:lstStyle/>
                    <a:p>
                      <a:pPr>
                        <a:buNone/>
                      </a:pPr>
                      <a:r>
                        <a:rPr lang="en-US" sz="2400"/>
                        <a:t>TC-28 </a:t>
                      </a:r>
                      <a:r>
                        <a:rPr lang="ar-SA" sz="2400"/>
                        <a:t>إلى </a:t>
                      </a:r>
                      <a:r>
                        <a:rPr lang="en-US" sz="2400"/>
                        <a:t>TC-35</a:t>
                      </a:r>
                    </a:p>
                  </a:txBody>
                  <a:tcPr anchor="ctr">
                    <a:lnL>
                      <a:noFill/>
                    </a:lnL>
                    <a:lnR>
                      <a:noFill/>
                    </a:lnR>
                    <a:lnT>
                      <a:noFill/>
                    </a:lnT>
                    <a:lnB>
                      <a:noFill/>
                    </a:lnB>
                    <a:noFill/>
                  </a:tcPr>
                </a:tc>
                <a:tc>
                  <a:txBody>
                    <a:bodyPr/>
                    <a:lstStyle/>
                    <a:p>
                      <a:pPr>
                        <a:buNone/>
                      </a:pPr>
                      <a:r>
                        <a:rPr lang="en-US" sz="2400"/>
                        <a:t>8</a:t>
                      </a:r>
                    </a:p>
                  </a:txBody>
                  <a:tcPr anchor="ctr">
                    <a:lnL>
                      <a:noFill/>
                    </a:lnL>
                    <a:lnR>
                      <a:noFill/>
                    </a:lnR>
                    <a:lnT>
                      <a:noFill/>
                    </a:lnT>
                    <a:lnB>
                      <a:noFill/>
                    </a:lnB>
                    <a:noFill/>
                  </a:tcPr>
                </a:tc>
                <a:extLst>
                  <a:ext uri="{0D108BD9-81ED-4DB2-BD59-A6C34878D82A}">
                    <a16:rowId xmlns:a16="http://schemas.microsoft.com/office/drawing/2014/main" val="3062261555"/>
                  </a:ext>
                </a:extLst>
              </a:tr>
              <a:tr h="657878">
                <a:tc>
                  <a:txBody>
                    <a:bodyPr/>
                    <a:lstStyle/>
                    <a:p>
                      <a:pPr>
                        <a:buNone/>
                      </a:pPr>
                      <a:r>
                        <a:rPr lang="ar-SA" sz="2400"/>
                        <a:t>السعة القصوى</a:t>
                      </a:r>
                    </a:p>
                  </a:txBody>
                  <a:tcPr anchor="ctr">
                    <a:lnL>
                      <a:noFill/>
                    </a:lnL>
                    <a:lnR>
                      <a:noFill/>
                    </a:lnR>
                    <a:lnT>
                      <a:noFill/>
                    </a:lnT>
                    <a:lnB>
                      <a:noFill/>
                    </a:lnB>
                    <a:noFill/>
                  </a:tcPr>
                </a:tc>
                <a:tc>
                  <a:txBody>
                    <a:bodyPr/>
                    <a:lstStyle/>
                    <a:p>
                      <a:pPr>
                        <a:buNone/>
                      </a:pPr>
                      <a:r>
                        <a:rPr lang="en-US" sz="2400"/>
                        <a:t>TC-36 </a:t>
                      </a:r>
                      <a:r>
                        <a:rPr lang="ar-SA" sz="2400"/>
                        <a:t>إلى </a:t>
                      </a:r>
                      <a:r>
                        <a:rPr lang="en-US" sz="2400"/>
                        <a:t>TC-41</a:t>
                      </a:r>
                    </a:p>
                  </a:txBody>
                  <a:tcPr anchor="ctr">
                    <a:lnL>
                      <a:noFill/>
                    </a:lnL>
                    <a:lnR>
                      <a:noFill/>
                    </a:lnR>
                    <a:lnT>
                      <a:noFill/>
                    </a:lnT>
                    <a:lnB>
                      <a:noFill/>
                    </a:lnB>
                    <a:noFill/>
                  </a:tcPr>
                </a:tc>
                <a:tc>
                  <a:txBody>
                    <a:bodyPr/>
                    <a:lstStyle/>
                    <a:p>
                      <a:pPr>
                        <a:buNone/>
                      </a:pPr>
                      <a:r>
                        <a:rPr lang="en-US" sz="2400"/>
                        <a:t>6</a:t>
                      </a:r>
                    </a:p>
                  </a:txBody>
                  <a:tcPr anchor="ctr">
                    <a:lnL>
                      <a:noFill/>
                    </a:lnL>
                    <a:lnR>
                      <a:noFill/>
                    </a:lnR>
                    <a:lnT>
                      <a:noFill/>
                    </a:lnT>
                    <a:lnB>
                      <a:noFill/>
                    </a:lnB>
                    <a:noFill/>
                  </a:tcPr>
                </a:tc>
                <a:extLst>
                  <a:ext uri="{0D108BD9-81ED-4DB2-BD59-A6C34878D82A}">
                    <a16:rowId xmlns:a16="http://schemas.microsoft.com/office/drawing/2014/main" val="3795335271"/>
                  </a:ext>
                </a:extLst>
              </a:tr>
              <a:tr h="657878">
                <a:tc>
                  <a:txBody>
                    <a:bodyPr/>
                    <a:lstStyle/>
                    <a:p>
                      <a:pPr>
                        <a:buNone/>
                      </a:pPr>
                      <a:r>
                        <a:rPr lang="ar-SA" sz="2400"/>
                        <a:t>الصلاحيات</a:t>
                      </a:r>
                    </a:p>
                  </a:txBody>
                  <a:tcPr anchor="ctr">
                    <a:lnL>
                      <a:noFill/>
                    </a:lnL>
                    <a:lnR>
                      <a:noFill/>
                    </a:lnR>
                    <a:lnT>
                      <a:noFill/>
                    </a:lnT>
                    <a:lnB>
                      <a:noFill/>
                    </a:lnB>
                    <a:noFill/>
                  </a:tcPr>
                </a:tc>
                <a:tc>
                  <a:txBody>
                    <a:bodyPr/>
                    <a:lstStyle/>
                    <a:p>
                      <a:pPr>
                        <a:buNone/>
                      </a:pPr>
                      <a:r>
                        <a:rPr lang="en-US" sz="2400"/>
                        <a:t>TC-42 </a:t>
                      </a:r>
                      <a:r>
                        <a:rPr lang="ar-SA" sz="2400"/>
                        <a:t>إلى </a:t>
                      </a:r>
                      <a:r>
                        <a:rPr lang="en-US" sz="2400"/>
                        <a:t>TC-49</a:t>
                      </a:r>
                    </a:p>
                  </a:txBody>
                  <a:tcPr anchor="ctr">
                    <a:lnL>
                      <a:noFill/>
                    </a:lnL>
                    <a:lnR>
                      <a:noFill/>
                    </a:lnR>
                    <a:lnT>
                      <a:noFill/>
                    </a:lnT>
                    <a:lnB>
                      <a:noFill/>
                    </a:lnB>
                    <a:noFill/>
                  </a:tcPr>
                </a:tc>
                <a:tc>
                  <a:txBody>
                    <a:bodyPr/>
                    <a:lstStyle/>
                    <a:p>
                      <a:pPr>
                        <a:buNone/>
                      </a:pPr>
                      <a:r>
                        <a:rPr lang="en-US" sz="2400"/>
                        <a:t>8</a:t>
                      </a:r>
                    </a:p>
                  </a:txBody>
                  <a:tcPr anchor="ctr">
                    <a:lnL>
                      <a:noFill/>
                    </a:lnL>
                    <a:lnR>
                      <a:noFill/>
                    </a:lnR>
                    <a:lnT>
                      <a:noFill/>
                    </a:lnT>
                    <a:lnB>
                      <a:noFill/>
                    </a:lnB>
                    <a:noFill/>
                  </a:tcPr>
                </a:tc>
                <a:extLst>
                  <a:ext uri="{0D108BD9-81ED-4DB2-BD59-A6C34878D82A}">
                    <a16:rowId xmlns:a16="http://schemas.microsoft.com/office/drawing/2014/main" val="992052078"/>
                  </a:ext>
                </a:extLst>
              </a:tr>
              <a:tr h="657878">
                <a:tc>
                  <a:txBody>
                    <a:bodyPr/>
                    <a:lstStyle/>
                    <a:p>
                      <a:pPr>
                        <a:buNone/>
                      </a:pPr>
                      <a:r>
                        <a:rPr lang="ar-SA" sz="2400"/>
                        <a:t>اعتماد المؤسسات والإدارة</a:t>
                      </a:r>
                    </a:p>
                  </a:txBody>
                  <a:tcPr anchor="ctr">
                    <a:lnL>
                      <a:noFill/>
                    </a:lnL>
                    <a:lnR>
                      <a:noFill/>
                    </a:lnR>
                    <a:lnT>
                      <a:noFill/>
                    </a:lnT>
                    <a:lnB>
                      <a:noFill/>
                    </a:lnB>
                    <a:noFill/>
                  </a:tcPr>
                </a:tc>
                <a:tc>
                  <a:txBody>
                    <a:bodyPr/>
                    <a:lstStyle/>
                    <a:p>
                      <a:pPr>
                        <a:buNone/>
                      </a:pPr>
                      <a:r>
                        <a:rPr lang="en-US" sz="2400" dirty="0"/>
                        <a:t>TC-50 </a:t>
                      </a:r>
                      <a:r>
                        <a:rPr lang="ar-SA" sz="2400" dirty="0"/>
                        <a:t>إلى </a:t>
                      </a:r>
                      <a:r>
                        <a:rPr lang="en-US" sz="2400" dirty="0"/>
                        <a:t>TC-57</a:t>
                      </a:r>
                    </a:p>
                  </a:txBody>
                  <a:tcPr anchor="ctr">
                    <a:lnL>
                      <a:noFill/>
                    </a:lnL>
                    <a:lnR>
                      <a:noFill/>
                    </a:lnR>
                    <a:lnT>
                      <a:noFill/>
                    </a:lnT>
                    <a:lnB>
                      <a:noFill/>
                    </a:lnB>
                    <a:noFill/>
                  </a:tcPr>
                </a:tc>
                <a:tc>
                  <a:txBody>
                    <a:bodyPr/>
                    <a:lstStyle/>
                    <a:p>
                      <a:pPr>
                        <a:buNone/>
                      </a:pPr>
                      <a:r>
                        <a:rPr lang="en-US" sz="2400"/>
                        <a:t>8</a:t>
                      </a:r>
                    </a:p>
                  </a:txBody>
                  <a:tcPr anchor="ctr">
                    <a:lnL>
                      <a:noFill/>
                    </a:lnL>
                    <a:lnR>
                      <a:noFill/>
                    </a:lnR>
                    <a:lnT>
                      <a:noFill/>
                    </a:lnT>
                    <a:lnB>
                      <a:noFill/>
                    </a:lnB>
                    <a:noFill/>
                  </a:tcPr>
                </a:tc>
                <a:extLst>
                  <a:ext uri="{0D108BD9-81ED-4DB2-BD59-A6C34878D82A}">
                    <a16:rowId xmlns:a16="http://schemas.microsoft.com/office/drawing/2014/main" val="623567076"/>
                  </a:ext>
                </a:extLst>
              </a:tr>
              <a:tr h="657878">
                <a:tc>
                  <a:txBody>
                    <a:bodyPr/>
                    <a:lstStyle/>
                    <a:p>
                      <a:pPr>
                        <a:buNone/>
                      </a:pPr>
                      <a:r>
                        <a:rPr lang="ar-SA" sz="2400"/>
                        <a:t>التوصيات الذكية</a:t>
                      </a:r>
                    </a:p>
                  </a:txBody>
                  <a:tcPr anchor="ctr">
                    <a:lnL>
                      <a:noFill/>
                    </a:lnL>
                    <a:lnR>
                      <a:noFill/>
                    </a:lnR>
                    <a:lnT>
                      <a:noFill/>
                    </a:lnT>
                    <a:lnB>
                      <a:noFill/>
                    </a:lnB>
                    <a:noFill/>
                  </a:tcPr>
                </a:tc>
                <a:tc>
                  <a:txBody>
                    <a:bodyPr/>
                    <a:lstStyle/>
                    <a:p>
                      <a:pPr>
                        <a:buNone/>
                      </a:pPr>
                      <a:r>
                        <a:rPr lang="en-US" sz="2400"/>
                        <a:t>TC-58 </a:t>
                      </a:r>
                      <a:r>
                        <a:rPr lang="ar-SA" sz="2400"/>
                        <a:t>إلى </a:t>
                      </a:r>
                      <a:r>
                        <a:rPr lang="en-US" sz="2400"/>
                        <a:t>TC-65</a:t>
                      </a:r>
                    </a:p>
                  </a:txBody>
                  <a:tcPr anchor="ctr">
                    <a:lnL>
                      <a:noFill/>
                    </a:lnL>
                    <a:lnR>
                      <a:noFill/>
                    </a:lnR>
                    <a:lnT>
                      <a:noFill/>
                    </a:lnT>
                    <a:lnB>
                      <a:noFill/>
                    </a:lnB>
                    <a:noFill/>
                  </a:tcPr>
                </a:tc>
                <a:tc>
                  <a:txBody>
                    <a:bodyPr/>
                    <a:lstStyle/>
                    <a:p>
                      <a:pPr>
                        <a:buNone/>
                      </a:pPr>
                      <a:r>
                        <a:rPr lang="en-US" sz="2400"/>
                        <a:t>8</a:t>
                      </a:r>
                    </a:p>
                  </a:txBody>
                  <a:tcPr anchor="ctr">
                    <a:lnL>
                      <a:noFill/>
                    </a:lnL>
                    <a:lnR>
                      <a:noFill/>
                    </a:lnR>
                    <a:lnT>
                      <a:noFill/>
                    </a:lnT>
                    <a:lnB>
                      <a:noFill/>
                    </a:lnB>
                    <a:noFill/>
                  </a:tcPr>
                </a:tc>
                <a:extLst>
                  <a:ext uri="{0D108BD9-81ED-4DB2-BD59-A6C34878D82A}">
                    <a16:rowId xmlns:a16="http://schemas.microsoft.com/office/drawing/2014/main" val="4193158462"/>
                  </a:ext>
                </a:extLst>
              </a:tr>
              <a:tr h="657878">
                <a:tc>
                  <a:txBody>
                    <a:bodyPr/>
                    <a:lstStyle/>
                    <a:p>
                      <a:pPr>
                        <a:buNone/>
                      </a:pPr>
                      <a:r>
                        <a:rPr lang="ar-SA" sz="2400"/>
                        <a:t>الإجمالي</a:t>
                      </a:r>
                    </a:p>
                  </a:txBody>
                  <a:tcPr anchor="ctr">
                    <a:lnL>
                      <a:noFill/>
                    </a:lnL>
                    <a:lnR>
                      <a:noFill/>
                    </a:lnR>
                    <a:lnT>
                      <a:noFill/>
                    </a:lnT>
                    <a:lnB>
                      <a:noFill/>
                    </a:lnB>
                    <a:noFill/>
                  </a:tcPr>
                </a:tc>
                <a:tc>
                  <a:txBody>
                    <a:bodyPr/>
                    <a:lstStyle/>
                    <a:p>
                      <a:pPr>
                        <a:buNone/>
                      </a:pPr>
                      <a:r>
                        <a:rPr lang="en-US" sz="2400"/>
                        <a:t>TC-01 </a:t>
                      </a:r>
                      <a:r>
                        <a:rPr lang="ar-SA" sz="2400"/>
                        <a:t>إلى </a:t>
                      </a:r>
                      <a:r>
                        <a:rPr lang="en-US" sz="2400"/>
                        <a:t>TC-65</a:t>
                      </a:r>
                    </a:p>
                  </a:txBody>
                  <a:tcPr anchor="ctr">
                    <a:lnL>
                      <a:noFill/>
                    </a:lnL>
                    <a:lnR>
                      <a:noFill/>
                    </a:lnR>
                    <a:lnT>
                      <a:noFill/>
                    </a:lnT>
                    <a:lnB>
                      <a:noFill/>
                    </a:lnB>
                    <a:noFill/>
                  </a:tcPr>
                </a:tc>
                <a:tc>
                  <a:txBody>
                    <a:bodyPr/>
                    <a:lstStyle/>
                    <a:p>
                      <a:pPr>
                        <a:buNone/>
                      </a:pPr>
                      <a:r>
                        <a:rPr lang="en-US" sz="2400" dirty="0"/>
                        <a:t>58</a:t>
                      </a:r>
                    </a:p>
                  </a:txBody>
                  <a:tcPr anchor="ctr">
                    <a:lnL>
                      <a:noFill/>
                    </a:lnL>
                    <a:lnR>
                      <a:noFill/>
                    </a:lnR>
                    <a:lnT>
                      <a:noFill/>
                    </a:lnT>
                    <a:lnB>
                      <a:noFill/>
                    </a:lnB>
                    <a:noFill/>
                  </a:tcPr>
                </a:tc>
                <a:extLst>
                  <a:ext uri="{0D108BD9-81ED-4DB2-BD59-A6C34878D82A}">
                    <a16:rowId xmlns:a16="http://schemas.microsoft.com/office/drawing/2014/main" val="296538091"/>
                  </a:ext>
                </a:extLst>
              </a:tr>
            </a:tbl>
          </a:graphicData>
        </a:graphic>
      </p:graphicFrame>
      <p:sp>
        <p:nvSpPr>
          <p:cNvPr id="3" name="Slide Number Placeholder 2">
            <a:extLst>
              <a:ext uri="{FF2B5EF4-FFF2-40B4-BE49-F238E27FC236}">
                <a16:creationId xmlns:a16="http://schemas.microsoft.com/office/drawing/2014/main" id="{53AD7EFA-C7AE-F469-30BC-5070CC324A63}"/>
              </a:ext>
            </a:extLst>
          </p:cNvPr>
          <p:cNvSpPr>
            <a:spLocks noGrp="1"/>
          </p:cNvSpPr>
          <p:nvPr>
            <p:ph type="sldNum" sz="quarter" idx="12"/>
          </p:nvPr>
        </p:nvSpPr>
        <p:spPr/>
        <p:txBody>
          <a:bodyPr/>
          <a:lstStyle/>
          <a:p>
            <a:fld id="{3EB37142-BB67-4B06-93E6-8D10723F8802}" type="slidenum">
              <a:rPr lang="en-US" smtClean="0"/>
              <a:t>34</a:t>
            </a:fld>
            <a:endParaRPr lang="en-US" dirty="0"/>
          </a:p>
        </p:txBody>
      </p:sp>
    </p:spTree>
    <p:extLst>
      <p:ext uri="{BB962C8B-B14F-4D97-AF65-F5344CB8AC3E}">
        <p14:creationId xmlns:p14="http://schemas.microsoft.com/office/powerpoint/2010/main" val="2248024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2812</Words>
  <Application>Microsoft Office PowerPoint</Application>
  <PresentationFormat>Widescreen</PresentationFormat>
  <Paragraphs>617</Paragraphs>
  <Slides>34</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مشروع تخرج 1 </vt:lpstr>
      <vt:lpstr>المقدمة: </vt:lpstr>
      <vt:lpstr>التعريف بالمشروع : </vt:lpstr>
      <vt:lpstr>الهدف العام : </vt:lpstr>
      <vt:lpstr>مشكلة المشروع : </vt:lpstr>
      <vt:lpstr>أهمية المشروع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allousi</dc:creator>
  <cp:lastModifiedBy>omar allousi</cp:lastModifiedBy>
  <cp:revision>3</cp:revision>
  <dcterms:created xsi:type="dcterms:W3CDTF">2026-10-26T16:00:49Z</dcterms:created>
  <dcterms:modified xsi:type="dcterms:W3CDTF">2026-10-28T13:39:58Z</dcterms:modified>
</cp:coreProperties>
</file>